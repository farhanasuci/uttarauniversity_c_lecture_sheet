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iLYePk4z9Dzs5uCI1OpJ77zi8g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4" name="Google Shape;174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3" name="Google Shape;213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Md. Morshed Ali, Lecturer, Dept. of CSE, UU</a:t>
            </a:r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Lecture 2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CSE0613101: Structured Programming Language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7" y="384440"/>
            <a:ext cx="3082273" cy="1467162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1371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What is Computer?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20040" lvl="0" indent="-32004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Computer</a:t>
            </a:r>
            <a:endParaRPr/>
          </a:p>
          <a:p>
            <a:pPr marL="720090" lvl="1" indent="-32004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Device capable of performing computations and making logical decisions</a:t>
            </a:r>
            <a:endParaRPr/>
          </a:p>
          <a:p>
            <a:pPr marL="720090" lvl="1" indent="-32004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Computers </a:t>
            </a:r>
            <a:r>
              <a:rPr lang="en-US" sz="2400">
                <a:solidFill>
                  <a:srgbClr val="000099"/>
                </a:solidFill>
              </a:rPr>
              <a:t>process data </a:t>
            </a:r>
            <a:r>
              <a:rPr lang="en-US" sz="2400"/>
              <a:t>under the control of </a:t>
            </a:r>
            <a:r>
              <a:rPr lang="en-US" sz="2400">
                <a:solidFill>
                  <a:srgbClr val="000099"/>
                </a:solidFill>
              </a:rPr>
              <a:t>sets of instructions</a:t>
            </a:r>
            <a:r>
              <a:rPr lang="en-US" sz="2400"/>
              <a:t> called computer programs</a:t>
            </a:r>
            <a:endParaRPr/>
          </a:p>
          <a:p>
            <a:pPr marL="320040" lvl="0" indent="-32004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Hardware</a:t>
            </a:r>
            <a:endParaRPr/>
          </a:p>
          <a:p>
            <a:pPr marL="640080" lvl="1" indent="-27432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Various devices comprising a computer</a:t>
            </a:r>
            <a:endParaRPr/>
          </a:p>
          <a:p>
            <a:pPr marL="640080" lvl="1" indent="-27432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Keyboard, screen, mouse, disks, memory, CD-ROM, and processing units</a:t>
            </a:r>
            <a:endParaRPr/>
          </a:p>
          <a:p>
            <a:pPr marL="320040" lvl="0" indent="-32004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Software</a:t>
            </a:r>
            <a:endParaRPr/>
          </a:p>
          <a:p>
            <a:pPr marL="720090" lvl="1" indent="-32004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Programs that run on a computer</a:t>
            </a:r>
            <a:endParaRPr/>
          </a:p>
          <a:p>
            <a:pPr marL="320040" lvl="0" indent="-15494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sldNum" idx="1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0">
                <a:solidFill>
                  <a:schemeClr val="dk2"/>
                </a:solidFill>
              </a:rPr>
              <a:t>3</a:t>
            </a:fld>
            <a:endParaRPr b="0">
              <a:solidFill>
                <a:schemeClr val="dk2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Computer Organization</a:t>
            </a:r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Logical units of computer</a:t>
            </a:r>
            <a:endParaRPr/>
          </a:p>
          <a:p>
            <a:pPr marL="876300" lvl="1" indent="-419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Input unit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“Receiving” section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Obtains information from input devices </a:t>
            </a:r>
            <a:endParaRPr/>
          </a:p>
          <a:p>
            <a:pPr marL="175260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Keyboard, mouse, microphone, scanner, networks, …</a:t>
            </a:r>
            <a:endParaRPr/>
          </a:p>
          <a:p>
            <a:pPr marL="876300" lvl="1" indent="-419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Output unit  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Takes information processed by computer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Places information on output devices</a:t>
            </a:r>
            <a:endParaRPr/>
          </a:p>
          <a:p>
            <a:pPr marL="175260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Screen, printer, networks, … </a:t>
            </a:r>
            <a:endParaRPr/>
          </a:p>
          <a:p>
            <a:pPr marL="175260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Information used to control other devices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sldNum" idx="1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0">
                <a:solidFill>
                  <a:schemeClr val="dk2"/>
                </a:solidFill>
              </a:rPr>
              <a:t>4</a:t>
            </a:fld>
            <a:endParaRPr b="0">
              <a:solidFill>
                <a:schemeClr val="dk2"/>
              </a:solidFill>
            </a:endParaRPr>
          </a:p>
        </p:txBody>
      </p:sp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Computer Organization</a:t>
            </a:r>
            <a:endParaRPr/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76300" lvl="1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Memory unit 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Rapid access, relatively low capacity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Retains information from input unit</a:t>
            </a:r>
            <a:endParaRPr/>
          </a:p>
          <a:p>
            <a:pPr marL="175260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Immediately available for processing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Retains processed information	</a:t>
            </a:r>
            <a:endParaRPr/>
          </a:p>
          <a:p>
            <a:pPr marL="175260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Until placed on output devices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Memory, primary memory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sldNum" idx="1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0">
                <a:solidFill>
                  <a:schemeClr val="dk2"/>
                </a:solidFill>
              </a:rPr>
              <a:t>5</a:t>
            </a:fld>
            <a:endParaRPr b="0">
              <a:solidFill>
                <a:schemeClr val="dk2"/>
              </a:solidFill>
            </a:endParaRPr>
          </a:p>
        </p:txBody>
      </p:sp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Computer Organization</a:t>
            </a:r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876300" lvl="1" indent="-41913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3300"/>
              <a:t>Central processing unit (CPU)  </a:t>
            </a:r>
            <a:endParaRPr/>
          </a:p>
          <a:p>
            <a:pPr marL="1295400" lvl="2" indent="-381031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100"/>
              <a:t>Supervises and coordinates other sections of computer</a:t>
            </a:r>
            <a:endParaRPr/>
          </a:p>
          <a:p>
            <a:pPr marL="1295400" lvl="2" indent="-381031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100"/>
              <a:t>Arithmetic and logic unit (ALU) </a:t>
            </a:r>
            <a:endParaRPr/>
          </a:p>
          <a:p>
            <a:pPr marL="1752600" lvl="3" indent="-381031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100"/>
              <a:t>“Manufacturing” section</a:t>
            </a:r>
            <a:endParaRPr/>
          </a:p>
          <a:p>
            <a:pPr marL="1752600" lvl="3" indent="-381031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100"/>
              <a:t>Performs arithmetic calculations and logic decisions</a:t>
            </a:r>
            <a:endParaRPr sz="3600"/>
          </a:p>
          <a:p>
            <a:pPr marL="876300" lvl="1" indent="-419100" algn="l" rtl="0">
              <a:spcBef>
                <a:spcPts val="55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3600"/>
              <a:t>Secondary storage unit  </a:t>
            </a:r>
            <a:endParaRPr/>
          </a:p>
          <a:p>
            <a:pPr marL="1295400" lvl="2" indent="-381000" algn="l" rtl="0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Long-term, high-capacity</a:t>
            </a:r>
            <a:endParaRPr/>
          </a:p>
          <a:p>
            <a:pPr marL="1295400" lvl="2" indent="-381000" algn="l" rtl="0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Storage</a:t>
            </a:r>
            <a:endParaRPr/>
          </a:p>
          <a:p>
            <a:pPr marL="1752600" lvl="3" indent="-381000" algn="l" rtl="0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Inactive programs or data</a:t>
            </a:r>
            <a:endParaRPr/>
          </a:p>
          <a:p>
            <a:pPr marL="1295400" lvl="2" indent="-381000" algn="l" rtl="0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Secondary storage devices</a:t>
            </a:r>
            <a:endParaRPr/>
          </a:p>
          <a:p>
            <a:pPr marL="1752600" lvl="3" indent="-381000" algn="l" rtl="0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Disks</a:t>
            </a:r>
            <a:endParaRPr/>
          </a:p>
          <a:p>
            <a:pPr marL="1295400" lvl="2" indent="-381000" algn="l" rtl="0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Longer to access than primary memory</a:t>
            </a:r>
            <a:endParaRPr/>
          </a:p>
          <a:p>
            <a:pPr marL="1295400" lvl="2" indent="-381000" algn="l" rtl="0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Less expensive per unit than primary memory</a:t>
            </a:r>
            <a:endParaRPr/>
          </a:p>
          <a:p>
            <a:pPr marL="533400" lvl="0" indent="-5334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The von Neumann architecture </a:t>
            </a:r>
            <a:endParaRPr/>
          </a:p>
        </p:txBody>
      </p:sp>
      <p:sp>
        <p:nvSpPr>
          <p:cNvPr id="123" name="Google Shape;12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048000" y="2667000"/>
            <a:ext cx="2743200" cy="1143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33400" y="2819400"/>
            <a:ext cx="1600200" cy="76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Device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781800" y="2819400"/>
            <a:ext cx="1600200" cy="76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Device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276600" y="3048000"/>
            <a:ext cx="9906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572000" y="3048000"/>
            <a:ext cx="9906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4038600" y="2667000"/>
            <a:ext cx="666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505200" y="4267200"/>
            <a:ext cx="1600200" cy="76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memory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(RAM)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019800" y="4191000"/>
            <a:ext cx="1600200" cy="76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endParaRPr/>
          </a:p>
        </p:txBody>
      </p:sp>
      <p:cxnSp>
        <p:nvCxnSpPr>
          <p:cNvPr id="132" name="Google Shape;132;p6"/>
          <p:cNvCxnSpPr/>
          <p:nvPr/>
        </p:nvCxnSpPr>
        <p:spPr>
          <a:xfrm>
            <a:off x="2133600" y="3200400"/>
            <a:ext cx="914400" cy="0"/>
          </a:xfrm>
          <a:prstGeom prst="straightConnector1">
            <a:avLst/>
          </a:prstGeom>
          <a:noFill/>
          <a:ln w="38100" cap="flat" cmpd="dbl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33;p6"/>
          <p:cNvCxnSpPr/>
          <p:nvPr/>
        </p:nvCxnSpPr>
        <p:spPr>
          <a:xfrm>
            <a:off x="5791200" y="3200400"/>
            <a:ext cx="914400" cy="0"/>
          </a:xfrm>
          <a:prstGeom prst="straightConnector1">
            <a:avLst/>
          </a:prstGeom>
          <a:noFill/>
          <a:ln w="38100" cap="flat" cmpd="dbl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34;p6"/>
          <p:cNvCxnSpPr/>
          <p:nvPr/>
        </p:nvCxnSpPr>
        <p:spPr>
          <a:xfrm>
            <a:off x="4419600" y="3810000"/>
            <a:ext cx="0" cy="457200"/>
          </a:xfrm>
          <a:prstGeom prst="straightConnector1">
            <a:avLst/>
          </a:prstGeom>
          <a:noFill/>
          <a:ln w="38100" cap="flat" cmpd="dbl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5" name="Google Shape;135;p6"/>
          <p:cNvCxnSpPr/>
          <p:nvPr/>
        </p:nvCxnSpPr>
        <p:spPr>
          <a:xfrm>
            <a:off x="5257800" y="3810000"/>
            <a:ext cx="1295400" cy="381000"/>
          </a:xfrm>
          <a:prstGeom prst="straightConnector1">
            <a:avLst/>
          </a:prstGeom>
          <a:noFill/>
          <a:ln w="38100" cap="flat" cmpd="dbl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141" name="Google Shape;141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2" name="Google Shape;142;p7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How does a computer execute a program ? 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/>
              <a:t>    (example programs: a computer game, a word processor, etc)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400"/>
              <a:t>the instructions that comprise the program are </a:t>
            </a:r>
            <a:r>
              <a:rPr lang="en-US" sz="2400">
                <a:solidFill>
                  <a:srgbClr val="000099"/>
                </a:solidFill>
              </a:rPr>
              <a:t>copied from the  permanent secondary memory into the main memory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400"/>
              <a:t>After the instructions are loaded, the </a:t>
            </a:r>
            <a:r>
              <a:rPr lang="en-US" sz="2400">
                <a:solidFill>
                  <a:srgbClr val="000099"/>
                </a:solidFill>
              </a:rPr>
              <a:t>CPU starts executing the program.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400"/>
              <a:t>For each instruction,  the instruction is </a:t>
            </a:r>
            <a:r>
              <a:rPr lang="en-US" sz="2400">
                <a:solidFill>
                  <a:srgbClr val="000099"/>
                </a:solidFill>
              </a:rPr>
              <a:t>retrieved from memory</a:t>
            </a:r>
            <a:r>
              <a:rPr lang="en-US" sz="2400"/>
              <a:t>, decoded to figure out what it represents, and the appropriate action carried out. (the </a:t>
            </a:r>
            <a:r>
              <a:rPr lang="en-US" sz="2400" i="1"/>
              <a:t>fetch execute cycle)</a:t>
            </a:r>
            <a:endParaRPr sz="2400"/>
          </a:p>
          <a:p>
            <a:pPr marL="742950" lvl="1" indent="-285750" algn="l" rtl="0">
              <a:lnSpc>
                <a:spcPct val="11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400"/>
              <a:t>Then the next instruction is fetched, decoded and executed. 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sldNum" idx="1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0">
                <a:solidFill>
                  <a:schemeClr val="dk2"/>
                </a:solidFill>
              </a:rPr>
              <a:t>8</a:t>
            </a:fld>
            <a:endParaRPr b="0">
              <a:solidFill>
                <a:schemeClr val="dk2"/>
              </a:solidFill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3600"/>
              <a:t>Machine Languages, Assembly Languages, and High-level Languages</a:t>
            </a:r>
            <a:endParaRPr/>
          </a:p>
        </p:txBody>
      </p:sp>
      <p:sp>
        <p:nvSpPr>
          <p:cNvPr id="149" name="Google Shape;149;p8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33400" lvl="0" indent="-5334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300"/>
              <a:t>Three types of computer languages:</a:t>
            </a:r>
            <a:endParaRPr/>
          </a:p>
          <a:p>
            <a:pPr marL="876300" lvl="1" indent="-419100" algn="l" rtl="0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Times New Roman"/>
              <a:buAutoNum type="arabicPeriod"/>
            </a:pPr>
            <a:r>
              <a:rPr lang="en-US">
                <a:solidFill>
                  <a:srgbClr val="000099"/>
                </a:solidFill>
              </a:rPr>
              <a:t>Machine language</a:t>
            </a:r>
            <a:endParaRPr/>
          </a:p>
          <a:p>
            <a:pPr marL="1295400" lvl="2" indent="-381000" algn="l" rtl="0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Only language computer directly understands</a:t>
            </a:r>
            <a:endParaRPr/>
          </a:p>
          <a:p>
            <a:pPr marL="1295400" lvl="2" indent="-381000" algn="l" rtl="0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“Natural language” of computer</a:t>
            </a:r>
            <a:endParaRPr/>
          </a:p>
          <a:p>
            <a:pPr marL="1295400" lvl="2" indent="-381000" algn="l" rtl="0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Generally consist of strings of 0s and 1s</a:t>
            </a:r>
            <a:endParaRPr/>
          </a:p>
          <a:p>
            <a:pPr marL="1295400" lvl="2" indent="-381000" algn="l" rtl="0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Instruct computers to perform elementary operations</a:t>
            </a:r>
            <a:endParaRPr/>
          </a:p>
          <a:p>
            <a:pPr marL="1752600" lvl="3" indent="-381000" algn="l" rtl="0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/>
              <a:t>One at a time</a:t>
            </a:r>
            <a:endParaRPr/>
          </a:p>
          <a:p>
            <a:pPr marL="1295400" lvl="2" indent="-381000" algn="l" rtl="0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Cumbersome for humans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sldNum" idx="1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0">
                <a:solidFill>
                  <a:schemeClr val="dk2"/>
                </a:solidFill>
              </a:rPr>
              <a:t>9</a:t>
            </a:fld>
            <a:endParaRPr b="0">
              <a:solidFill>
                <a:schemeClr val="dk2"/>
              </a:solidFill>
            </a:endParaRPr>
          </a:p>
        </p:txBody>
      </p:sp>
      <p:sp>
        <p:nvSpPr>
          <p:cNvPr id="155" name="Google Shape;155;p9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3600"/>
              <a:t>Machine Languages, Assembly Languages, and High-level Languages</a:t>
            </a:r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Three types of computer languages</a:t>
            </a:r>
            <a:endParaRPr/>
          </a:p>
          <a:p>
            <a:pPr marL="876300" lvl="1" indent="-419100" algn="l" rtl="0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Times New Roman"/>
              <a:buAutoNum type="arabicPeriod" startAt="2"/>
            </a:pPr>
            <a:r>
              <a:rPr lang="en-US">
                <a:solidFill>
                  <a:srgbClr val="000099"/>
                </a:solidFill>
              </a:rPr>
              <a:t>Assembly language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English-like abbreviations representing elementary computer operations 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Clearer to humans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Incomprehensible to computers</a:t>
            </a:r>
            <a:endParaRPr/>
          </a:p>
          <a:p>
            <a:pPr marL="1752600" lvl="3" indent="-381000" algn="l" rtl="0">
              <a:spcBef>
                <a:spcPts val="480"/>
              </a:spcBef>
              <a:spcAft>
                <a:spcPts val="0"/>
              </a:spcAft>
              <a:buClr>
                <a:srgbClr val="7030A0"/>
              </a:buClr>
              <a:buSzPts val="2400"/>
              <a:buChar char="–"/>
            </a:pPr>
            <a:r>
              <a:rPr lang="en-US" sz="2400">
                <a:solidFill>
                  <a:srgbClr val="7030A0"/>
                </a:solidFill>
              </a:rPr>
              <a:t>Translator programs (assemblers)</a:t>
            </a:r>
            <a:endParaRPr/>
          </a:p>
          <a:p>
            <a:pPr marL="2209800" lvl="4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</a:pPr>
            <a:r>
              <a:rPr lang="en-US" sz="2400"/>
              <a:t>Convert to machine language</a:t>
            </a:r>
            <a:endParaRPr/>
          </a:p>
          <a:p>
            <a:pPr marL="533400" lvl="0" indent="-330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>
            <a:spLocks noGrp="1"/>
          </p:cNvSpPr>
          <p:nvPr>
            <p:ph type="sldNum" idx="1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0">
                <a:solidFill>
                  <a:schemeClr val="dk2"/>
                </a:solidFill>
              </a:rPr>
              <a:t>10</a:t>
            </a:fld>
            <a:endParaRPr b="0">
              <a:solidFill>
                <a:schemeClr val="dk2"/>
              </a:solidFill>
            </a:endParaRPr>
          </a:p>
        </p:txBody>
      </p:sp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3600"/>
              <a:t>Machine Languages, Assembly Languages, and High-level Languages</a:t>
            </a:r>
            <a:endParaRPr/>
          </a:p>
        </p:txBody>
      </p:sp>
      <p:sp>
        <p:nvSpPr>
          <p:cNvPr id="163" name="Google Shape;163;p10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Three types of computer languages</a:t>
            </a:r>
            <a:endParaRPr/>
          </a:p>
          <a:p>
            <a:pPr marL="876300" lvl="1" indent="-419100" algn="l" rtl="0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Times New Roman"/>
              <a:buAutoNum type="arabicPeriod" startAt="3"/>
            </a:pPr>
            <a:r>
              <a:rPr lang="en-US">
                <a:solidFill>
                  <a:srgbClr val="000099"/>
                </a:solidFill>
              </a:rPr>
              <a:t>High-level languages 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Similar to everyday English, use common mathematical notations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Single statements accomplish substantial tasks</a:t>
            </a:r>
            <a:endParaRPr/>
          </a:p>
          <a:p>
            <a:pPr marL="175260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Assembly language requires many instructions to accomplish simple tasks</a:t>
            </a:r>
            <a:endParaRPr/>
          </a:p>
          <a:p>
            <a:pPr marL="12954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Translator programs (</a:t>
            </a:r>
            <a:r>
              <a:rPr lang="en-US">
                <a:solidFill>
                  <a:srgbClr val="000099"/>
                </a:solidFill>
              </a:rPr>
              <a:t>compilers</a:t>
            </a:r>
            <a:r>
              <a:rPr lang="en-US"/>
              <a:t>)</a:t>
            </a:r>
            <a:endParaRPr/>
          </a:p>
          <a:p>
            <a:pPr marL="175260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Convert to machine language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C History</a:t>
            </a:r>
            <a:endParaRPr/>
          </a:p>
        </p:txBody>
      </p:sp>
      <p:sp>
        <p:nvSpPr>
          <p:cNvPr id="169" name="Google Shape;169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0" name="Google Shape;170;p11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Developed between 1969 and 1973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Developed by: </a:t>
            </a:r>
            <a:r>
              <a:rPr lang="en-US" sz="2600" b="1">
                <a:solidFill>
                  <a:srgbClr val="0F0688"/>
                </a:solidFill>
              </a:rPr>
              <a:t>Dennis Ritchie</a:t>
            </a:r>
            <a:endParaRPr/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Clr>
                <a:srgbClr val="0F0688"/>
              </a:buClr>
              <a:buSzPts val="2600"/>
              <a:buNone/>
            </a:pPr>
            <a:r>
              <a:rPr lang="en-US" sz="2600" b="1">
                <a:solidFill>
                  <a:srgbClr val="0F0688"/>
                </a:solidFill>
              </a:rPr>
              <a:t>				 at Bell Labs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General purpose programming language.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Structured programming language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>
              <a:solidFill>
                <a:srgbClr val="7030A0"/>
              </a:solidFill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>
              <a:solidFill>
                <a:srgbClr val="7030A0"/>
              </a:solidFill>
            </a:endParaRPr>
          </a:p>
        </p:txBody>
      </p:sp>
      <p:pic>
        <p:nvPicPr>
          <p:cNvPr id="171" name="Google Shape;171;p11" descr="DMR pict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8450" y="2209800"/>
            <a:ext cx="14287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First C Program</a:t>
            </a:r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8" name="Google Shape;178;p12"/>
          <p:cNvSpPr txBox="1"/>
          <p:nvPr/>
        </p:nvSpPr>
        <p:spPr>
          <a:xfrm>
            <a:off x="914400" y="2286000"/>
            <a:ext cx="7696200" cy="3231654"/>
          </a:xfrm>
          <a:prstGeom prst="rect">
            <a:avLst/>
          </a:prstGeom>
          <a:noFill/>
          <a:ln w="12700" cap="flat" cmpd="sng">
            <a:solidFill>
              <a:srgbClr val="E36C0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My first simple C program */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 ()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printf (“Welcome to C!\n”);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grpSp>
        <p:nvGrpSpPr>
          <p:cNvPr id="179" name="Google Shape;179;p12"/>
          <p:cNvGrpSpPr/>
          <p:nvPr/>
        </p:nvGrpSpPr>
        <p:grpSpPr>
          <a:xfrm>
            <a:off x="5257800" y="2819400"/>
            <a:ext cx="1184275" cy="522288"/>
            <a:chOff x="3312" y="1776"/>
            <a:chExt cx="746" cy="329"/>
          </a:xfrm>
        </p:grpSpPr>
        <p:sp>
          <p:nvSpPr>
            <p:cNvPr id="180" name="Google Shape;180;p12"/>
            <p:cNvSpPr txBox="1"/>
            <p:nvPr/>
          </p:nvSpPr>
          <p:spPr>
            <a:xfrm>
              <a:off x="3312" y="1872"/>
              <a:ext cx="746" cy="233"/>
            </a:xfrm>
            <a:prstGeom prst="rect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Comments</a:t>
              </a:r>
              <a:endParaRPr/>
            </a:p>
          </p:txBody>
        </p:sp>
        <p:cxnSp>
          <p:nvCxnSpPr>
            <p:cNvPr id="181" name="Google Shape;181;p12"/>
            <p:cNvCxnSpPr/>
            <p:nvPr/>
          </p:nvCxnSpPr>
          <p:spPr>
            <a:xfrm rot="10800000">
              <a:off x="3360" y="1776"/>
              <a:ext cx="288" cy="192"/>
            </a:xfrm>
            <a:prstGeom prst="straightConnector1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182" name="Google Shape;182;p12"/>
          <p:cNvGrpSpPr/>
          <p:nvPr/>
        </p:nvGrpSpPr>
        <p:grpSpPr>
          <a:xfrm>
            <a:off x="1143000" y="4191000"/>
            <a:ext cx="2571750" cy="1941513"/>
            <a:chOff x="720" y="2640"/>
            <a:chExt cx="1620" cy="1223"/>
          </a:xfrm>
        </p:grpSpPr>
        <p:sp>
          <p:nvSpPr>
            <p:cNvPr id="183" name="Google Shape;183;p12"/>
            <p:cNvSpPr txBox="1"/>
            <p:nvPr/>
          </p:nvSpPr>
          <p:spPr>
            <a:xfrm>
              <a:off x="1008" y="3456"/>
              <a:ext cx="1332" cy="407"/>
            </a:xfrm>
            <a:prstGeom prst="rect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Braces indicate start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and end of main</a:t>
              </a:r>
              <a:endParaRPr/>
            </a:p>
          </p:txBody>
        </p:sp>
        <p:cxnSp>
          <p:nvCxnSpPr>
            <p:cNvPr id="184" name="Google Shape;184;p12"/>
            <p:cNvCxnSpPr/>
            <p:nvPr/>
          </p:nvCxnSpPr>
          <p:spPr>
            <a:xfrm rot="10800000">
              <a:off x="720" y="2640"/>
              <a:ext cx="576" cy="864"/>
            </a:xfrm>
            <a:prstGeom prst="straightConnector1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185" name="Google Shape;185;p12"/>
            <p:cNvCxnSpPr/>
            <p:nvPr/>
          </p:nvCxnSpPr>
          <p:spPr>
            <a:xfrm rot="10800000">
              <a:off x="720" y="3360"/>
              <a:ext cx="576" cy="144"/>
            </a:xfrm>
            <a:prstGeom prst="straightConnector1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186" name="Google Shape;186;p12"/>
          <p:cNvGrpSpPr/>
          <p:nvPr/>
        </p:nvGrpSpPr>
        <p:grpSpPr>
          <a:xfrm>
            <a:off x="1676400" y="3657600"/>
            <a:ext cx="4886325" cy="646113"/>
            <a:chOff x="1056" y="2304"/>
            <a:chExt cx="3078" cy="407"/>
          </a:xfrm>
        </p:grpSpPr>
        <p:sp>
          <p:nvSpPr>
            <p:cNvPr id="187" name="Google Shape;187;p12"/>
            <p:cNvSpPr txBox="1"/>
            <p:nvPr/>
          </p:nvSpPr>
          <p:spPr>
            <a:xfrm>
              <a:off x="1776" y="2304"/>
              <a:ext cx="2358" cy="407"/>
            </a:xfrm>
            <a:prstGeom prst="rect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 C programs have a main function;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they also start at main</a:t>
              </a:r>
              <a:endParaRPr/>
            </a:p>
          </p:txBody>
        </p:sp>
        <p:cxnSp>
          <p:nvCxnSpPr>
            <p:cNvPr id="188" name="Google Shape;188;p12"/>
            <p:cNvCxnSpPr/>
            <p:nvPr/>
          </p:nvCxnSpPr>
          <p:spPr>
            <a:xfrm rot="10800000">
              <a:off x="1056" y="2400"/>
              <a:ext cx="768" cy="192"/>
            </a:xfrm>
            <a:prstGeom prst="straightConnector1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189" name="Google Shape;189;p12"/>
          <p:cNvGrpSpPr/>
          <p:nvPr/>
        </p:nvGrpSpPr>
        <p:grpSpPr>
          <a:xfrm>
            <a:off x="2987675" y="4841875"/>
            <a:ext cx="4205288" cy="369888"/>
            <a:chOff x="1882" y="3050"/>
            <a:chExt cx="2649" cy="233"/>
          </a:xfrm>
        </p:grpSpPr>
        <p:sp>
          <p:nvSpPr>
            <p:cNvPr id="190" name="Google Shape;190;p12"/>
            <p:cNvSpPr txBox="1"/>
            <p:nvPr/>
          </p:nvSpPr>
          <p:spPr>
            <a:xfrm>
              <a:off x="2880" y="3050"/>
              <a:ext cx="1651" cy="233"/>
            </a:xfrm>
            <a:prstGeom prst="rect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 to print to screen</a:t>
              </a:r>
              <a:endParaRPr/>
            </a:p>
          </p:txBody>
        </p:sp>
        <p:cxnSp>
          <p:nvCxnSpPr>
            <p:cNvPr id="191" name="Google Shape;191;p12"/>
            <p:cNvCxnSpPr/>
            <p:nvPr/>
          </p:nvCxnSpPr>
          <p:spPr>
            <a:xfrm rot="10800000">
              <a:off x="1882" y="3072"/>
              <a:ext cx="1056" cy="144"/>
            </a:xfrm>
            <a:prstGeom prst="straightConnector1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192" name="Google Shape;192;p12"/>
          <p:cNvGrpSpPr/>
          <p:nvPr/>
        </p:nvGrpSpPr>
        <p:grpSpPr>
          <a:xfrm>
            <a:off x="4572000" y="4876800"/>
            <a:ext cx="1416050" cy="903288"/>
            <a:chOff x="2880" y="3072"/>
            <a:chExt cx="892" cy="569"/>
          </a:xfrm>
        </p:grpSpPr>
        <p:sp>
          <p:nvSpPr>
            <p:cNvPr id="193" name="Google Shape;193;p12"/>
            <p:cNvSpPr txBox="1"/>
            <p:nvPr/>
          </p:nvSpPr>
          <p:spPr>
            <a:xfrm>
              <a:off x="2880" y="3408"/>
              <a:ext cx="892" cy="233"/>
            </a:xfrm>
            <a:prstGeom prst="rect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 to print</a:t>
              </a:r>
              <a:endParaRPr/>
            </a:p>
          </p:txBody>
        </p:sp>
        <p:cxnSp>
          <p:nvCxnSpPr>
            <p:cNvPr id="194" name="Google Shape;194;p12"/>
            <p:cNvCxnSpPr/>
            <p:nvPr/>
          </p:nvCxnSpPr>
          <p:spPr>
            <a:xfrm rot="10800000">
              <a:off x="3120" y="3072"/>
              <a:ext cx="336" cy="384"/>
            </a:xfrm>
            <a:prstGeom prst="straightConnector1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195" name="Google Shape;195;p12"/>
          <p:cNvGrpSpPr/>
          <p:nvPr/>
        </p:nvGrpSpPr>
        <p:grpSpPr>
          <a:xfrm>
            <a:off x="5867400" y="4876800"/>
            <a:ext cx="1211263" cy="1436688"/>
            <a:chOff x="3744" y="3072"/>
            <a:chExt cx="763" cy="905"/>
          </a:xfrm>
        </p:grpSpPr>
        <p:sp>
          <p:nvSpPr>
            <p:cNvPr id="196" name="Google Shape;196;p12"/>
            <p:cNvSpPr txBox="1"/>
            <p:nvPr/>
          </p:nvSpPr>
          <p:spPr>
            <a:xfrm>
              <a:off x="3744" y="3744"/>
              <a:ext cx="763" cy="233"/>
            </a:xfrm>
            <a:prstGeom prst="rect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 of line</a:t>
              </a:r>
              <a:endParaRPr/>
            </a:p>
          </p:txBody>
        </p:sp>
        <p:cxnSp>
          <p:nvCxnSpPr>
            <p:cNvPr id="197" name="Google Shape;197;p12"/>
            <p:cNvCxnSpPr/>
            <p:nvPr/>
          </p:nvCxnSpPr>
          <p:spPr>
            <a:xfrm rot="10800000">
              <a:off x="3888" y="3072"/>
              <a:ext cx="336" cy="720"/>
            </a:xfrm>
            <a:prstGeom prst="straightConnector1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198" name="Google Shape;198;p12"/>
          <p:cNvGrpSpPr/>
          <p:nvPr/>
        </p:nvGrpSpPr>
        <p:grpSpPr>
          <a:xfrm>
            <a:off x="6858000" y="4724400"/>
            <a:ext cx="1831975" cy="1331913"/>
            <a:chOff x="4320" y="2976"/>
            <a:chExt cx="1154" cy="839"/>
          </a:xfrm>
        </p:grpSpPr>
        <p:sp>
          <p:nvSpPr>
            <p:cNvPr id="199" name="Google Shape;199;p12"/>
            <p:cNvSpPr txBox="1"/>
            <p:nvPr/>
          </p:nvSpPr>
          <p:spPr>
            <a:xfrm>
              <a:off x="4800" y="3408"/>
              <a:ext cx="674" cy="407"/>
            </a:xfrm>
            <a:prstGeom prst="rect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 of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statement</a:t>
              </a:r>
              <a:endParaRPr/>
            </a:p>
          </p:txBody>
        </p:sp>
        <p:cxnSp>
          <p:nvCxnSpPr>
            <p:cNvPr id="200" name="Google Shape;200;p12"/>
            <p:cNvCxnSpPr/>
            <p:nvPr/>
          </p:nvCxnSpPr>
          <p:spPr>
            <a:xfrm rot="10800000">
              <a:off x="4320" y="2976"/>
              <a:ext cx="768" cy="528"/>
            </a:xfrm>
            <a:prstGeom prst="straightConnector1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201" name="Google Shape;201;p12"/>
          <p:cNvGrpSpPr/>
          <p:nvPr/>
        </p:nvGrpSpPr>
        <p:grpSpPr>
          <a:xfrm>
            <a:off x="76200" y="3135312"/>
            <a:ext cx="990600" cy="369888"/>
            <a:chOff x="3312" y="1872"/>
            <a:chExt cx="624" cy="233"/>
          </a:xfrm>
        </p:grpSpPr>
        <p:sp>
          <p:nvSpPr>
            <p:cNvPr id="202" name="Google Shape;202;p12"/>
            <p:cNvSpPr txBox="1"/>
            <p:nvPr/>
          </p:nvSpPr>
          <p:spPr>
            <a:xfrm>
              <a:off x="3312" y="1872"/>
              <a:ext cx="573" cy="233"/>
            </a:xfrm>
            <a:prstGeom prst="rect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Header </a:t>
              </a:r>
              <a:endParaRPr/>
            </a:p>
          </p:txBody>
        </p:sp>
        <p:cxnSp>
          <p:nvCxnSpPr>
            <p:cNvPr id="203" name="Google Shape;203;p12"/>
            <p:cNvCxnSpPr/>
            <p:nvPr/>
          </p:nvCxnSpPr>
          <p:spPr>
            <a:xfrm rot="10800000" flipH="1">
              <a:off x="3648" y="1872"/>
              <a:ext cx="288" cy="96"/>
            </a:xfrm>
            <a:prstGeom prst="straightConnector1">
              <a:avLst/>
            </a:prstGeom>
            <a:noFill/>
            <a:ln w="12700" cap="flat" cmpd="sng">
              <a:solidFill>
                <a:srgbClr val="E36C09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How to Run</a:t>
            </a:r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Save a source code with extension “c”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(Ex: </a:t>
            </a:r>
            <a:r>
              <a:rPr lang="en-US" b="1"/>
              <a:t>first.c</a:t>
            </a:r>
            <a:r>
              <a:rPr lang="en-US"/>
              <a:t>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Compile it and link it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0F0688"/>
              </a:buClr>
              <a:buSzPts val="2800"/>
              <a:buChar char="–"/>
            </a:pPr>
            <a:r>
              <a:rPr lang="en-US">
                <a:solidFill>
                  <a:srgbClr val="0F0688"/>
                </a:solidFill>
              </a:rPr>
              <a:t>Output: first.exe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Run the program.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Output of the program: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0F0688"/>
              </a:buClr>
              <a:buSzPts val="2000"/>
              <a:buChar char="–"/>
            </a:pPr>
            <a:r>
              <a:rPr lang="en-US" sz="2000">
                <a:solidFill>
                  <a:srgbClr val="0F0688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C!</a:t>
            </a:r>
            <a:endParaRPr>
              <a:solidFill>
                <a:srgbClr val="0F0688"/>
              </a:solidFill>
            </a:endParaRPr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0F0688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/>
          <p:nvPr/>
        </p:nvSpPr>
        <p:spPr>
          <a:xfrm>
            <a:off x="3200400" y="4267200"/>
            <a:ext cx="762000" cy="762000"/>
          </a:xfrm>
          <a:prstGeom prst="can">
            <a:avLst>
              <a:gd name="adj" fmla="val 25000"/>
            </a:avLst>
          </a:prstGeom>
          <a:solidFill>
            <a:srgbClr val="66FF99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test.c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3657600" y="2819400"/>
            <a:ext cx="1238250" cy="9159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</a:t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4572000" y="4267200"/>
            <a:ext cx="762000" cy="762000"/>
          </a:xfrm>
          <a:prstGeom prst="can">
            <a:avLst>
              <a:gd name="adj" fmla="val 25000"/>
            </a:avLst>
          </a:prstGeom>
          <a:solidFill>
            <a:srgbClr val="66FF99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test.exe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5715000" y="3733800"/>
            <a:ext cx="717550" cy="6413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</a:t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2209800" y="4495800"/>
            <a:ext cx="990600" cy="304800"/>
          </a:xfrm>
          <a:prstGeom prst="rightArrow">
            <a:avLst>
              <a:gd name="adj1" fmla="val 50000"/>
              <a:gd name="adj2" fmla="val 81250"/>
            </a:avLst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3581400" y="3886200"/>
            <a:ext cx="1524000" cy="304800"/>
          </a:xfrm>
          <a:prstGeom prst="curvedDownArrow">
            <a:avLst>
              <a:gd name="adj1" fmla="val 100000"/>
              <a:gd name="adj2" fmla="val 200000"/>
              <a:gd name="adj3" fmla="val 33333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4"/>
          <p:cNvSpPr/>
          <p:nvPr/>
        </p:nvSpPr>
        <p:spPr>
          <a:xfrm flipH="1">
            <a:off x="5410200" y="44958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838200" y="4343400"/>
            <a:ext cx="1371600" cy="6858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Editor</a:t>
            </a: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6553200" y="4343400"/>
            <a:ext cx="1371600" cy="6858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2362200" y="3962400"/>
            <a:ext cx="565150" cy="3667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</a:t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4400"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8382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Programming Environment</a:t>
            </a:r>
            <a:endParaRPr/>
          </a:p>
        </p:txBody>
      </p:sp>
      <p:sp>
        <p:nvSpPr>
          <p:cNvPr id="227" name="Google Shape;22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</a:pPr>
            <a:r>
              <a:rPr lang="en-US" sz="3200"/>
              <a:t>Basics of a Typical C Program Development Environment</a:t>
            </a:r>
            <a:endParaRPr/>
          </a:p>
        </p:txBody>
      </p:sp>
      <p:pic>
        <p:nvPicPr>
          <p:cNvPr id="233" name="Google Shape;233;p15" descr="1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48200" y="1524000"/>
            <a:ext cx="4414838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5"/>
          <p:cNvSpPr txBox="1">
            <a:spLocks noGrp="1"/>
          </p:cNvSpPr>
          <p:nvPr>
            <p:ph type="body" idx="2"/>
          </p:nvPr>
        </p:nvSpPr>
        <p:spPr>
          <a:xfrm>
            <a:off x="228600" y="1676400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/>
              <a:t>Phases of C Programs:</a:t>
            </a:r>
            <a:endParaRPr/>
          </a:p>
          <a:p>
            <a:pPr marL="91440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/>
              <a:t>Edit</a:t>
            </a:r>
            <a:endParaRPr/>
          </a:p>
          <a:p>
            <a:pPr marL="91440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/>
              <a:t>Preprocess</a:t>
            </a:r>
            <a:endParaRPr/>
          </a:p>
          <a:p>
            <a:pPr marL="91440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/>
              <a:t>Compile</a:t>
            </a:r>
            <a:endParaRPr/>
          </a:p>
          <a:p>
            <a:pPr marL="91440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/>
              <a:t>Link</a:t>
            </a:r>
            <a:endParaRPr/>
          </a:p>
          <a:p>
            <a:pPr marL="91440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/>
              <a:t>Load</a:t>
            </a:r>
            <a:endParaRPr/>
          </a:p>
          <a:p>
            <a:pPr marL="91440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/>
              <a:t>Execute</a:t>
            </a:r>
            <a:r>
              <a:rPr lang="en-US" sz="2800"/>
              <a:t> </a:t>
            </a:r>
            <a:endParaRPr/>
          </a:p>
          <a:p>
            <a:pPr marL="457200" lvl="0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ldNum" idx="12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alibri"/>
              <a:buNone/>
            </a:pPr>
            <a:r>
              <a:rPr lang="en-US" sz="3600"/>
              <a:t>Integrated Development Environments</a:t>
            </a:r>
            <a:endParaRPr/>
          </a:p>
        </p:txBody>
      </p:sp>
      <p:sp>
        <p:nvSpPr>
          <p:cNvPr id="241" name="Google Shape;241;p16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An </a:t>
            </a:r>
            <a:r>
              <a:rPr lang="en-US" sz="2800" b="1">
                <a:solidFill>
                  <a:srgbClr val="0F0688"/>
                </a:solidFill>
              </a:rPr>
              <a:t>integrated development environment (IDE) </a:t>
            </a:r>
            <a:r>
              <a:rPr lang="en-US" sz="2800"/>
              <a:t>is a software package that makes it possible to edit, compile, link, execute, and debug a program without leaving the environment.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Example: CodeBlocks, MS Visual Studio, Dev CPP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0099"/>
              </a:solidFill>
            </a:endParaRPr>
          </a:p>
        </p:txBody>
      </p:sp>
      <p:sp>
        <p:nvSpPr>
          <p:cNvPr id="242" name="Google Shape;24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48" name="Google Shape;248;p17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</a:pPr>
            <a:r>
              <a:rPr lang="en-US" sz="3200"/>
              <a:t>Typing Speed </a:t>
            </a:r>
            <a:br>
              <a:rPr lang="en-US" sz="3200"/>
            </a:br>
            <a:r>
              <a:rPr lang="en-US" sz="3200"/>
              <a:t>(Not related to this course but Important)</a:t>
            </a:r>
            <a:endParaRPr/>
          </a:p>
        </p:txBody>
      </p:sp>
      <p:sp>
        <p:nvSpPr>
          <p:cNvPr id="249" name="Google Shape;249;p17"/>
          <p:cNvSpPr txBox="1">
            <a:spLocks noGrp="1"/>
          </p:cNvSpPr>
          <p:nvPr>
            <p:ph type="body" idx="4294967295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Important for every student in CSE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Try to type in grammatical way – Use 10 fingers to type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Use software to learn grammatical way of typing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Speed: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518"/>
              </a:spcBef>
              <a:spcAft>
                <a:spcPts val="0"/>
              </a:spcAft>
              <a:buClr>
                <a:srgbClr val="0F0688"/>
              </a:buClr>
              <a:buSzPct val="100000"/>
              <a:buChar char="–"/>
            </a:pPr>
            <a:r>
              <a:rPr lang="en-US">
                <a:solidFill>
                  <a:srgbClr val="0F0688"/>
                </a:solidFill>
              </a:rPr>
              <a:t>Should be at least 30 WPM (Words per minute)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Software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518"/>
              </a:spcBef>
              <a:spcAft>
                <a:spcPts val="0"/>
              </a:spcAft>
              <a:buClr>
                <a:srgbClr val="0F0688"/>
              </a:buClr>
              <a:buSzPct val="100000"/>
              <a:buChar char="–"/>
            </a:pPr>
            <a:r>
              <a:rPr lang="en-US">
                <a:solidFill>
                  <a:srgbClr val="0F0688"/>
                </a:solidFill>
              </a:rPr>
              <a:t>Ten Thumbs Typing Software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518"/>
              </a:spcBef>
              <a:spcAft>
                <a:spcPts val="0"/>
              </a:spcAft>
              <a:buClr>
                <a:srgbClr val="0F0688"/>
              </a:buClr>
              <a:buSzPct val="100000"/>
              <a:buChar char="–"/>
            </a:pPr>
            <a:r>
              <a:rPr lang="en-US">
                <a:solidFill>
                  <a:srgbClr val="0F0688"/>
                </a:solidFill>
              </a:rPr>
              <a:t>Or, any other Typing tutor software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55" name="Google Shape;25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				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		Thank you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Farhana Akter Suci, Lecturer, Dept. of CSE, UU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988</Words>
  <Application>Microsoft Office PowerPoint</Application>
  <PresentationFormat>On-screen Show (4:3)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Noto Sans Symbols</vt:lpstr>
      <vt:lpstr>Times New Roman</vt:lpstr>
      <vt:lpstr>Office Theme</vt:lpstr>
      <vt:lpstr>Lecture 2</vt:lpstr>
      <vt:lpstr>What is Computer?</vt:lpstr>
      <vt:lpstr>Computer Organization</vt:lpstr>
      <vt:lpstr>Computer Organization</vt:lpstr>
      <vt:lpstr>Computer Organization</vt:lpstr>
      <vt:lpstr>The von Neumann architecture </vt:lpstr>
      <vt:lpstr>How it works</vt:lpstr>
      <vt:lpstr>Machine Languages, Assembly Languages, and High-level Languages</vt:lpstr>
      <vt:lpstr>Machine Languages, Assembly Languages, and High-level Languages</vt:lpstr>
      <vt:lpstr>Machine Languages, Assembly Languages, and High-level Languages</vt:lpstr>
      <vt:lpstr>C History</vt:lpstr>
      <vt:lpstr>First C Program</vt:lpstr>
      <vt:lpstr>How to Run</vt:lpstr>
      <vt:lpstr>PowerPoint Presentation</vt:lpstr>
      <vt:lpstr>Basics of a Typical C Program Development Environment</vt:lpstr>
      <vt:lpstr>Integrated Development Environments</vt:lpstr>
      <vt:lpstr>Typing Speed  (Not related to this course but Important)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</dc:title>
  <dc:creator>Naila</dc:creator>
  <cp:lastModifiedBy>Farhana Akter Suci</cp:lastModifiedBy>
  <cp:revision>2</cp:revision>
  <dcterms:created xsi:type="dcterms:W3CDTF">2006-08-16T00:00:00Z</dcterms:created>
  <dcterms:modified xsi:type="dcterms:W3CDTF">2026-06-30T19:01:38Z</dcterms:modified>
</cp:coreProperties>
</file>