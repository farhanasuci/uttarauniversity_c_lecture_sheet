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1" r:id="rId14"/>
    <p:sldId id="272" r:id="rId15"/>
    <p:sldId id="273" r:id="rId16"/>
    <p:sldId id="281" r:id="rId17"/>
    <p:sldId id="274" r:id="rId18"/>
    <p:sldId id="275" r:id="rId19"/>
    <p:sldId id="278" r:id="rId20"/>
    <p:sldId id="279" r:id="rId21"/>
    <p:sldId id="280" r:id="rId22"/>
    <p:sldId id="25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8" autoAdjust="0"/>
    <p:restoredTop sz="94671" autoAdjust="0"/>
  </p:normalViewPr>
  <p:slideViewPr>
    <p:cSldViewPr>
      <p:cViewPr varScale="1">
        <p:scale>
          <a:sx n="69" d="100"/>
          <a:sy n="69" d="100"/>
        </p:scale>
        <p:origin x="132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35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9AB75-8EDB-4CAE-85F0-8A7931A11019}" type="datetimeFigureOut">
              <a:rPr lang="en-US" smtClean="0"/>
              <a:pPr/>
              <a:t>29-Aug-23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7240EE-7B76-4F52-8784-8639329E8F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87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51438F9-3C8A-4D72-A715-CD1C152C778E}" type="slidenum">
              <a:rPr lang="en-US">
                <a:latin typeface="Calibri" panose="020F0502020204030204" pitchFamily="34" charset="0"/>
              </a:rPr>
              <a:pPr eaLnBrk="1" hangingPunct="1"/>
              <a:t>19</a:t>
            </a:fld>
            <a:endParaRPr lang="en-US">
              <a:latin typeface="Calibri" panose="020F0502020204030204" pitchFamily="34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265145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31526A9-AA8E-43BC-9C60-CC1A36A8C7A9}" type="slidenum">
              <a:rPr lang="en-US">
                <a:latin typeface="Calibri" panose="020F0502020204030204" pitchFamily="34" charset="0"/>
              </a:rPr>
              <a:pPr eaLnBrk="1" hangingPunct="1"/>
              <a:t>20</a:t>
            </a:fld>
            <a:endParaRPr lang="en-US">
              <a:latin typeface="Calibri" panose="020F0502020204030204" pitchFamily="3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51089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E87D9-8B22-459C-853B-C85D3DE6701F}" type="datetime1">
              <a:rPr lang="en-US" smtClean="0"/>
              <a:t>29-Aug-23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62DB-5A28-4295-B139-006C110E6FFE}" type="datetime1">
              <a:rPr lang="en-US" smtClean="0"/>
              <a:t>29-Aug-23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E6F62-5448-4862-8172-5A0A49A87EC9}" type="datetime1">
              <a:rPr lang="en-US" smtClean="0"/>
              <a:t>29-Aug-23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5A16-6A45-4FD6-B29A-2AAA2453F378}" type="datetime1">
              <a:rPr lang="en-US" smtClean="0"/>
              <a:t>29-Aug-23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8F52-FCE6-4E47-9A1D-C51D78E2D372}" type="datetime1">
              <a:rPr lang="en-US" smtClean="0"/>
              <a:t>29-Aug-23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6E68C-E6CB-4761-BC52-77BE11CF2DA4}" type="datetime1">
              <a:rPr lang="en-US" smtClean="0"/>
              <a:t>29-Aug-23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E276F-CE53-44F0-AA0E-6E1192954C39}" type="datetime1">
              <a:rPr lang="en-US" smtClean="0"/>
              <a:t>29-Aug-23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206BD-01C0-45FE-BB9C-3088CCBD831E}" type="datetime1">
              <a:rPr lang="en-US" smtClean="0"/>
              <a:t>29-Aug-23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BAAE7-D87E-4376-B43D-195676321B9A}" type="datetime1">
              <a:rPr lang="en-US" smtClean="0"/>
              <a:t>29-Aug-23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4CC2-0448-4409-B7C8-F1C928523CBF}" type="datetime1">
              <a:rPr lang="en-US" smtClean="0"/>
              <a:t>29-Aug-23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B729-C30B-42D2-BAC1-DB5A177CB0F9}" type="datetime1">
              <a:rPr lang="en-US" smtClean="0"/>
              <a:t>29-Aug-23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7AEFE-6139-44EF-B0FB-BE0873D079B4}" type="datetime1">
              <a:rPr lang="en-US" smtClean="0"/>
              <a:t>29-Aug-23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ln w="19050">
            <a:solidFill>
              <a:srgbClr val="0070C0"/>
            </a:solidFill>
          </a:ln>
        </p:spPr>
        <p:txBody>
          <a:bodyPr/>
          <a:lstStyle/>
          <a:p>
            <a:r>
              <a:rPr lang="en-US" smtClean="0"/>
              <a:t>Lecture 10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CSE0613101: </a:t>
            </a:r>
            <a:r>
              <a:rPr lang="en-US" dirty="0" smtClean="0"/>
              <a:t>Structured Programming Language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27" y="377513"/>
            <a:ext cx="3082273" cy="146716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Local Variables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 variable declared in the body of a function is said to be</a:t>
            </a:r>
            <a:r>
              <a:rPr lang="en-US" dirty="0" smtClean="0">
                <a:solidFill>
                  <a:srgbClr val="000099"/>
                </a:solidFill>
              </a:rPr>
              <a:t> </a:t>
            </a:r>
            <a:r>
              <a:rPr lang="en-US" b="1" i="1" dirty="0" smtClean="0">
                <a:solidFill>
                  <a:srgbClr val="000099"/>
                </a:solidFill>
              </a:rPr>
              <a:t>local</a:t>
            </a:r>
            <a:r>
              <a:rPr lang="en-US" i="1" dirty="0" smtClean="0">
                <a:solidFill>
                  <a:srgbClr val="000099"/>
                </a:solidFill>
              </a:rPr>
              <a:t> </a:t>
            </a:r>
            <a:r>
              <a:rPr lang="en-US" dirty="0" smtClean="0"/>
              <a:t>to the function: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sum_digits</a:t>
            </a:r>
            <a:r>
              <a:rPr lang="en-US" sz="24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sz="2400" dirty="0" err="1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sum = 0;   /* local variable */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 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while (n &gt; 0) {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sum += n % 10;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n /= 10;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}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 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return sum;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endParaRPr lang="en-US" dirty="0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945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Local Variables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r>
              <a:rPr lang="en-US" smtClean="0"/>
              <a:t>Default properties of local variables:</a:t>
            </a:r>
          </a:p>
          <a:p>
            <a:pPr lvl="1"/>
            <a:r>
              <a:rPr lang="en-US" b="1" i="1" smtClean="0"/>
              <a:t>Automatic storage duration.</a:t>
            </a:r>
            <a:r>
              <a:rPr lang="en-US" smtClean="0"/>
              <a:t> Storage is “automatically” allocated when the enclosing function is called and deallocated when the function returns.</a:t>
            </a:r>
          </a:p>
          <a:p>
            <a:pPr lvl="1"/>
            <a:r>
              <a:rPr lang="en-US" b="1" i="1" smtClean="0"/>
              <a:t>Block scope.</a:t>
            </a:r>
            <a:r>
              <a:rPr lang="en-US" smtClean="0"/>
              <a:t> A local variable is visible from its point of declaration to the end of the enclosing function body.</a:t>
            </a:r>
          </a:p>
          <a:p>
            <a:endParaRPr lang="en-US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05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Local Variables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r>
              <a:rPr lang="en-US" smtClean="0"/>
              <a:t>Since C99 doesn’t require variable declarations to come at the beginning of a function, it’s possible for a local variable to have a very small scope:</a:t>
            </a:r>
          </a:p>
        </p:txBody>
      </p:sp>
      <p:pic>
        <p:nvPicPr>
          <p:cNvPr id="1536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700" y="3048000"/>
            <a:ext cx="3187700" cy="189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88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Parameters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r>
              <a:rPr lang="en-US" dirty="0" smtClean="0"/>
              <a:t>Parameters have the same properties—automatic storage duration and block scope—as local variables.</a:t>
            </a:r>
          </a:p>
          <a:p>
            <a:r>
              <a:rPr lang="en-US" dirty="0" smtClean="0"/>
              <a:t>Each parameter is initialized automatically when a function is called (by being assigned the value of the corresponding argument).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168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Global Variables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r>
              <a:rPr lang="en-US" dirty="0" smtClean="0"/>
              <a:t>Passing arguments is one way to transmit information to a function.</a:t>
            </a:r>
          </a:p>
          <a:p>
            <a:r>
              <a:rPr lang="en-US" dirty="0" smtClean="0"/>
              <a:t>Functions can also communicate through </a:t>
            </a:r>
            <a:r>
              <a:rPr lang="en-US" b="1" i="1" dirty="0" smtClean="0">
                <a:solidFill>
                  <a:srgbClr val="000099"/>
                </a:solidFill>
              </a:rPr>
              <a:t>global variables</a:t>
            </a:r>
            <a:r>
              <a:rPr lang="en-US" dirty="0" smtClean="0"/>
              <a:t>—variables that are declared outside the body of any function.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78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Global Variables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r>
              <a:rPr lang="en-US" dirty="0" smtClean="0"/>
              <a:t>Properties of global variables:</a:t>
            </a:r>
          </a:p>
          <a:p>
            <a:pPr lvl="1"/>
            <a:r>
              <a:rPr lang="en-US" dirty="0" smtClean="0"/>
              <a:t>Static storage duration</a:t>
            </a:r>
          </a:p>
          <a:p>
            <a:pPr lvl="1"/>
            <a:r>
              <a:rPr lang="en-US" dirty="0" smtClean="0"/>
              <a:t>File scope</a:t>
            </a:r>
          </a:p>
          <a:p>
            <a:r>
              <a:rPr lang="en-US" dirty="0" smtClean="0"/>
              <a:t>Having </a:t>
            </a:r>
            <a:r>
              <a:rPr lang="en-US" b="1" i="1" dirty="0" smtClean="0">
                <a:solidFill>
                  <a:srgbClr val="000099"/>
                </a:solidFill>
              </a:rPr>
              <a:t>file scope</a:t>
            </a:r>
            <a:r>
              <a:rPr lang="en-US" dirty="0" smtClean="0">
                <a:solidFill>
                  <a:srgbClr val="000099"/>
                </a:solidFill>
              </a:rPr>
              <a:t> </a:t>
            </a:r>
            <a:r>
              <a:rPr lang="en-US" dirty="0" smtClean="0"/>
              <a:t>means that an global variable is visible from its point of declaration to the end of the enclosing file.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83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 smtClean="0"/>
              <a:t>Pros and Cons of Global Variables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r>
              <a:rPr lang="en-US" sz="2500" dirty="0" smtClean="0"/>
              <a:t>Global variables are convenient when many functions must share a variable or when a few functions share a large number of variables.</a:t>
            </a:r>
          </a:p>
          <a:p>
            <a:r>
              <a:rPr lang="en-US" sz="2500" dirty="0" smtClean="0"/>
              <a:t>In most cases, it’s better for functions to communicate through parameters rather than by sharing variables:</a:t>
            </a:r>
          </a:p>
          <a:p>
            <a:pPr lvl="1"/>
            <a:r>
              <a:rPr lang="en-US" sz="2100" dirty="0" smtClean="0"/>
              <a:t>If we change an global variable during program maintenance (by altering its type, say), we’ll need to check every function in the same file to see how the change affects it.</a:t>
            </a:r>
          </a:p>
          <a:p>
            <a:pPr lvl="1"/>
            <a:r>
              <a:rPr lang="en-US" sz="2100" dirty="0" smtClean="0"/>
              <a:t>If an global variable is assigned an incorrect value, it may be difficult to identify the guilty function.</a:t>
            </a:r>
          </a:p>
          <a:p>
            <a:pPr lvl="1"/>
            <a:r>
              <a:rPr lang="en-US" sz="2100" dirty="0" smtClean="0"/>
              <a:t>Functions that rely on global variables are hard to reuse in other programs.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8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 smtClean="0"/>
              <a:t>Pros and Cons of global Variables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Don’t use the same global variable for different purposes in different functions.</a:t>
            </a:r>
          </a:p>
          <a:p>
            <a:r>
              <a:rPr lang="en-US" dirty="0" smtClean="0"/>
              <a:t>Suppose that several functions need a variable named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/>
              <a:t> to control a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 smtClean="0"/>
              <a:t> statement.</a:t>
            </a:r>
          </a:p>
          <a:p>
            <a:r>
              <a:rPr lang="en-US" dirty="0" smtClean="0"/>
              <a:t>Instead of declaring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/>
              <a:t> in each function that uses it, some programmers declare it just once at the top of the program.</a:t>
            </a:r>
          </a:p>
          <a:p>
            <a:r>
              <a:rPr lang="en-US" dirty="0" smtClean="0"/>
              <a:t>This practice is misleading; someone reading the program later may think that the uses of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/>
              <a:t> are related, when in fact they’re not.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920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 smtClean="0"/>
              <a:t>Pros and Cons of global Variables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r>
              <a:rPr lang="en-US" dirty="0" smtClean="0"/>
              <a:t>Make sure that global variables have meaningful names.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2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 smtClean="0"/>
              <a:t>Pros and Cons of global Variables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534400" cy="4876800"/>
          </a:xfrm>
        </p:spPr>
        <p:txBody>
          <a:bodyPr/>
          <a:lstStyle/>
          <a:p>
            <a:r>
              <a:rPr lang="en-US" sz="2000" dirty="0" smtClean="0"/>
              <a:t>Making variables global  when they should be local can lead to some rather frustrating bugs.</a:t>
            </a:r>
          </a:p>
          <a:p>
            <a:r>
              <a:rPr lang="en-US" sz="2000" dirty="0" smtClean="0"/>
              <a:t>Code that is supposed to display a 10 × 10 arrangement of asterisks:</a:t>
            </a:r>
          </a:p>
          <a:p>
            <a:pPr>
              <a:lnSpc>
                <a:spcPct val="80000"/>
              </a:lnSpc>
              <a:spcBef>
                <a:spcPts val="800"/>
              </a:spcBef>
              <a:buFontTx/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 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void </a:t>
            </a:r>
            <a:r>
              <a:rPr lang="en-US" sz="1800" dirty="0" err="1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print_one_row</a:t>
            </a: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(void)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for (</a:t>
            </a:r>
            <a:r>
              <a:rPr lang="en-US" sz="1800" dirty="0" err="1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1800" dirty="0" err="1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10; </a:t>
            </a:r>
            <a:r>
              <a:rPr lang="en-US" sz="1800" dirty="0" err="1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>
              <a:lnSpc>
                <a:spcPct val="70000"/>
              </a:lnSpc>
              <a:spcBef>
                <a:spcPts val="3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en-US" sz="1800" dirty="0" err="1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("*");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 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void </a:t>
            </a:r>
            <a:r>
              <a:rPr lang="en-US" sz="1800" dirty="0" err="1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print_all_rows</a:t>
            </a: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(void)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for (</a:t>
            </a:r>
            <a:r>
              <a:rPr lang="en-US" sz="1800" dirty="0" err="1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1800" dirty="0" err="1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10; </a:t>
            </a:r>
            <a:r>
              <a:rPr lang="en-US" sz="1800" dirty="0" err="1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en-US" sz="1800" dirty="0" err="1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print_one_row</a:t>
            </a: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lnSpc>
                <a:spcPct val="70000"/>
              </a:lnSpc>
              <a:spcBef>
                <a:spcPts val="3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en-US" sz="1800" dirty="0" err="1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("\n");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}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r>
              <a:rPr lang="en-US" sz="1800" dirty="0" smtClean="0">
                <a:solidFill>
                  <a:srgbClr val="000099"/>
                </a:solidFill>
              </a:rPr>
              <a:t> </a:t>
            </a:r>
          </a:p>
          <a:p>
            <a:r>
              <a:rPr lang="en-US" sz="2000" dirty="0" smtClean="0"/>
              <a:t>Instead of printing 10 rows, 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print_all_rows</a:t>
            </a:r>
            <a:r>
              <a:rPr lang="en-US" sz="2000" dirty="0" smtClean="0"/>
              <a:t> prints only one.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8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Blocks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r>
              <a:rPr lang="en-US" dirty="0" smtClean="0"/>
              <a:t>Compound statements are of the form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{ </a:t>
            </a:r>
            <a:r>
              <a:rPr lang="en-US" sz="2400" i="1" dirty="0" smtClean="0"/>
              <a:t>statements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r>
              <a:rPr lang="en-US" dirty="0" smtClean="0"/>
              <a:t>C allows compound statements to contain declarations as well as statements: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{ </a:t>
            </a:r>
            <a:r>
              <a:rPr lang="en-US" sz="2400" i="1" dirty="0" smtClean="0"/>
              <a:t>declarations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i="1" dirty="0" smtClean="0"/>
              <a:t>statements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r>
              <a:rPr lang="en-US" dirty="0" smtClean="0"/>
              <a:t>This kind of compound statement is also called a </a:t>
            </a:r>
            <a:r>
              <a:rPr lang="en-US" b="1" i="1" dirty="0" smtClean="0">
                <a:solidFill>
                  <a:srgbClr val="000099"/>
                </a:solidFill>
              </a:rPr>
              <a:t>block.</a:t>
            </a:r>
            <a:r>
              <a:rPr lang="en-US" dirty="0" smtClean="0">
                <a:solidFill>
                  <a:srgbClr val="000099"/>
                </a:solidFill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5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Blocks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r>
              <a:rPr lang="en-US" smtClean="0"/>
              <a:t>By default, the storage duration of a variable declared in a block is automatic: storage for the variable is allocated when the block is entered and deallocated when the block is exited.</a:t>
            </a:r>
          </a:p>
          <a:p>
            <a:r>
              <a:rPr lang="en-US" smtClean="0"/>
              <a:t>The variable has block scope; it can’t be referenced outside the block.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0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Blocks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r>
              <a:rPr lang="en-US" smtClean="0"/>
              <a:t>The body of a function is a block.</a:t>
            </a:r>
          </a:p>
          <a:p>
            <a:r>
              <a:rPr lang="en-US" smtClean="0"/>
              <a:t>Blocks are also useful inside a function body when we need variables for temporary use.</a:t>
            </a:r>
          </a:p>
          <a:p>
            <a:r>
              <a:rPr lang="en-US" smtClean="0">
                <a:solidFill>
                  <a:srgbClr val="000000"/>
                </a:solidFill>
              </a:rPr>
              <a:t>C99 and C++ allows variables to be declared anywhere within a block.</a:t>
            </a:r>
          </a:p>
          <a:p>
            <a:pPr lvl="1"/>
            <a:endParaRPr lang="en-US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31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 smtClean="0"/>
              <a:t>Scope of a variable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000099"/>
                </a:solidFill>
              </a:rPr>
              <a:t>Scope</a:t>
            </a:r>
            <a:r>
              <a:rPr lang="en-US" dirty="0" smtClean="0"/>
              <a:t> refers to the portion of the program in which </a:t>
            </a:r>
          </a:p>
          <a:p>
            <a:pPr lvl="1"/>
            <a:r>
              <a:rPr lang="en-US" dirty="0" smtClean="0"/>
              <a:t>It is valid to reference the variable</a:t>
            </a:r>
          </a:p>
          <a:p>
            <a:pPr lvl="1"/>
            <a:r>
              <a:rPr lang="en-US" dirty="0" smtClean="0"/>
              <a:t>The variable is visible or accessible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650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Scope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 lnSpcReduction="10000"/>
          </a:bodyPr>
          <a:lstStyle/>
          <a:p>
            <a:r>
              <a:rPr lang="en-US" sz="2600" dirty="0" smtClean="0"/>
              <a:t>In a C program, the same identifier may have several different meanings.</a:t>
            </a:r>
          </a:p>
          <a:p>
            <a:r>
              <a:rPr lang="en-US" sz="2600" dirty="0" smtClean="0"/>
              <a:t>C’s scope rules enable the programmer (and the compiler) to determine which meaning is relevant at a given point in the program.</a:t>
            </a:r>
          </a:p>
          <a:p>
            <a:r>
              <a:rPr lang="en-US" sz="2600" dirty="0" smtClean="0"/>
              <a:t>The most important scope rule: When a declaration inside a block names an identifier that’s already visible, the new declaration temporarily “hides” the old one, and the identifier takes on a new meaning.</a:t>
            </a:r>
          </a:p>
          <a:p>
            <a:r>
              <a:rPr lang="en-US" sz="2600" dirty="0" smtClean="0"/>
              <a:t>At the end of the block, the identifier regains its old meaning.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650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Scope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 fontScale="92500" lnSpcReduction="20000"/>
          </a:bodyPr>
          <a:lstStyle/>
          <a:p>
            <a:r>
              <a:rPr lang="en-US" smtClean="0"/>
              <a:t>In the example on the next slide, the identifier </a:t>
            </a:r>
            <a:r>
              <a:rPr 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mtClean="0"/>
              <a:t> has four different meanings:</a:t>
            </a:r>
          </a:p>
          <a:p>
            <a:pPr lvl="1"/>
            <a:r>
              <a:rPr lang="en-US" smtClean="0"/>
              <a:t>In Declaration 1, </a:t>
            </a:r>
            <a:r>
              <a:rPr 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mtClean="0"/>
              <a:t> is a variable with static storage duration and file scope.</a:t>
            </a:r>
          </a:p>
          <a:p>
            <a:pPr lvl="1"/>
            <a:r>
              <a:rPr lang="en-US" smtClean="0"/>
              <a:t>In Declaration 2, </a:t>
            </a:r>
            <a:r>
              <a:rPr 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mtClean="0"/>
              <a:t> is a parameter with block scope.</a:t>
            </a:r>
          </a:p>
          <a:p>
            <a:pPr lvl="1"/>
            <a:r>
              <a:rPr lang="en-US" smtClean="0"/>
              <a:t>In Declaration 3, </a:t>
            </a:r>
            <a:r>
              <a:rPr 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mtClean="0"/>
              <a:t> is an automatic variable with block scope.</a:t>
            </a:r>
          </a:p>
          <a:p>
            <a:pPr lvl="1"/>
            <a:r>
              <a:rPr lang="en-US" smtClean="0"/>
              <a:t>In Declaration 4, </a:t>
            </a:r>
            <a:r>
              <a:rPr 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mtClean="0"/>
              <a:t> is also automatic and has block scope.</a:t>
            </a:r>
          </a:p>
          <a:p>
            <a:r>
              <a:rPr lang="en-US" smtClean="0"/>
              <a:t>C’s scope rules allow us to determine the meaning of </a:t>
            </a:r>
            <a:r>
              <a:rPr 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mtClean="0"/>
              <a:t> each time it’s used (indicated by arrows).</a:t>
            </a:r>
          </a:p>
          <a:p>
            <a:endParaRPr lang="en-US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13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57200"/>
            <a:ext cx="5638800" cy="6140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8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21E8683-9423-405E-B23B-1EBEDBB5B58B}" type="slidenum">
              <a:rPr lang="en-US">
                <a:solidFill>
                  <a:srgbClr val="164C6C"/>
                </a:solidFill>
                <a:latin typeface="Georgia" panose="02040502050405020303" pitchFamily="18" charset="0"/>
              </a:rPr>
              <a:pPr eaLnBrk="1" hangingPunct="1"/>
              <a:t>19</a:t>
            </a:fld>
            <a:endParaRPr lang="en-US">
              <a:solidFill>
                <a:srgbClr val="164C6C"/>
              </a:solidFill>
              <a:latin typeface="Georgia" panose="02040502050405020303" pitchFamily="18" charset="0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Scope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eaLnBrk="1" hangingPunct="1"/>
            <a:r>
              <a:rPr lang="en-US" sz="2800" i="1" smtClean="0"/>
              <a:t>Local</a:t>
            </a:r>
            <a:r>
              <a:rPr lang="en-US" sz="2800" smtClean="0"/>
              <a:t> scope </a:t>
            </a:r>
          </a:p>
          <a:p>
            <a:pPr lvl="1" eaLnBrk="1" hangingPunct="1"/>
            <a:r>
              <a:rPr lang="en-US" sz="2400" smtClean="0"/>
              <a:t>a local variable is defined within a function or a block and can be accessed only within the function or block that defines it</a:t>
            </a:r>
          </a:p>
          <a:p>
            <a:pPr eaLnBrk="1" hangingPunct="1"/>
            <a:r>
              <a:rPr lang="en-US" sz="2800" i="1" smtClean="0"/>
              <a:t>Global</a:t>
            </a:r>
            <a:r>
              <a:rPr lang="en-US" sz="2800" smtClean="0"/>
              <a:t> scope</a:t>
            </a:r>
          </a:p>
          <a:p>
            <a:pPr lvl="1" eaLnBrk="1" hangingPunct="1"/>
            <a:r>
              <a:rPr lang="en-US" sz="2400" smtClean="0"/>
              <a:t>a global variable is defined outside the </a:t>
            </a:r>
            <a:r>
              <a:rPr lang="en-US" sz="2400" b="1" smtClean="0"/>
              <a:t>main</a:t>
            </a:r>
            <a:r>
              <a:rPr lang="en-US" sz="2400" smtClean="0"/>
              <a:t> function and can be accessed by any function within the program file.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339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33026B0-8AF9-4368-9A19-B950D716555F}" type="slidenum">
              <a:rPr lang="en-US">
                <a:solidFill>
                  <a:srgbClr val="164C6C"/>
                </a:solidFill>
                <a:latin typeface="Georgia" panose="02040502050405020303" pitchFamily="18" charset="0"/>
              </a:rPr>
              <a:pPr eaLnBrk="1" hangingPunct="1"/>
              <a:t>20</a:t>
            </a:fld>
            <a:endParaRPr lang="en-US">
              <a:solidFill>
                <a:srgbClr val="164C6C"/>
              </a:solidFill>
              <a:latin typeface="Georgia" panose="02040502050405020303" pitchFamily="18" charset="0"/>
            </a:endParaRPr>
          </a:p>
        </p:txBody>
      </p:sp>
      <p:sp>
        <p:nvSpPr>
          <p:cNvPr id="36867" name="Rectangle 23"/>
          <p:cNvSpPr>
            <a:spLocks noChangeArrowheads="1"/>
          </p:cNvSpPr>
          <p:nvPr/>
        </p:nvSpPr>
        <p:spPr bwMode="auto">
          <a:xfrm>
            <a:off x="5867400" y="2209800"/>
            <a:ext cx="3124200" cy="3200400"/>
          </a:xfrm>
          <a:prstGeom prst="rect">
            <a:avLst/>
          </a:prstGeom>
          <a:solidFill>
            <a:srgbClr val="85ACEB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8150" name="Rectangle 22"/>
          <p:cNvSpPr>
            <a:spLocks noChangeArrowheads="1"/>
          </p:cNvSpPr>
          <p:nvPr/>
        </p:nvSpPr>
        <p:spPr bwMode="auto">
          <a:xfrm>
            <a:off x="6096000" y="3276600"/>
            <a:ext cx="2819400" cy="914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8149" name="Rectangle 21"/>
          <p:cNvSpPr>
            <a:spLocks noChangeArrowheads="1"/>
          </p:cNvSpPr>
          <p:nvPr/>
        </p:nvSpPr>
        <p:spPr bwMode="auto">
          <a:xfrm>
            <a:off x="6096000" y="4267200"/>
            <a:ext cx="2819400" cy="9144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6870" name="Rectangle 20"/>
          <p:cNvSpPr>
            <a:spLocks noChangeArrowheads="1"/>
          </p:cNvSpPr>
          <p:nvPr/>
        </p:nvSpPr>
        <p:spPr bwMode="auto">
          <a:xfrm>
            <a:off x="685800" y="1752600"/>
            <a:ext cx="4038600" cy="4953000"/>
          </a:xfrm>
          <a:prstGeom prst="rect">
            <a:avLst/>
          </a:prstGeom>
          <a:solidFill>
            <a:srgbClr val="85ACEB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8147" name="Rectangle 19"/>
          <p:cNvSpPr>
            <a:spLocks noChangeArrowheads="1"/>
          </p:cNvSpPr>
          <p:nvPr/>
        </p:nvSpPr>
        <p:spPr bwMode="auto">
          <a:xfrm>
            <a:off x="838200" y="2438400"/>
            <a:ext cx="3810000" cy="1676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8146" name="Rectangle 18"/>
          <p:cNvSpPr>
            <a:spLocks noChangeArrowheads="1"/>
          </p:cNvSpPr>
          <p:nvPr/>
        </p:nvSpPr>
        <p:spPr bwMode="auto">
          <a:xfrm>
            <a:off x="838200" y="4343400"/>
            <a:ext cx="3810000" cy="22860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09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Global vs Local Variable</a:t>
            </a:r>
          </a:p>
        </p:txBody>
      </p:sp>
      <p:sp>
        <p:nvSpPr>
          <p:cNvPr id="368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28800"/>
            <a:ext cx="4038600" cy="4724400"/>
          </a:xfrm>
          <a:noFill/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smtClean="0">
                <a:latin typeface="Courier New" panose="02070309020205020404" pitchFamily="49" charset="0"/>
              </a:rPr>
              <a:t>#include &lt;stdio.h&gt;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smtClean="0">
                <a:solidFill>
                  <a:schemeClr val="hlink"/>
                </a:solidFill>
                <a:latin typeface="Courier New" panose="02070309020205020404" pitchFamily="49" charset="0"/>
              </a:rPr>
              <a:t>int z = 2;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smtClean="0">
                <a:latin typeface="Courier New" panose="02070309020205020404" pitchFamily="49" charset="0"/>
              </a:rPr>
              <a:t>void function1()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smtClean="0">
                <a:latin typeface="Courier New" panose="02070309020205020404" pitchFamily="49" charset="0"/>
              </a:rPr>
              <a:t>{ int a = 4;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smtClean="0">
                <a:latin typeface="Courier New" panose="02070309020205020404" pitchFamily="49" charset="0"/>
              </a:rPr>
              <a:t>  printf("Z = %d\n",z);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smtClean="0">
                <a:latin typeface="Courier New" panose="02070309020205020404" pitchFamily="49" charset="0"/>
              </a:rPr>
              <a:t>  z = z+a;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smtClean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20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smtClean="0">
                <a:latin typeface="Courier New" panose="02070309020205020404" pitchFamily="49" charset="0"/>
              </a:rPr>
              <a:t>int main()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smtClean="0">
                <a:latin typeface="Courier New" panose="02070309020205020404" pitchFamily="49" charset="0"/>
              </a:rPr>
              <a:t>{ int a = 3;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smtClean="0">
                <a:latin typeface="Courier New" panose="02070309020205020404" pitchFamily="49" charset="0"/>
              </a:rPr>
              <a:t>  z = z + a;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smtClean="0">
                <a:latin typeface="Courier New" panose="02070309020205020404" pitchFamily="49" charset="0"/>
              </a:rPr>
              <a:t>  function1();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smtClean="0">
                <a:latin typeface="Courier New" panose="02070309020205020404" pitchFamily="49" charset="0"/>
              </a:rPr>
              <a:t>  printf("Z = %d\n",z);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smtClean="0">
                <a:latin typeface="Courier New" panose="02070309020205020404" pitchFamily="49" charset="0"/>
              </a:rPr>
              <a:t>  z = z+a;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smtClean="0">
                <a:latin typeface="Courier New" panose="02070309020205020404" pitchFamily="49" charset="0"/>
              </a:rPr>
              <a:t>  return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smtClean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4876800" y="5334000"/>
            <a:ext cx="131127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b="1"/>
              <a:t>Output</a:t>
            </a:r>
          </a:p>
          <a:p>
            <a:pPr eaLnBrk="1" hangingPunct="1"/>
            <a:endParaRPr lang="en-US" b="1"/>
          </a:p>
          <a:p>
            <a:pPr eaLnBrk="1" hangingPunct="1"/>
            <a:r>
              <a:rPr lang="en-US"/>
              <a:t>Z = 5</a:t>
            </a:r>
          </a:p>
          <a:p>
            <a:pPr eaLnBrk="1" hangingPunct="1"/>
            <a:r>
              <a:rPr lang="en-US"/>
              <a:t>Z = 9</a:t>
            </a:r>
          </a:p>
        </p:txBody>
      </p:sp>
      <p:graphicFrame>
        <p:nvGraphicFramePr>
          <p:cNvPr id="48145" name="Group 17"/>
          <p:cNvGraphicFramePr>
            <a:graphicFrameLocks noGrp="1"/>
          </p:cNvGraphicFramePr>
          <p:nvPr/>
        </p:nvGraphicFramePr>
        <p:xfrm>
          <a:off x="6400800" y="2209800"/>
          <a:ext cx="2057400" cy="40640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z=2 5 9 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a=4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a=3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25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8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48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50" grpId="0" animBg="1"/>
      <p:bldP spid="48149" grpId="0" animBg="1"/>
      <p:bldP spid="48147" grpId="0" animBg="1"/>
      <p:bldP spid="48146" grpId="0" animBg="1"/>
      <p:bldP spid="4813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Scope rules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1625" y="1371600"/>
            <a:ext cx="8504238" cy="5029199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>
                <a:cs typeface="Times New Roman" panose="02020603050405020304" pitchFamily="18" charset="0"/>
              </a:rPr>
              <a:t>Identifiers (i.e. variables etc) are accessible </a:t>
            </a:r>
            <a:r>
              <a:rPr lang="en-US" sz="2400" b="1" dirty="0" smtClean="0">
                <a:cs typeface="Times New Roman" panose="02020603050405020304" pitchFamily="18" charset="0"/>
              </a:rPr>
              <a:t>only</a:t>
            </a:r>
            <a:r>
              <a:rPr lang="en-US" sz="2400" dirty="0" smtClean="0">
                <a:cs typeface="Times New Roman" panose="02020603050405020304" pitchFamily="18" charset="0"/>
              </a:rPr>
              <a:t> within the block in which they are declared. Example: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000" dirty="0" smtClean="0"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US" sz="2000" b="1" dirty="0" smtClean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 smtClean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 smtClean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 = 2;			/* outer block a */</a:t>
            </a:r>
            <a:endParaRPr lang="en-US" sz="2000" dirty="0" smtClean="0"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US" sz="2000" b="1" dirty="0" smtClean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 smtClean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b="1" dirty="0" smtClean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(“%d\n”, a);		/* 2 is printed */</a:t>
            </a:r>
            <a:endParaRPr lang="en-US" sz="2000" dirty="0" smtClean="0"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US" sz="2000" b="1" dirty="0" smtClean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  <a:endParaRPr lang="en-US" sz="2000" dirty="0" smtClean="0"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US" sz="2000" b="1" dirty="0" smtClean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 smtClean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 smtClean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 = 5;		/* inner block a */</a:t>
            </a:r>
            <a:endParaRPr lang="en-US" sz="2000" dirty="0" smtClean="0"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US" sz="2000" b="1" dirty="0" smtClean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 smtClean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b="1" dirty="0" smtClean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(“%d\n”, a);	/* 5 is printed */</a:t>
            </a:r>
            <a:endParaRPr lang="en-US" sz="2000" dirty="0" smtClean="0"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US" sz="2000" b="1" dirty="0" smtClean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  <a:endParaRPr lang="en-US" sz="2000" dirty="0" smtClean="0"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US" sz="2000" b="1" dirty="0" smtClean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 smtClean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b="1" dirty="0" smtClean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(“%d\n”, a);		/* 2 is printed */</a:t>
            </a:r>
            <a:endParaRPr lang="en-US" sz="2000" dirty="0" smtClean="0"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US" sz="2000" b="1" dirty="0" smtClean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sz="2000" dirty="0" smtClean="0">
              <a:cs typeface="Times New Roman" panose="02020603050405020304" pitchFamily="18" charset="0"/>
            </a:endParaRPr>
          </a:p>
          <a:p>
            <a:r>
              <a:rPr lang="en-US" sz="2400" dirty="0" smtClean="0">
                <a:cs typeface="Times New Roman" panose="02020603050405020304" pitchFamily="18" charset="0"/>
              </a:rPr>
              <a:t>A variable that is declared in an outer block is available in the inner block unless it is </a:t>
            </a:r>
            <a:r>
              <a:rPr lang="en-US" sz="2400" dirty="0" err="1" smtClean="0">
                <a:cs typeface="Times New Roman" panose="02020603050405020304" pitchFamily="18" charset="0"/>
              </a:rPr>
              <a:t>redeclared</a:t>
            </a:r>
            <a:r>
              <a:rPr lang="en-US" sz="2400" dirty="0" smtClean="0">
                <a:cs typeface="Times New Roman" panose="02020603050405020304" pitchFamily="18" charset="0"/>
              </a:rPr>
              <a:t>, in which case the outer block declaration is temporarily “masked”.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03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</a:p>
          <a:p>
            <a:pPr>
              <a:buNone/>
            </a:pPr>
            <a:r>
              <a:rPr lang="en-US" dirty="0" smtClean="0"/>
              <a:t>				Thank you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1286</TotalTime>
  <Words>1244</Words>
  <Application>Microsoft Office PowerPoint</Application>
  <PresentationFormat>On-screen Show (4:3)</PresentationFormat>
  <Paragraphs>184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Courier New</vt:lpstr>
      <vt:lpstr>Georgia</vt:lpstr>
      <vt:lpstr>Tahoma</vt:lpstr>
      <vt:lpstr>Times New Roman</vt:lpstr>
      <vt:lpstr>Wingdings</vt:lpstr>
      <vt:lpstr>Wingdings 2</vt:lpstr>
      <vt:lpstr>Office Theme</vt:lpstr>
      <vt:lpstr>Lecture 10</vt:lpstr>
      <vt:lpstr>Local Variables</vt:lpstr>
      <vt:lpstr>Local Variables</vt:lpstr>
      <vt:lpstr>Local Variables</vt:lpstr>
      <vt:lpstr>Parameters</vt:lpstr>
      <vt:lpstr>Global Variables</vt:lpstr>
      <vt:lpstr>Global Variables</vt:lpstr>
      <vt:lpstr>Pros and Cons of Global Variables</vt:lpstr>
      <vt:lpstr>Pros and Cons of global Variables</vt:lpstr>
      <vt:lpstr>Pros and Cons of global Variables</vt:lpstr>
      <vt:lpstr>Pros and Cons of global Variables</vt:lpstr>
      <vt:lpstr>Blocks</vt:lpstr>
      <vt:lpstr>Blocks</vt:lpstr>
      <vt:lpstr>Blocks</vt:lpstr>
      <vt:lpstr>Scope of a variable</vt:lpstr>
      <vt:lpstr>Scope</vt:lpstr>
      <vt:lpstr>Scope</vt:lpstr>
      <vt:lpstr>PowerPoint Presentation</vt:lpstr>
      <vt:lpstr>Scope</vt:lpstr>
      <vt:lpstr>Global vs Local Variable</vt:lpstr>
      <vt:lpstr>Scope rules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</dc:title>
  <dc:creator>Naila</dc:creator>
  <cp:lastModifiedBy>Common Printer</cp:lastModifiedBy>
  <cp:revision>448</cp:revision>
  <dcterms:created xsi:type="dcterms:W3CDTF">2006-08-16T00:00:00Z</dcterms:created>
  <dcterms:modified xsi:type="dcterms:W3CDTF">2023-08-29T07:39:34Z</dcterms:modified>
</cp:coreProperties>
</file>