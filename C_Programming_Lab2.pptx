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D9E6F2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2377440" cy="23774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5074920"/>
            <a:ext cx="777240" cy="777240"/>
          </a:xfrm>
          <a:prstGeom prst="rect">
            <a:avLst/>
          </a:prstGeom>
        </p:spPr>
      </p:pic>
      <p:pic>
        <p:nvPicPr>
          <p:cNvPr id="6" name="Image 1" descr="/home/claude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 UNIVERSITY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69164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22860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" y="26974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If-else &amp; Conditional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Statements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640080" y="4160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Programming Language Lab  •  CSE0613104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5230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67G  •  Summer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lab session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373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icons/cu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24942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Basics Refresher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505456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variables, operators &amp; keywords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16552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7373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1" name="Image 1" descr="/home/claude/icons/bulb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47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24942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17720" y="2505456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 keyword, and why it matters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93024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7373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2" descr="/home/claude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470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24942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Statements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94192" y="2505456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conditions, and worked examples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3035808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321868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1" name="Image 3" descr="/home/claude/icons/listO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328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37307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Reference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41248" y="3986784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and Boolean operators in detail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416552" y="3035808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321868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6" name="Image 4" descr="/home/claude/icons/task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328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37307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Tasks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617720" y="3986784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hands-on programming exercises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93024" y="3035808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94192" y="321868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1" name="Image 5" descr="/home/claude/icons/exchang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32841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37307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94192" y="3986784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examples, and a calculator task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40080" y="4517136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35" name="Shape 27"/>
          <p:cNvSpPr/>
          <p:nvPr/>
        </p:nvSpPr>
        <p:spPr>
          <a:xfrm>
            <a:off x="841248" y="4700016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6" name="Image 6" descr="/home/claude/icons/hom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80974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41248" y="5212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Tasks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841248" y="5468112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take-home programming problems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4416552" y="4517136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40" name="Shape 31"/>
          <p:cNvSpPr/>
          <p:nvPr/>
        </p:nvSpPr>
        <p:spPr>
          <a:xfrm>
            <a:off x="4617720" y="4700016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41" name="Image 7" descr="/home/claude/icons/medal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448" y="4809744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617720" y="5212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Distribution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617720" y="5468112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lab session is graded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Refresher: Data Types &amp;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building blocks you'll need before writing if-else and switch programs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icons/cu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176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 what kind of value a variable will hold.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265176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724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30540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063240" y="26517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3538728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D9E6F2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11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9410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063240" y="3538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pi = 3.14;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4425696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498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828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character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063240" y="4425696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 = 'A';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8680" y="5312664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D9E6F2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" y="53858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715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decimal numbers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063240" y="531266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gpa = 3.75;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7220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B3A5C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7" name="Image 1" descr="/home/claude/icons/edi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8660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7086600" y="2176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container that stores a value in memory.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400800" y="26517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syntax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00800" y="292608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0F2942"/>
          </a:solidFill>
          <a:ln/>
        </p:spPr>
      </p:sp>
      <p:sp>
        <p:nvSpPr>
          <p:cNvPr id="32" name="Text 28"/>
          <p:cNvSpPr/>
          <p:nvPr/>
        </p:nvSpPr>
        <p:spPr>
          <a:xfrm>
            <a:off x="6601968" y="3090672"/>
            <a:ext cx="44897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variableName = value;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85;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400800" y="3977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400800" y="4325112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5" name="Text 31"/>
          <p:cNvSpPr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digits, and underscore ( _ ) only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400800" y="4690872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7" name="Text 33"/>
          <p:cNvSpPr/>
          <p:nvPr/>
        </p:nvSpPr>
        <p:spPr>
          <a:xfrm>
            <a:off x="66294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digit (e.g. 2num is invalid)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400800" y="5056632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9" name="Text 35"/>
          <p:cNvSpPr/>
          <p:nvPr/>
        </p:nvSpPr>
        <p:spPr>
          <a:xfrm>
            <a:off x="662940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— Sum and sum are different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400800" y="5422392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1" name="Text 37"/>
          <p:cNvSpPr/>
          <p:nvPr/>
        </p:nvSpPr>
        <p:spPr>
          <a:xfrm>
            <a:off x="662940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reserved keyword (e.g. int, if)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Refresher: Operators &amp; Keywords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symbols and reserved words you'll see throughout this lab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icons/cal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176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that perform actions on values and variables.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9077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828800" y="29077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3328416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D9E6F2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3284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28800" y="3328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3749040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37490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82880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4169664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D9E6F2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41696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828800" y="4169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4590288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1051560" y="459028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828800" y="4590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(modulus)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" y="5120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8680" y="5431536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54315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828800" y="5431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value:  x = 5;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593445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(==, &gt;, &lt;) and Boolean (&amp;&amp;, ||, !) operators are covered in detail later in this deck.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7220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B3A5C"/>
          </a:solidFill>
          <a:ln/>
        </p:spPr>
      </p:sp>
      <p:sp>
        <p:nvSpPr>
          <p:cNvPr id="31" name="Shape 28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32" name="Image 1" descr="/home/claude/icons/hasht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08660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7086600" y="2176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words that already have a special meaning in C.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400800" y="26517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400800" y="2962656"/>
            <a:ext cx="571500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37" name="Text 33"/>
          <p:cNvSpPr/>
          <p:nvPr/>
        </p:nvSpPr>
        <p:spPr>
          <a:xfrm>
            <a:off x="6400800" y="2962656"/>
            <a:ext cx="571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7100316" y="2962656"/>
            <a:ext cx="781812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39" name="Text 35"/>
          <p:cNvSpPr/>
          <p:nvPr/>
        </p:nvSpPr>
        <p:spPr>
          <a:xfrm>
            <a:off x="7100316" y="2962656"/>
            <a:ext cx="7818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8010144" y="2962656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41" name="Text 37"/>
          <p:cNvSpPr/>
          <p:nvPr/>
        </p:nvSpPr>
        <p:spPr>
          <a:xfrm>
            <a:off x="8010144" y="29626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8814816" y="2962656"/>
            <a:ext cx="886968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43" name="Text 39"/>
          <p:cNvSpPr/>
          <p:nvPr/>
        </p:nvSpPr>
        <p:spPr>
          <a:xfrm>
            <a:off x="8814816" y="2962656"/>
            <a:ext cx="886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9829800" y="2962656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45" name="Text 41"/>
          <p:cNvSpPr/>
          <p:nvPr/>
        </p:nvSpPr>
        <p:spPr>
          <a:xfrm>
            <a:off x="9829800" y="29626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400800" y="346557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branching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6400800" y="3776472"/>
            <a:ext cx="466344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48" name="Text 44"/>
          <p:cNvSpPr/>
          <p:nvPr/>
        </p:nvSpPr>
        <p:spPr>
          <a:xfrm>
            <a:off x="6400800" y="3776472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6995160" y="3776472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50" name="Text 46"/>
          <p:cNvSpPr/>
          <p:nvPr/>
        </p:nvSpPr>
        <p:spPr>
          <a:xfrm>
            <a:off x="6995160" y="37764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7799832" y="3776472"/>
            <a:ext cx="886968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52" name="Text 48"/>
          <p:cNvSpPr/>
          <p:nvPr/>
        </p:nvSpPr>
        <p:spPr>
          <a:xfrm>
            <a:off x="7799832" y="3776472"/>
            <a:ext cx="886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814816" y="3776472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54" name="Text 50"/>
          <p:cNvSpPr/>
          <p:nvPr/>
        </p:nvSpPr>
        <p:spPr>
          <a:xfrm>
            <a:off x="8814816" y="37764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9619488" y="3776472"/>
            <a:ext cx="781812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56" name="Text 52"/>
          <p:cNvSpPr/>
          <p:nvPr/>
        </p:nvSpPr>
        <p:spPr>
          <a:xfrm>
            <a:off x="9619488" y="3776472"/>
            <a:ext cx="7818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6400800" y="4187952"/>
            <a:ext cx="992124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58" name="Text 54"/>
          <p:cNvSpPr/>
          <p:nvPr/>
        </p:nvSpPr>
        <p:spPr>
          <a:xfrm>
            <a:off x="6400800" y="4187952"/>
            <a:ext cx="9921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6400800" y="4690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common keywords</a:t>
            </a:r>
            <a:endParaRPr lang="en-US" sz="1150" dirty="0"/>
          </a:p>
        </p:txBody>
      </p:sp>
      <p:sp>
        <p:nvSpPr>
          <p:cNvPr id="60" name="Shape 56"/>
          <p:cNvSpPr/>
          <p:nvPr/>
        </p:nvSpPr>
        <p:spPr>
          <a:xfrm>
            <a:off x="6400800" y="5001768"/>
            <a:ext cx="886968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61" name="Text 57"/>
          <p:cNvSpPr/>
          <p:nvPr/>
        </p:nvSpPr>
        <p:spPr>
          <a:xfrm>
            <a:off x="6400800" y="5001768"/>
            <a:ext cx="886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7415784" y="5001768"/>
            <a:ext cx="571500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63" name="Text 59"/>
          <p:cNvSpPr/>
          <p:nvPr/>
        </p:nvSpPr>
        <p:spPr>
          <a:xfrm>
            <a:off x="7415784" y="5001768"/>
            <a:ext cx="571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8115300" y="5001768"/>
            <a:ext cx="781812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65" name="Text 61"/>
          <p:cNvSpPr/>
          <p:nvPr/>
        </p:nvSpPr>
        <p:spPr>
          <a:xfrm>
            <a:off x="8115300" y="5001768"/>
            <a:ext cx="7818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9025128" y="5001768"/>
            <a:ext cx="466344" cy="329184"/>
          </a:xfrm>
          <a:prstGeom prst="roundRect">
            <a:avLst>
              <a:gd name="adj" fmla="val 50000"/>
            </a:avLst>
          </a:prstGeom>
          <a:solidFill>
            <a:srgbClr val="132C46"/>
          </a:solidFill>
          <a:ln/>
        </p:spPr>
      </p:sp>
      <p:sp>
        <p:nvSpPr>
          <p:cNvPr id="67" name="Text 63"/>
          <p:cNvSpPr/>
          <p:nvPr/>
        </p:nvSpPr>
        <p:spPr>
          <a:xfrm>
            <a:off x="9025128" y="5001768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100" dirty="0"/>
          </a:p>
        </p:txBody>
      </p:sp>
      <p:sp>
        <p:nvSpPr>
          <p:cNvPr id="68" name="Text 6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&amp; Why: Choosing the Right Keyword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keyword fits a situation is as important as knowing its syntax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icons/cu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176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type that matches the kind of value you're storing.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265176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7249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30175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Whole-number quantities — counters, indexes, ages, scores. No decimal overhead.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" y="365760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73075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/ double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40233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that need a fractional part — prices, GPA, measurements. double gives more precision.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" y="466344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73659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50292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letter or symbol — a grade, a menu key, a yes/no answer.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7220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B3A5C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0" name="Image 1" descr="/home/claude/icons/exchan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vs. switch-case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086600" y="2194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 your program — the difference is what you're checking.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400800" y="260604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132C46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2660904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— use for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83680" y="293522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and comparisons: num&gt;=90, or combining conditions with &amp;&amp; / ||.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400800" y="3456432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132C46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3511296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— use for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83680" y="378561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checked against many exact values: a menu choice, a day number.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400800" y="4306824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132C46"/>
          </a:solidFill>
          <a:ln/>
        </p:spPr>
      </p:sp>
      <p:sp>
        <p:nvSpPr>
          <p:cNvPr id="30" name="Text 26"/>
          <p:cNvSpPr/>
          <p:nvPr/>
        </p:nvSpPr>
        <p:spPr>
          <a:xfrm>
            <a:off x="6583680" y="4361688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why it matters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583680" y="463600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execution once a case matches, so it doesn't fall through into the next one.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400800" y="5157216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132C46"/>
          </a:solidFill>
          <a:ln/>
        </p:spPr>
      </p:sp>
      <p:sp>
        <p:nvSpPr>
          <p:cNvPr id="33" name="Text 29"/>
          <p:cNvSpPr/>
          <p:nvPr/>
        </p:nvSpPr>
        <p:spPr>
          <a:xfrm>
            <a:off x="6583680" y="521208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why it matters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83680" y="5486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any value that didn't match a case, so unexpected input is still handled.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&amp; Why: Other Common Keywords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for, while, and do — where each one fits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5623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025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 function and sending a value back to whoever called it.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function produce a usable result, not just perform an action.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185623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/home/claude/icons/listO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0025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892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2514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exactly how many times to repeat something in advance.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629400" y="30175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start point, condition, and step together on one line — easy to scan.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409651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2" descr="/home/claude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24281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1330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14400" y="47548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depends on a condition, and you don't know the count ahead of time.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14400" y="5257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condition before every run, so it may execute zero times.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35508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</p:spPr>
      </p:sp>
      <p:sp>
        <p:nvSpPr>
          <p:cNvPr id="23" name="Shape 18"/>
          <p:cNvSpPr/>
          <p:nvPr/>
        </p:nvSpPr>
        <p:spPr>
          <a:xfrm>
            <a:off x="6629400" y="409651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4" name="Image 3" descr="/home/claude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424281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41330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... while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629400" y="47548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must run at least once no matter what — like a menu prompt.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629400" y="5257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condition after running, guaranteeing at least one execution.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If-Else: Basic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decision-making in 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if-else statement lets your program choose between two paths based on a condition.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542032"/>
            <a:ext cx="47183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(condition)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Statements;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Statements;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</p:spPr>
      </p:sp>
      <p:pic>
        <p:nvPicPr>
          <p:cNvPr id="8" name="Image 0" descr="/home/claude/icons/bulb_D98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1389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507492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is a Boolean expression built from relational operators, Boolean operators, or a combination of both.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2648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any non-zero value is treated as true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0F2942"/>
          </a:solidFill>
          <a:ln/>
        </p:spPr>
      </p:sp>
      <p:sp>
        <p:nvSpPr>
          <p:cNvPr id="12" name="Text 9"/>
          <p:cNvSpPr/>
          <p:nvPr/>
        </p:nvSpPr>
        <p:spPr>
          <a:xfrm>
            <a:off x="6327648" y="2130552"/>
            <a:ext cx="4992624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#include&lt;stdio.h&gt;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if(1)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printf("The statement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is true!!\n");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Combining Operators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with relational &amp; Boolean operators together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852160" cy="4663440"/>
          </a:xfrm>
          <a:prstGeom prst="roundRect">
            <a:avLst>
              <a:gd name="adj" fmla="val 1176"/>
            </a:avLst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73352"/>
            <a:ext cx="5449824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#include&lt;stdio.h&gt;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num;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a number:");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scanf("%d",&amp;num);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if(num&gt;=90)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printf("Grade is A!");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if(num&gt;=80 &amp;&amp; num&lt;90)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printf("Grade is B!");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if(num&gt;=70 &amp;&amp; num&lt;80)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printf("Grade is C!");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printf("Fail!");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96596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EAF1F8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2679192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26791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89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0" y="26791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3392424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EAF1F8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3924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79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339242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105656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1056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410565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4910328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1B3A5C"/>
          </a:solidFill>
          <a:ln/>
        </p:spPr>
      </p:sp>
      <p:pic>
        <p:nvPicPr>
          <p:cNvPr id="20" name="Image 0" descr="/home/claude/icons/bulb_D98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5074920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98080" y="503834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(AND) requires both conditions to be true — used here to bound each grade range.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 &amp; Operators Reference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 operator, plus relational and Boolean operators in 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the 'or' operator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852160" cy="4297680"/>
          </a:xfrm>
          <a:prstGeom prst="roundRect">
            <a:avLst>
              <a:gd name="adj" fmla="val 1277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39112"/>
            <a:ext cx="5449824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#include&lt;stdio.h&gt;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c;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a character:");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scanf("%c",&amp;c);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if(c=='a' || c=='A')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printf("You pressed A!!");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if(c=='b' || c=='B')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printf("You pressed B!!");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if(c=='c' || c=='C')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printf("You pressed C!!");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printf("You pressed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different key!\n");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87452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AF1F8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0" y="1874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2441448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4414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&lt;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24414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Less than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3008376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AF1F8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0083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 &lt;=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30083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Less or equal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7581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4123944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123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41239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4636008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636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6360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6560" y="5148072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5148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5148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5660136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56601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5660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3840480" cy="3840480"/>
          </a:xfrm>
          <a:prstGeom prst="ellipse">
            <a:avLst/>
          </a:prstGeom>
          <a:solidFill>
            <a:srgbClr val="D9E6F2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1737360" cy="1737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" name="Image 0" descr="/home/claude/icons/task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8803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if-else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68580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0" y="685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6400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an integer input is odd or even.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97680" y="205740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0116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given year is a leap year — divisible by 400, or divisible by 4 and not by 100.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297680" y="342900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33832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output whether a char input is a digit (48-57), uppercase letter (65-90), or lowercase letter (97-122), using ASCII values.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297680" y="480060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5"/>
          <p:cNvSpPr/>
          <p:nvPr/>
        </p:nvSpPr>
        <p:spPr>
          <a:xfrm>
            <a:off x="429768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47548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maximum of three input numbers.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Switch-Case: Basic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way to handle many discrete choices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19072"/>
            <a:ext cx="5084064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(expression)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value1: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 for value1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value2: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 for value2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more cases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if no case matches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178308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/home/claude/icons/exchan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190195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7556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0" y="21031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once and compared against each case value.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0" y="30632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32918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3" name="Image 1" descr="/home/claude/icons/listO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4107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3264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value: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315200" y="36118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matching block; break exits the switch.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5720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629400" y="480060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2" descr="/home/claude/icons/bul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491947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4773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315200" y="5120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no case matches — like a final else.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Switch-Case in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basic demo   •   Example 5: shared cases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 — switch-case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343400"/>
          </a:xfrm>
          <a:prstGeom prst="roundRect">
            <a:avLst>
              <a:gd name="adj" fmla="val 1263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3392"/>
            <a:ext cx="4992624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choice;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printf("Enter (1-3): 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scanf("%d", &amp;choice);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switch(choice)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printf("You entered 1\n");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printf("You entered 2\n");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printf("You entered 3\n");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printf("Invalid choice\n");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 — cases sharing one break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4343400"/>
          </a:xfrm>
          <a:prstGeom prst="roundRect">
            <a:avLst>
              <a:gd name="adj" fmla="val 1263"/>
            </a:avLst>
          </a:prstGeom>
          <a:solidFill>
            <a:srgbClr val="0F2942"/>
          </a:solidFill>
          <a:ln/>
        </p:spPr>
      </p:sp>
      <p:sp>
        <p:nvSpPr>
          <p:cNvPr id="9" name="Text 7"/>
          <p:cNvSpPr/>
          <p:nvPr/>
        </p:nvSpPr>
        <p:spPr>
          <a:xfrm>
            <a:off x="6510528" y="1993392"/>
            <a:ext cx="4992624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choice;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printf("Enter (1-3): 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scanf("%d", &amp;choice);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switch(choice)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printf("You entered either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1, 2, or 3\n");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printf("Invalid choice\n");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03120"/>
            <a:ext cx="5029200" cy="502920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5" name="Image 0" descr="/home/claude/icons/cal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8755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Switch-Case Task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10515600" cy="2377440"/>
          </a:xfrm>
          <a:prstGeom prst="roundRect">
            <a:avLst>
              <a:gd name="adj" fmla="val 3846"/>
            </a:avLst>
          </a:prstGeom>
          <a:solidFill>
            <a:srgbClr val="132C46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4688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calculator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297180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calculator program that takes two numbers and an arithmetic operation (+, −, ×, ÷) as input from the user, performs the calculation using a switch-case statement, and displays the result.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Tasks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take-home problems using switch-case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8562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Grade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83080" y="22585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numeric grade (1–100) and print the letter grade using switch-case. E.g., 85 → "Grade A".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52044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0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4107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Week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83080" y="381304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number (1 for Sunday, 2 for Monday, ...) and print the matching day name using switch-case.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07492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74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96519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a Month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83080" y="536752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month number (1 for January, ...) and print the number of days in it, accounting for leap years in February.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Structured Programming Language Lab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03120"/>
            <a:ext cx="5029200" cy="502920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777240"/>
            <a:ext cx="1371600" cy="137160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5" name="Image 0" descr="/home/claude/icons/meda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774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Distribution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280160" y="32461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32C46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28016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32461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32C4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&amp; Viva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32461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32C46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86384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0" y="51206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•  Dept. of CSE, UU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2026-07-13T05:20:24Z</dcterms:created>
  <dcterms:modified xsi:type="dcterms:W3CDTF">2026-07-13T05:20:24Z</dcterms:modified>
</cp:coreProperties>
</file>