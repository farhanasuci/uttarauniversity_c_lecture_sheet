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73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8394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382E9-3A93-D84B-87AC-D087661B2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550E26-B20B-725B-F558-58E33FF004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253AD9-44F8-E4C2-C9AA-71BD7103EC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EBEA1-17BE-76E5-AB68-453AC68091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81790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21.png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20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8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4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2011680"/>
            <a:ext cx="5943600" cy="5943600"/>
          </a:xfrm>
          <a:prstGeom prst="ellipse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9692640" y="-82296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0" descr="out_icons/code_te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0" y="2331720"/>
            <a:ext cx="1371600" cy="1371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9659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 •  STRUCTURED PROGRAMMING LANGUAGE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85800" y="233172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Lecture 2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31520" y="342900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 of Computers &amp; the C Programming Language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731520" y="4160520"/>
            <a:ext cx="2011680" cy="0"/>
          </a:xfrm>
          <a:prstGeom prst="line">
            <a:avLst/>
          </a:prstGeom>
          <a:noFill/>
          <a:ln w="25400">
            <a:solidFill>
              <a:srgbClr val="0D94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731520" y="44805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out_icons/userti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1870" y="4540910"/>
            <a:ext cx="382219" cy="3822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417320" y="44805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Lecturer, Dept. of CSE, University of Uttara</a:t>
            </a:r>
            <a:endParaRPr lang="en-US" sz="130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AEE5C1F-2552-C699-1164-CDCF257F962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7567" y="529206"/>
            <a:ext cx="3539473" cy="168478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We'll Cover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out_icons/deskto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7" y="212323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7432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&amp; Hardware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154680"/>
            <a:ext cx="2874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 computer is, and its core hardware components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3024" y="178308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57344" y="20574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out_icons/layergrou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181" y="212323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7344" y="27432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Organization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57344" y="3154680"/>
            <a:ext cx="2874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output, memory, CPU, ALU &amp; secondary storage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25968" y="178308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00288" y="20574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out_icons/projectdiagram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125" y="212323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0288" y="27432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 Neumann Architecture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00288" y="3154680"/>
            <a:ext cx="2874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classic computer architecture fits together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14400" y="43434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out_icons/exchang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237" y="4409237"/>
            <a:ext cx="416966" cy="41696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14400" y="50292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Execution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914400" y="5440680"/>
            <a:ext cx="2874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fetch-decode-execute cycle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3024" y="406908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57344" y="43434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out_icons/languag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3181" y="4409237"/>
            <a:ext cx="416966" cy="41696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57344" y="50292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657344" y="5440680"/>
            <a:ext cx="2874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Machine, assembly &amp; high-level languages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25968" y="406908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00288" y="434340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out_icons/code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6125" y="4409237"/>
            <a:ext cx="416966" cy="41696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8400288" y="5029200"/>
            <a:ext cx="2874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Language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8400288" y="5440680"/>
            <a:ext cx="2874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History, first program, compiling &amp; running, IDEs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Computer?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120640" cy="4251960"/>
          </a:xfrm>
          <a:prstGeom prst="roundRect">
            <a:avLst>
              <a:gd name="adj" fmla="val 1935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960120" y="20574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60120" y="2468880"/>
            <a:ext cx="4480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computer is a device capable of performing computations and making logical decisions 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speeds millions (or billions) of times faster than human beings can.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960120" y="3840480"/>
            <a:ext cx="448056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60120" y="4023360"/>
            <a:ext cx="4480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 process data under the control of sets of instructions called computer programs.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035040" y="178308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6309360" y="205740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0" descr="out_icons/microchi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710" y="2117750"/>
            <a:ext cx="382219" cy="382219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95160" y="20299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309360" y="251460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various physical devices comprising a computer.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Keyboard, screen, mouse, disks, memory, CD-ROM, and processing units.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035040" y="402336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309360" y="42976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1" descr="out_icons/cod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9710" y="4358030"/>
            <a:ext cx="382219" cy="382219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995160" y="427024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6309360" y="4754880"/>
            <a:ext cx="49377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that run on a computer, directing it to perform tasks and manage its hardware.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ORGANIZATION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 &amp; Output Units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25796" cy="4206240"/>
          </a:xfrm>
          <a:prstGeom prst="roundRect">
            <a:avLst>
              <a:gd name="adj" fmla="val 1957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out_icons/signi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57" y="22146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83464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Unit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291840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computer's “receiving” section.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3749040"/>
            <a:ext cx="45857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Obtains information (data &amp; programs) from input devices, and makes it available for processing.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devices: keyboard, mouse, microphone, scanner, networks, …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23076" y="1828800"/>
            <a:ext cx="5225796" cy="4206240"/>
          </a:xfrm>
          <a:prstGeom prst="roundRect">
            <a:avLst>
              <a:gd name="adj" fmla="val 1957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6643116" y="2148840"/>
            <a:ext cx="548640" cy="54864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out_icons/signou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953" y="2214677"/>
            <a:ext cx="416966" cy="41696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643116" y="2834640"/>
            <a:ext cx="45857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Unit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643116" y="3291840"/>
            <a:ext cx="45857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28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computer's “announcing” section.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6643116" y="3749040"/>
            <a:ext cx="4585716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information the computer has processed and places it on output devices.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 devices: screen, printer, networks, …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information can also be used to control other devices.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ORGANIZATION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Memory Unit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29200" cy="4160520"/>
          </a:xfrm>
          <a:prstGeom prst="roundRect">
            <a:avLst>
              <a:gd name="adj" fmla="val 197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594360" cy="59436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out_icons/memory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1443" y="226588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718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Memory Unit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60120" y="3429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called primary memory, or simply “memory.”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60120" y="3931920"/>
            <a:ext cx="44805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access, relatively low capacity storage.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information obtained from the input unit, immediately available for processing when needed.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Retains processed information until it can be placed on output devices.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035040" y="187452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6400800" y="210312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Fast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6400800" y="288036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speed — memory sits closest to the CPU so data moves with minimal delay.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035040" y="4114800"/>
            <a:ext cx="5486400" cy="1920240"/>
          </a:xfrm>
          <a:prstGeom prst="roundRect">
            <a:avLst>
              <a:gd name="adj" fmla="val 4286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400800" y="4343400"/>
            <a:ext cx="4754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Limited</a:t>
            </a:r>
            <a:endParaRPr lang="en-US" sz="4000" dirty="0"/>
          </a:p>
        </p:txBody>
      </p:sp>
      <p:sp>
        <p:nvSpPr>
          <p:cNvPr id="15" name="Text 12"/>
          <p:cNvSpPr/>
          <p:nvPr/>
        </p:nvSpPr>
        <p:spPr>
          <a:xfrm>
            <a:off x="6400800" y="51206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— memory is comparatively small, so it only holds what's actively needed.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ORGANIZATION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CPU, ALU &amp; Secondary Storage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422904" cy="2834640"/>
          </a:xfrm>
          <a:prstGeom prst="roundRect">
            <a:avLst>
              <a:gd name="adj" fmla="val 2903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1031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out_icons/microchi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0237" y="216895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697480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Processing Unit (CPU)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914400" y="3520440"/>
            <a:ext cx="2874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Supervises and coordinates the other sections of the computer — the “administrative” section.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383024" y="1828800"/>
            <a:ext cx="3422904" cy="2834640"/>
          </a:xfrm>
          <a:prstGeom prst="roundRect">
            <a:avLst>
              <a:gd name="adj" fmla="val 2903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57344" y="2103120"/>
            <a:ext cx="548640" cy="54864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out_icons/cog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23181" y="2168957"/>
            <a:ext cx="416966" cy="41696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57344" y="2697480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&amp; Logic Unit (ALU)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657344" y="3520440"/>
            <a:ext cx="2874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“manufacturing” section; performs arithmetic calculations and logic decisions.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125968" y="1828800"/>
            <a:ext cx="3422904" cy="2834640"/>
          </a:xfrm>
          <a:prstGeom prst="roundRect">
            <a:avLst>
              <a:gd name="adj" fmla="val 2903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00288" y="210312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out_icons/hdd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6125" y="2168957"/>
            <a:ext cx="416966" cy="41696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0288" y="2697480"/>
            <a:ext cx="28742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Storage Unit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8400288" y="3520440"/>
            <a:ext cx="287426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Long-term, high-capacity storage for inactive programs or data — e.g. disks.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892040"/>
            <a:ext cx="10908792" cy="1143000"/>
          </a:xfrm>
          <a:prstGeom prst="roundRect">
            <a:avLst>
              <a:gd name="adj" fmla="val 7200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960120" y="5120640"/>
            <a:ext cx="10268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to primary memory: </a:t>
            </a: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storage takes longer to access, but costs less per unit of storage — a trade-off of speed for capacity and price.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514735" y="594359"/>
            <a:ext cx="3217017" cy="11155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von Neumann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926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Device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Keyboard, mouse, …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9784080" y="292608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9784080" y="30906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Device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784080" y="342900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Screen, printer, …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754880" y="2423160"/>
            <a:ext cx="2743200" cy="2011680"/>
          </a:xfrm>
          <a:prstGeom prst="roundRect">
            <a:avLst>
              <a:gd name="adj" fmla="val 4091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754880" y="25420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937760" y="2926080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937760" y="29260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126480" y="2926080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126480" y="292608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754880" y="3794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 Logic Unit • Control Unit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51960" y="77724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251960" y="7772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Memory (RAM)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251960" y="5212080"/>
            <a:ext cx="365760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270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251960" y="537667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Storage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251960" y="57150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Disks, SSDs …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377440" y="3429000"/>
            <a:ext cx="237744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498080" y="3429000"/>
            <a:ext cx="2286000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126480" y="1691640"/>
            <a:ext cx="0" cy="73152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126480" y="4434840"/>
            <a:ext cx="0" cy="77724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40080" y="626364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instructions flow between memory, the CPU, and I/O devices — all coordinated by the Control Unit.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EXECUTION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a Computer Executes a Program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programs: a computer game, a word processor, etc.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976933" cy="3291840"/>
          </a:xfrm>
          <a:prstGeom prst="roundRect">
            <a:avLst>
              <a:gd name="adj" fmla="val 4163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335938" y="2697480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335938" y="2697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77240" y="3474720"/>
            <a:ext cx="17026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04672" y="3931920"/>
            <a:ext cx="16477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comprising the program are copied from permanent secondary memory into main memory.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98725" y="3794760"/>
            <a:ext cx="301752" cy="274320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873045" y="2377440"/>
            <a:ext cx="1976933" cy="3291840"/>
          </a:xfrm>
          <a:prstGeom prst="roundRect">
            <a:avLst>
              <a:gd name="adj" fmla="val 4163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68903" y="2697480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68903" y="2697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10205" y="3474720"/>
            <a:ext cx="17026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037637" y="3931920"/>
            <a:ext cx="16477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loaded, the CPU begins executing the program instructions.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31690" y="3794760"/>
            <a:ext cx="301752" cy="274320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5106010" y="2377440"/>
            <a:ext cx="1976933" cy="3291840"/>
          </a:xfrm>
          <a:prstGeom prst="roundRect">
            <a:avLst>
              <a:gd name="adj" fmla="val 4163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801868" y="2697480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801868" y="2697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243170" y="3474720"/>
            <a:ext cx="17026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270602" y="3931920"/>
            <a:ext cx="16477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instruction: it is retrieved (fetched) from memory.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064654" y="3794760"/>
            <a:ext cx="301752" cy="274320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338974" y="2377440"/>
            <a:ext cx="1976933" cy="3291840"/>
          </a:xfrm>
          <a:prstGeom prst="roundRect">
            <a:avLst>
              <a:gd name="adj" fmla="val 4163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8034833" y="2697480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8034833" y="2697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476134" y="3474720"/>
            <a:ext cx="17026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Decode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503566" y="3931920"/>
            <a:ext cx="16477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instruction is decoded to figure out what it represents.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9297619" y="3794760"/>
            <a:ext cx="301752" cy="274320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9571939" y="2377440"/>
            <a:ext cx="1976933" cy="3291840"/>
          </a:xfrm>
          <a:prstGeom prst="roundRect">
            <a:avLst>
              <a:gd name="adj" fmla="val 4163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10267798" y="2697480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267798" y="2697480"/>
            <a:ext cx="58521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9709099" y="3474720"/>
            <a:ext cx="170261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36531" y="3931920"/>
            <a:ext cx="1647749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appropriate action is carried out — the fetch-decode-execute cycle.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5989320"/>
            <a:ext cx="10908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the next instruction is fetched, decoded, and executed — the cycle repeats until the program ends.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Machine, Assembly &amp; High-Level Languages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types of computer languages, each closer to natural human language than the last.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422904" cy="4160520"/>
          </a:xfrm>
          <a:prstGeom prst="roundRect">
            <a:avLst>
              <a:gd name="adj" fmla="val 2404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out_icons/microchi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2574950"/>
            <a:ext cx="382219" cy="38221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154680"/>
            <a:ext cx="2874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Language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703320"/>
            <a:ext cx="28742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language the computer directly understands — its “natural language.”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consists of strings of 0s and 1s.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Instructs computers to perform elementary operations one at a time.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Cumbersome and error-prone for humans to write.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83024" y="2240280"/>
            <a:ext cx="3422904" cy="4160520"/>
          </a:xfrm>
          <a:prstGeom prst="roundRect">
            <a:avLst>
              <a:gd name="adj" fmla="val 2404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657344" y="251460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1" descr="out_icons/exchang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694" y="257495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57344" y="3154680"/>
            <a:ext cx="2874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Language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57344" y="3703320"/>
            <a:ext cx="28742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English-like abbreviations representing elementary computer operations.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clearer to humans than machine language.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Incomprehensible to computers directly.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 programs called assemblers convert it to machine language.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125968" y="2240280"/>
            <a:ext cx="3422904" cy="4160520"/>
          </a:xfrm>
          <a:prstGeom prst="roundRect">
            <a:avLst>
              <a:gd name="adj" fmla="val 2404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2"/>
          <p:cNvSpPr/>
          <p:nvPr/>
        </p:nvSpPr>
        <p:spPr>
          <a:xfrm>
            <a:off x="8400288" y="25146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2" descr="out_icons/cod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638" y="2574950"/>
            <a:ext cx="382219" cy="38221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400288" y="3154680"/>
            <a:ext cx="2874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High-Level Language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400288" y="3703320"/>
            <a:ext cx="2874264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 everyday English; uses common mathematical notation.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statements accomplish substantial tasks.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 language needs many instructions for the same simple task.</a:t>
            </a:r>
            <a:endParaRPr lang="en-US" sz="115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Translator programs called compilers convert it to machine language.</a:t>
            </a:r>
            <a:endParaRPr lang="en-US" sz="1150" dirty="0"/>
          </a:p>
        </p:txBody>
      </p:sp>
      <p:sp>
        <p:nvSpPr>
          <p:cNvPr id="20" name="Text 1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21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LANGUAGE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Brief History of 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846320" cy="4114800"/>
          </a:xfrm>
          <a:prstGeom prst="roundRect">
            <a:avLst>
              <a:gd name="adj" fmla="val 2000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24028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out_icons/history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57" y="230611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9260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42900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between 1969 and 1973.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by Dennis Ritchie at Bell Labs.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general-purpose programming language.</a:t>
            </a:r>
            <a:endParaRPr lang="en-US" sz="14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programming language — the focus of this course.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806440" y="1920240"/>
            <a:ext cx="272034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5806440" y="2240280"/>
            <a:ext cx="27203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1969–73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5806440" y="2926080"/>
            <a:ext cx="27203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development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8846820" y="1920240"/>
            <a:ext cx="272034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846820" y="2240280"/>
            <a:ext cx="27203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284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Bell Labs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8846820" y="2926080"/>
            <a:ext cx="27203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Birthplace of C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5806440" y="4069080"/>
            <a:ext cx="576072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6080760" y="43434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1" descr="out_icons/rocke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1110" y="4403750"/>
            <a:ext cx="382219" cy="382219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720840" y="431596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 still matters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080760" y="48006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C's structured approach and close-to-hardware efficiency made it the foundation for countless later languages, operating systems, and embedded systems.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1B5C04-B1F9-6257-63E4-1A0D9C17A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14641A2-EBB4-EA9D-59B6-174CDE306F9A}"/>
              </a:ext>
            </a:extLst>
          </p:cNvPr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LANGUAGE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C795BB2-BCC8-8D53-584F-C81283ECE401}"/>
              </a:ext>
            </a:extLst>
          </p:cNvPr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First C Program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EF4EAB5-040D-BC93-3745-10DD79F3DFC6}"/>
              </a:ext>
            </a:extLst>
          </p:cNvPr>
          <p:cNvSpPr/>
          <p:nvPr/>
        </p:nvSpPr>
        <p:spPr>
          <a:xfrm>
            <a:off x="640080" y="1783080"/>
            <a:ext cx="6035040" cy="4297680"/>
          </a:xfrm>
          <a:prstGeom prst="roundRect">
            <a:avLst>
              <a:gd name="adj" fmla="val 170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27D9AE0A-B33E-D31D-FE7B-17743915641F}"/>
              </a:ext>
            </a:extLst>
          </p:cNvPr>
          <p:cNvSpPr/>
          <p:nvPr/>
        </p:nvSpPr>
        <p:spPr>
          <a:xfrm>
            <a:off x="868680" y="1984248"/>
            <a:ext cx="146304" cy="146304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A15E277-D5E2-3F4D-C4FA-17EDFCF7EA1E}"/>
              </a:ext>
            </a:extLst>
          </p:cNvPr>
          <p:cNvSpPr/>
          <p:nvPr/>
        </p:nvSpPr>
        <p:spPr>
          <a:xfrm>
            <a:off x="1097280" y="1984248"/>
            <a:ext cx="146304" cy="146304"/>
          </a:xfrm>
          <a:prstGeom prst="ellipse">
            <a:avLst/>
          </a:prstGeom>
          <a:solidFill>
            <a:srgbClr val="D9770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448CDF61-4126-E580-4BE9-C64D082D6C57}"/>
              </a:ext>
            </a:extLst>
          </p:cNvPr>
          <p:cNvSpPr/>
          <p:nvPr/>
        </p:nvSpPr>
        <p:spPr>
          <a:xfrm>
            <a:off x="1325880" y="1984248"/>
            <a:ext cx="146304" cy="146304"/>
          </a:xfrm>
          <a:prstGeom prst="ellipse">
            <a:avLst/>
          </a:prstGeom>
          <a:solidFill>
            <a:srgbClr val="05966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00BDD4E-5AF4-0C4E-5C53-6BF62CBEDC3D}"/>
              </a:ext>
            </a:extLst>
          </p:cNvPr>
          <p:cNvSpPr/>
          <p:nvPr/>
        </p:nvSpPr>
        <p:spPr>
          <a:xfrm>
            <a:off x="1600200" y="189280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first.c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83187E82-82F7-7515-8F65-0A9661C9AD47}"/>
              </a:ext>
            </a:extLst>
          </p:cNvPr>
          <p:cNvSpPr/>
          <p:nvPr/>
        </p:nvSpPr>
        <p:spPr>
          <a:xfrm>
            <a:off x="960120" y="2468880"/>
            <a:ext cx="53949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/* My first simple C program */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284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#include &lt;stdio.h&gt;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void main ()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printf (“Welcome to C!\n”);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DE75AE2F-8249-76EB-6E65-205690A4D8BA}"/>
              </a:ext>
            </a:extLst>
          </p:cNvPr>
          <p:cNvSpPr/>
          <p:nvPr/>
        </p:nvSpPr>
        <p:spPr>
          <a:xfrm>
            <a:off x="960120" y="4389120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Header: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access to standard input/output functions like printf.</a:t>
            </a: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827A0E9-75DB-67CA-8DE8-2D55485E50F6}"/>
              </a:ext>
            </a:extLst>
          </p:cNvPr>
          <p:cNvSpPr/>
          <p:nvPr/>
        </p:nvSpPr>
        <p:spPr>
          <a:xfrm>
            <a:off x="960120" y="4773168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Function: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printf() is the function used to print text to the screen.</a:t>
            </a:r>
            <a:endParaRPr lang="en-US" sz="11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5BDA34D0-79B5-3899-9B01-C1C9CA5A024A}"/>
              </a:ext>
            </a:extLst>
          </p:cNvPr>
          <p:cNvSpPr/>
          <p:nvPr/>
        </p:nvSpPr>
        <p:spPr>
          <a:xfrm>
            <a:off x="960120" y="5157216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Braces { }: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Indicate the start and end of the main function body.</a:t>
            </a:r>
            <a:endParaRPr lang="en-US" sz="1100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C1663185-A6B9-C6E4-83BD-6C94112F032D}"/>
              </a:ext>
            </a:extLst>
          </p:cNvPr>
          <p:cNvSpPr/>
          <p:nvPr/>
        </p:nvSpPr>
        <p:spPr>
          <a:xfrm>
            <a:off x="960120" y="5541264"/>
            <a:ext cx="5394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Statement end:  </a:t>
            </a: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 statement ends with a semicolon ‘;’.</a:t>
            </a:r>
            <a:endParaRPr lang="en-US" sz="11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9F1D548-6AEF-1B68-4107-DB0455F32816}"/>
              </a:ext>
            </a:extLst>
          </p:cNvPr>
          <p:cNvSpPr/>
          <p:nvPr/>
        </p:nvSpPr>
        <p:spPr>
          <a:xfrm>
            <a:off x="6949440" y="1783080"/>
            <a:ext cx="461772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>
            <a:extLst>
              <a:ext uri="{FF2B5EF4-FFF2-40B4-BE49-F238E27FC236}">
                <a16:creationId xmlns:a16="http://schemas.microsoft.com/office/drawing/2014/main" id="{038DFBF0-257F-0C49-7DCC-34DE6D1B8D74}"/>
              </a:ext>
            </a:extLst>
          </p:cNvPr>
          <p:cNvSpPr/>
          <p:nvPr/>
        </p:nvSpPr>
        <p:spPr>
          <a:xfrm>
            <a:off x="7223760" y="20574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0" descr="out_icons/filecode_navy.png">
            <a:extLst>
              <a:ext uri="{FF2B5EF4-FFF2-40B4-BE49-F238E27FC236}">
                <a16:creationId xmlns:a16="http://schemas.microsoft.com/office/drawing/2014/main" id="{F14CF395-E05E-316A-BDDA-BC7D88D448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4110" y="2117750"/>
            <a:ext cx="382219" cy="382219"/>
          </a:xfrm>
          <a:prstGeom prst="rect">
            <a:avLst/>
          </a:prstGeom>
        </p:spPr>
      </p:pic>
      <p:sp>
        <p:nvSpPr>
          <p:cNvPr id="17" name="Text 14">
            <a:extLst>
              <a:ext uri="{FF2B5EF4-FFF2-40B4-BE49-F238E27FC236}">
                <a16:creationId xmlns:a16="http://schemas.microsoft.com/office/drawing/2014/main" id="{BA445717-A50D-A6CE-9C1F-A6D992C44B87}"/>
              </a:ext>
            </a:extLst>
          </p:cNvPr>
          <p:cNvSpPr/>
          <p:nvPr/>
        </p:nvSpPr>
        <p:spPr>
          <a:xfrm>
            <a:off x="7863840" y="202996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 Program</a:t>
            </a:r>
            <a:endParaRPr lang="en-US" sz="14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CF932460-8C73-7E29-A1E6-58D441AD5B4C}"/>
              </a:ext>
            </a:extLst>
          </p:cNvPr>
          <p:cNvSpPr/>
          <p:nvPr/>
        </p:nvSpPr>
        <p:spPr>
          <a:xfrm>
            <a:off x="7223760" y="2542032"/>
            <a:ext cx="4069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 programs have a main function — and every program starts executing there.</a:t>
            </a:r>
            <a:endParaRPr lang="en-US" sz="1200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68DCF867-C4E4-DAC3-E465-E26B93171C13}"/>
              </a:ext>
            </a:extLst>
          </p:cNvPr>
          <p:cNvSpPr/>
          <p:nvPr/>
        </p:nvSpPr>
        <p:spPr>
          <a:xfrm>
            <a:off x="6949440" y="3931920"/>
            <a:ext cx="4617720" cy="2148840"/>
          </a:xfrm>
          <a:prstGeom prst="roundRect">
            <a:avLst>
              <a:gd name="adj" fmla="val 3830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D8A1A6D0-C5A5-9113-635D-6CB4C39184F2}"/>
              </a:ext>
            </a:extLst>
          </p:cNvPr>
          <p:cNvSpPr/>
          <p:nvPr/>
        </p:nvSpPr>
        <p:spPr>
          <a:xfrm>
            <a:off x="7223760" y="420624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1" descr="out_icons/terminal_navy.png">
            <a:extLst>
              <a:ext uri="{FF2B5EF4-FFF2-40B4-BE49-F238E27FC236}">
                <a16:creationId xmlns:a16="http://schemas.microsoft.com/office/drawing/2014/main" id="{FB61DD3B-C9D3-1103-EE32-9C1BC5DDD0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4110" y="4266590"/>
            <a:ext cx="382219" cy="382219"/>
          </a:xfrm>
          <a:prstGeom prst="rect">
            <a:avLst/>
          </a:prstGeom>
        </p:spPr>
      </p:pic>
      <p:sp>
        <p:nvSpPr>
          <p:cNvPr id="22" name="Text 18">
            <a:extLst>
              <a:ext uri="{FF2B5EF4-FFF2-40B4-BE49-F238E27FC236}">
                <a16:creationId xmlns:a16="http://schemas.microsoft.com/office/drawing/2014/main" id="{A874478A-8FA7-4670-96D3-20D167DD05C5}"/>
              </a:ext>
            </a:extLst>
          </p:cNvPr>
          <p:cNvSpPr/>
          <p:nvPr/>
        </p:nvSpPr>
        <p:spPr>
          <a:xfrm>
            <a:off x="7863840" y="4178808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8743423D-3491-8A33-B104-419414B79A84}"/>
              </a:ext>
            </a:extLst>
          </p:cNvPr>
          <p:cNvSpPr/>
          <p:nvPr/>
        </p:nvSpPr>
        <p:spPr>
          <a:xfrm>
            <a:off x="7223760" y="4709160"/>
            <a:ext cx="4069080" cy="868680"/>
          </a:xfrm>
          <a:prstGeom prst="roundRect">
            <a:avLst>
              <a:gd name="adj" fmla="val 6316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A01FA753-34BD-78E1-5725-6EF35ADFD28A}"/>
              </a:ext>
            </a:extLst>
          </p:cNvPr>
          <p:cNvSpPr/>
          <p:nvPr/>
        </p:nvSpPr>
        <p:spPr>
          <a:xfrm>
            <a:off x="7406640" y="4709160"/>
            <a:ext cx="3703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D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Welcome to C!</a:t>
            </a:r>
            <a:endParaRPr lang="en-US" sz="1400" dirty="0"/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43320896-37E0-CAF9-0EFF-A617063B7589}"/>
              </a:ext>
            </a:extLst>
          </p:cNvPr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04ECEBC2-19B3-35B7-CDEA-A8DD490CCA80}"/>
              </a:ext>
            </a:extLst>
          </p:cNvPr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907741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LANGUAGE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Run a C Program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521458" cy="3566160"/>
          </a:xfrm>
          <a:prstGeom prst="roundRect">
            <a:avLst>
              <a:gd name="adj" fmla="val 3264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2304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80769" y="28803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out_icons/sav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7579" y="2957170"/>
            <a:ext cx="486461" cy="4864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94760"/>
            <a:ext cx="2155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68680" y="4251960"/>
            <a:ext cx="20642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source code with a “.c” extension — for example, first.c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143250" y="3794760"/>
            <a:ext cx="320040" cy="274320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435858" y="2103120"/>
            <a:ext cx="2521458" cy="3566160"/>
          </a:xfrm>
          <a:prstGeom prst="roundRect">
            <a:avLst>
              <a:gd name="adj" fmla="val 3264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3664458" y="2304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4376547" y="28803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out_icons/cog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3357" y="2957170"/>
            <a:ext cx="486461" cy="4864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8738" y="3794760"/>
            <a:ext cx="2155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&amp; Link</a:t>
            </a:r>
            <a:endParaRPr lang="en-US" sz="1450" dirty="0"/>
          </a:p>
        </p:txBody>
      </p:sp>
      <p:sp>
        <p:nvSpPr>
          <p:cNvPr id="16" name="Text 12"/>
          <p:cNvSpPr/>
          <p:nvPr/>
        </p:nvSpPr>
        <p:spPr>
          <a:xfrm>
            <a:off x="3664458" y="4251960"/>
            <a:ext cx="20642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and link the program to produce an executable, e.g. first.exe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939028" y="3794760"/>
            <a:ext cx="320040" cy="274320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6231636" y="2103120"/>
            <a:ext cx="2521458" cy="3566160"/>
          </a:xfrm>
          <a:prstGeom prst="roundRect">
            <a:avLst>
              <a:gd name="adj" fmla="val 3264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6460236" y="2304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7172325" y="28803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out_icons/playcircl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9135" y="2957170"/>
            <a:ext cx="486461" cy="486461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414516" y="3794760"/>
            <a:ext cx="2155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</a:t>
            </a:r>
            <a:endParaRPr lang="en-US" sz="1450" dirty="0"/>
          </a:p>
        </p:txBody>
      </p:sp>
      <p:sp>
        <p:nvSpPr>
          <p:cNvPr id="23" name="Text 18"/>
          <p:cNvSpPr/>
          <p:nvPr/>
        </p:nvSpPr>
        <p:spPr>
          <a:xfrm>
            <a:off x="6460236" y="4251960"/>
            <a:ext cx="20642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the compiled program</a:t>
            </a:r>
            <a:endParaRPr lang="en-US" sz="1150" dirty="0"/>
          </a:p>
        </p:txBody>
      </p:sp>
      <p:sp>
        <p:nvSpPr>
          <p:cNvPr id="24" name="Shape 19"/>
          <p:cNvSpPr/>
          <p:nvPr/>
        </p:nvSpPr>
        <p:spPr>
          <a:xfrm>
            <a:off x="8734806" y="3794760"/>
            <a:ext cx="320040" cy="274320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9027414" y="2103120"/>
            <a:ext cx="2521458" cy="3566160"/>
          </a:xfrm>
          <a:prstGeom prst="roundRect">
            <a:avLst>
              <a:gd name="adj" fmla="val 3264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9256014" y="2304288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7" name="Shape 22"/>
          <p:cNvSpPr/>
          <p:nvPr/>
        </p:nvSpPr>
        <p:spPr>
          <a:xfrm>
            <a:off x="9968103" y="288036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out_icons/terminal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44913" y="2957170"/>
            <a:ext cx="486461" cy="486461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9210294" y="3794760"/>
            <a:ext cx="215569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Output</a:t>
            </a:r>
            <a:endParaRPr lang="en-US" sz="1450" dirty="0"/>
          </a:p>
        </p:txBody>
      </p:sp>
      <p:sp>
        <p:nvSpPr>
          <p:cNvPr id="30" name="Text 24"/>
          <p:cNvSpPr/>
          <p:nvPr/>
        </p:nvSpPr>
        <p:spPr>
          <a:xfrm>
            <a:off x="9256014" y="4251960"/>
            <a:ext cx="2064258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program prints: Welcome to C!</a:t>
            </a:r>
            <a:endParaRPr lang="en-US" sz="1150" dirty="0"/>
          </a:p>
        </p:txBody>
      </p:sp>
      <p:sp>
        <p:nvSpPr>
          <p:cNvPr id="31" name="Text 25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32" name="Text 2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LANGUAGE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 Programming Environment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325880" y="30632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out_icons/filecod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1717" y="31290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730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Editor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(test.c)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3246120" y="283464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3931920" y="30632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out_icons/cog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757" y="3129077"/>
            <a:ext cx="416966" cy="41696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246120" y="3730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 /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 / Link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852160" y="283464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9"/>
          <p:cNvSpPr/>
          <p:nvPr/>
        </p:nvSpPr>
        <p:spPr>
          <a:xfrm>
            <a:off x="6537960" y="30632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out_icons/sav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3797" y="3129077"/>
            <a:ext cx="416966" cy="41696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852160" y="3730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test.exe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458200" y="2834640"/>
            <a:ext cx="1920240" cy="1554480"/>
          </a:xfrm>
          <a:prstGeom prst="roundRect">
            <a:avLst>
              <a:gd name="adj" fmla="val 5294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9144000" y="30632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3" descr="out_icons/microchip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09837" y="3129077"/>
            <a:ext cx="416966" cy="41696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458200" y="37307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/ Run</a:t>
            </a:r>
            <a:endParaRPr lang="en-US" sz="13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(CPU)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2560320" y="3520440"/>
            <a:ext cx="685800" cy="274320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5166360" y="3520440"/>
            <a:ext cx="685800" cy="274320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7772400" y="3520440"/>
            <a:ext cx="685800" cy="274320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17"/>
          <p:cNvSpPr/>
          <p:nvPr/>
        </p:nvSpPr>
        <p:spPr>
          <a:xfrm>
            <a:off x="640080" y="480060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→ Preprocess/Compile/Link → Load → Run: a C source file passes through each stage before it executes on the CPU.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LANGUAGE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Phases of C Program Development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604772" cy="356616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04672" y="2267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9858" y="2788920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out_icons/filecod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084" y="2859146"/>
            <a:ext cx="444764" cy="44476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611880"/>
            <a:ext cx="1330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777240" y="4023360"/>
            <a:ext cx="13304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/ modify the source code in an editor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2226564" y="3520440"/>
            <a:ext cx="301752" cy="256032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2500884" y="2103120"/>
            <a:ext cx="1604772" cy="356616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2665476" y="2267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010662" y="2788920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out_icons/exchang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80888" y="2859146"/>
            <a:ext cx="444764" cy="44476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38044" y="3611880"/>
            <a:ext cx="1330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638044" y="4023360"/>
            <a:ext cx="13304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macros &amp; handle directives like #include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4087368" y="3520440"/>
            <a:ext cx="301752" cy="256032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4"/>
          <p:cNvSpPr/>
          <p:nvPr/>
        </p:nvSpPr>
        <p:spPr>
          <a:xfrm>
            <a:off x="4361688" y="2103120"/>
            <a:ext cx="1604772" cy="356616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5"/>
          <p:cNvSpPr/>
          <p:nvPr/>
        </p:nvSpPr>
        <p:spPr>
          <a:xfrm>
            <a:off x="4526280" y="2267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Shape 16"/>
          <p:cNvSpPr/>
          <p:nvPr/>
        </p:nvSpPr>
        <p:spPr>
          <a:xfrm>
            <a:off x="4871466" y="2788920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2" descr="out_icons/cog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1692" y="2859146"/>
            <a:ext cx="444764" cy="444764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498848" y="3611880"/>
            <a:ext cx="1330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Compile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4498848" y="4023360"/>
            <a:ext cx="13304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Translate source code into object code</a:t>
            </a:r>
            <a:endParaRPr lang="en-US" sz="1050" dirty="0"/>
          </a:p>
        </p:txBody>
      </p:sp>
      <p:sp>
        <p:nvSpPr>
          <p:cNvPr id="24" name="Shape 19"/>
          <p:cNvSpPr/>
          <p:nvPr/>
        </p:nvSpPr>
        <p:spPr>
          <a:xfrm>
            <a:off x="5948172" y="3520440"/>
            <a:ext cx="301752" cy="256032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0"/>
          <p:cNvSpPr/>
          <p:nvPr/>
        </p:nvSpPr>
        <p:spPr>
          <a:xfrm>
            <a:off x="6222492" y="2103120"/>
            <a:ext cx="1604772" cy="356616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/>
          <p:nvPr/>
        </p:nvSpPr>
        <p:spPr>
          <a:xfrm>
            <a:off x="6387084" y="2267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Shape 22"/>
          <p:cNvSpPr/>
          <p:nvPr/>
        </p:nvSpPr>
        <p:spPr>
          <a:xfrm>
            <a:off x="6732270" y="2788920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8" name="Image 3" descr="out_icons/layergroup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2496" y="2859146"/>
            <a:ext cx="444764" cy="44476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359652" y="3611880"/>
            <a:ext cx="1330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6359652" y="4023360"/>
            <a:ext cx="13304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object code with libraries into an executable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7808976" y="3520440"/>
            <a:ext cx="301752" cy="256032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Shape 26"/>
          <p:cNvSpPr/>
          <p:nvPr/>
        </p:nvSpPr>
        <p:spPr>
          <a:xfrm>
            <a:off x="8083296" y="2103120"/>
            <a:ext cx="1604772" cy="3566160"/>
          </a:xfrm>
          <a:prstGeom prst="roundRect">
            <a:avLst>
              <a:gd name="adj" fmla="val 512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8247888" y="2267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8593074" y="2788920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5" name="Image 4" descr="out_icons/sav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63300" y="2859146"/>
            <a:ext cx="444764" cy="444764"/>
          </a:xfrm>
          <a:prstGeom prst="rect">
            <a:avLst/>
          </a:prstGeom>
        </p:spPr>
      </p:pic>
      <p:sp>
        <p:nvSpPr>
          <p:cNvPr id="36" name="Text 29"/>
          <p:cNvSpPr/>
          <p:nvPr/>
        </p:nvSpPr>
        <p:spPr>
          <a:xfrm>
            <a:off x="8220456" y="3611880"/>
            <a:ext cx="1330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8220456" y="4023360"/>
            <a:ext cx="13304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executable into main memory</a:t>
            </a:r>
            <a:endParaRPr lang="en-US" sz="1050" dirty="0"/>
          </a:p>
        </p:txBody>
      </p:sp>
      <p:sp>
        <p:nvSpPr>
          <p:cNvPr id="38" name="Shape 31"/>
          <p:cNvSpPr/>
          <p:nvPr/>
        </p:nvSpPr>
        <p:spPr>
          <a:xfrm>
            <a:off x="9669780" y="3520440"/>
            <a:ext cx="301752" cy="256032"/>
          </a:xfrm>
          <a:prstGeom prst="rightArrow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2"/>
          <p:cNvSpPr/>
          <p:nvPr/>
        </p:nvSpPr>
        <p:spPr>
          <a:xfrm>
            <a:off x="9944100" y="2103120"/>
            <a:ext cx="1604772" cy="3566160"/>
          </a:xfrm>
          <a:prstGeom prst="roundRect">
            <a:avLst>
              <a:gd name="adj" fmla="val 5128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3"/>
          <p:cNvSpPr/>
          <p:nvPr/>
        </p:nvSpPr>
        <p:spPr>
          <a:xfrm>
            <a:off x="10108692" y="226771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755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41" name="Shape 34"/>
          <p:cNvSpPr/>
          <p:nvPr/>
        </p:nvSpPr>
        <p:spPr>
          <a:xfrm>
            <a:off x="10453878" y="2788920"/>
            <a:ext cx="585216" cy="585216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2" name="Image 5" descr="out_icons/playcircle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24104" y="2859146"/>
            <a:ext cx="444764" cy="444764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0081260" y="3611880"/>
            <a:ext cx="13304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50" dirty="0"/>
          </a:p>
        </p:txBody>
      </p:sp>
      <p:sp>
        <p:nvSpPr>
          <p:cNvPr id="44" name="Text 36"/>
          <p:cNvSpPr/>
          <p:nvPr/>
        </p:nvSpPr>
        <p:spPr>
          <a:xfrm>
            <a:off x="10081260" y="4023360"/>
            <a:ext cx="13304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CPU runs the program, instruction by instruction</a:t>
            </a:r>
            <a:endParaRPr lang="en-US" sz="1050" dirty="0"/>
          </a:p>
        </p:txBody>
      </p:sp>
      <p:sp>
        <p:nvSpPr>
          <p:cNvPr id="45" name="Text 37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46" name="Text 3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TOOLS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Integrated Development Environments (IDEs)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908792" cy="1554480"/>
          </a:xfrm>
          <a:prstGeom prst="roundRect">
            <a:avLst>
              <a:gd name="adj" fmla="val 5294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14884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out_icons/compas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57" y="221467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57400"/>
            <a:ext cx="96286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IDE is a software package that makes it possible to edit, compile, link, execute, and debug a program </a:t>
            </a:r>
            <a:r>
              <a:rPr lang="en-US" sz="15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leaving the environment.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40080" y="3657600"/>
            <a:ext cx="3422904" cy="2377440"/>
          </a:xfrm>
          <a:prstGeom prst="roundRect">
            <a:avLst>
              <a:gd name="adj" fmla="val 3462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914400" y="393192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1" descr="out_icons/terminal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4750" y="3992270"/>
            <a:ext cx="382219" cy="38221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914400" y="457200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Code::Blocks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914400" y="502920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Free, open-source, cross-platform C/C++ IDE popular for coursework.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4383024" y="3657600"/>
            <a:ext cx="3422904" cy="2377440"/>
          </a:xfrm>
          <a:prstGeom prst="roundRect">
            <a:avLst>
              <a:gd name="adj" fmla="val 3462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0"/>
          <p:cNvSpPr/>
          <p:nvPr/>
        </p:nvSpPr>
        <p:spPr>
          <a:xfrm>
            <a:off x="4657344" y="393192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2" descr="out_icons/terminal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694" y="3992270"/>
            <a:ext cx="382219" cy="382219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657344" y="457200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Visual Studio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4657344" y="502920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Full-featured commercial IDE with a powerful debugger and toolset.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125968" y="3657600"/>
            <a:ext cx="3422904" cy="2377440"/>
          </a:xfrm>
          <a:prstGeom prst="roundRect">
            <a:avLst>
              <a:gd name="adj" fmla="val 3462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4"/>
          <p:cNvSpPr/>
          <p:nvPr/>
        </p:nvSpPr>
        <p:spPr>
          <a:xfrm>
            <a:off x="8400288" y="393192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out_icons/terminal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0638" y="3992270"/>
            <a:ext cx="382219" cy="38221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400288" y="4572000"/>
            <a:ext cx="28742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Dev-C++</a:t>
            </a:r>
            <a:endParaRPr lang="en-US" sz="1500" dirty="0"/>
          </a:p>
        </p:txBody>
      </p:sp>
      <p:sp>
        <p:nvSpPr>
          <p:cNvPr id="22" name="Text 16"/>
          <p:cNvSpPr/>
          <p:nvPr/>
        </p:nvSpPr>
        <p:spPr>
          <a:xfrm>
            <a:off x="8400288" y="502920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Lightweight, beginner-friendly IDE for C and C++ on Windows.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 SKILL — NOT GRADED, BUT IMPORTANT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Typing Speed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035040" cy="4160520"/>
          </a:xfrm>
          <a:prstGeom prst="roundRect">
            <a:avLst>
              <a:gd name="adj" fmla="val 1978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60120" y="2194560"/>
            <a:ext cx="548640" cy="54864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out_icons/keyboar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5957" y="2260397"/>
            <a:ext cx="416966" cy="41696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880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60120" y="3383280"/>
            <a:ext cx="54864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for every student in CSE — faster, accurate typing means more time thinking about code, not finding keys.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to type the grammatical way — use all 10 fingers, not the “hunt-and-peck” method.</a:t>
            </a:r>
            <a:endParaRPr lang="en-US" sz="135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dedicated software to learn and practice proper touch-typing technique.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995160" y="1874520"/>
            <a:ext cx="457200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995160" y="2148840"/>
            <a:ext cx="4572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30+</a:t>
            </a:r>
            <a:endParaRPr lang="en-US" sz="4200" dirty="0"/>
          </a:p>
        </p:txBody>
      </p:sp>
      <p:sp>
        <p:nvSpPr>
          <p:cNvPr id="11" name="Text 8"/>
          <p:cNvSpPr/>
          <p:nvPr/>
        </p:nvSpPr>
        <p:spPr>
          <a:xfrm>
            <a:off x="7269480" y="2971800"/>
            <a:ext cx="4023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Words Per Minute (WPM) — a reasonable target speed to aim for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995160" y="4069080"/>
            <a:ext cx="4572000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269480" y="4343400"/>
            <a:ext cx="502920" cy="502920"/>
          </a:xfrm>
          <a:prstGeom prst="ellipse">
            <a:avLst/>
          </a:prstGeom>
          <a:solidFill>
            <a:srgbClr val="0284C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1" descr="out_icons/checkcircl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830" y="4403750"/>
            <a:ext cx="382219" cy="382219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909560" y="4315968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Tools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7269480" y="480060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Thumbs Typing Tutor, or any other typing tutor software of your choice.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914400" y="20574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out_icons/deskto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4750" y="2117750"/>
            <a:ext cx="382219" cy="3822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057400"/>
            <a:ext cx="2234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&amp; make decisions via hardware + software, under program control.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83024" y="178308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657344" y="20574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out_icons/layergrou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17694" y="2117750"/>
            <a:ext cx="382219" cy="3822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97424" y="2057400"/>
            <a:ext cx="2234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657344" y="274320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Input, output, memory, CPU (ALU + CU), and secondary storage work together.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125968" y="178308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400288" y="20574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out_icons/exchang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60638" y="2117750"/>
            <a:ext cx="382219" cy="3822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040368" y="2057400"/>
            <a:ext cx="2234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400288" y="274320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 run via the continuous fetch-decode-execute cycle.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5"/>
          <p:cNvSpPr/>
          <p:nvPr/>
        </p:nvSpPr>
        <p:spPr>
          <a:xfrm>
            <a:off x="914400" y="43434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3" descr="out_icons/languag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4750" y="4403750"/>
            <a:ext cx="382219" cy="3822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4343400"/>
            <a:ext cx="2234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914400" y="502920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→ assembly → high-level: each step trades efficiency for readability.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4383024" y="406908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19"/>
          <p:cNvSpPr/>
          <p:nvPr/>
        </p:nvSpPr>
        <p:spPr>
          <a:xfrm>
            <a:off x="4657344" y="43434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out_icons/code_navy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17694" y="4403750"/>
            <a:ext cx="382219" cy="3822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297424" y="4343400"/>
            <a:ext cx="2234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 Language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4657344" y="502920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structured, general-purpose language created by Dennis Ritchie (1969–73).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8125968" y="4069080"/>
            <a:ext cx="3422904" cy="1965960"/>
          </a:xfrm>
          <a:prstGeom prst="roundRect">
            <a:avLst>
              <a:gd name="adj" fmla="val 4186"/>
            </a:avLst>
          </a:prstGeom>
          <a:solidFill>
            <a:srgbClr val="F1F5F9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Shape 23"/>
          <p:cNvSpPr/>
          <p:nvPr/>
        </p:nvSpPr>
        <p:spPr>
          <a:xfrm>
            <a:off x="8400288" y="434340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Image 5" descr="out_icons/cogs_nav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0638" y="4403750"/>
            <a:ext cx="382219" cy="3822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040368" y="4343400"/>
            <a:ext cx="2234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Toolchain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8400288" y="5029200"/>
            <a:ext cx="287426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→ preprocess → compile → link → load → execute — often inside an IDE.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457200" y="649224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• Structured Programming Language • Farhana Akter Suci, Lecturer, Dept. of CSE, UU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4114800"/>
            <a:ext cx="5943600" cy="5943600"/>
          </a:xfrm>
          <a:prstGeom prst="ellipse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05840" y="5303520"/>
            <a:ext cx="3291840" cy="3291840"/>
          </a:xfrm>
          <a:prstGeom prst="ellipse">
            <a:avLst/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65176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CSE0613101 — Structured Programming Language • Lecture 2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out_icons/usertie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310" y="4906670"/>
            <a:ext cx="382219" cy="38221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508760" y="4846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Farhana Akter Suci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Lecturer, Dept. of CSE, University of Uttara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1765</Words>
  <Application>Microsoft Office PowerPoint</Application>
  <PresentationFormat>Widescreen</PresentationFormat>
  <Paragraphs>274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2 - Structured Programming Language</dc:title>
  <dc:subject>PptxGenJS Presentation</dc:subject>
  <dc:creator>Farhana Akter Suci</dc:creator>
  <cp:lastModifiedBy>Farhana Akter Suci</cp:lastModifiedBy>
  <cp:revision>3</cp:revision>
  <dcterms:created xsi:type="dcterms:W3CDTF">2026-07-06T23:50:57Z</dcterms:created>
  <dcterms:modified xsi:type="dcterms:W3CDTF">2026-07-07T00:13:50Z</dcterms:modified>
</cp:coreProperties>
</file>