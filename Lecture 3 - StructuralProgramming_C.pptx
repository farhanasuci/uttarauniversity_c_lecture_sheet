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2743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28016" cy="128016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Programming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— Programming Paradigms &amp; Program Structure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2743200" cy="0"/>
          </a:xfrm>
          <a:prstGeom prst="line">
            <a:avLst/>
          </a:prstGeom>
          <a:noFill/>
          <a:ln w="12700">
            <a:solidFill>
              <a:srgbClr val="3A4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CSE0613101: Structured Programming Language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0" y="46863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57200" cy="45720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56819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481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43000" y="17647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C a structured, middle-level language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130552"/>
            <a:ext cx="457200" cy="45720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2189988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Paradigms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143000" y="23865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Non-structured vs. structured approaches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2752344"/>
            <a:ext cx="457200" cy="45720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2811780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724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C Program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143000" y="30083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Directives, functions, and statements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02920" y="3374136"/>
            <a:ext cx="457200" cy="45720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" y="3433572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3467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Library &amp; Headers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143000" y="3630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functions and header files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02920" y="3995928"/>
            <a:ext cx="457200" cy="45720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" y="4055364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43000" y="39684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and Statements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143000" y="4251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entry point and execution rules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often called a middle-level language</a:t>
            </a:r>
            <a:endParaRPr lang="en-US" sz="1400" dirty="0"/>
          </a:p>
          <a:p>
            <a:pPr lvl="1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the readability of a high-level language with the control and flexibility of assembly language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used as a system programming language</a:t>
            </a:r>
            <a:endParaRPr lang="en-US" sz="1400" dirty="0"/>
          </a:p>
          <a:p>
            <a:pPr lvl="1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suited for writing compilers and operating systems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a structured programming language</a:t>
            </a:r>
            <a:endParaRPr lang="en-US" sz="1400" dirty="0"/>
          </a:p>
          <a:p>
            <a:pPr lvl="1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subroutines (functions) that cause no side effects on other parts of the program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loop constructs such as for and while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goto is discouraged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06440" y="1463040"/>
            <a:ext cx="2880360" cy="3063240"/>
          </a:xfrm>
          <a:prstGeom prst="roundRect">
            <a:avLst>
              <a:gd name="adj" fmla="val 254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80760" y="1737360"/>
            <a:ext cx="502920" cy="50292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6140" y="180274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20840" y="1810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Facts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080760" y="242316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Dennis Ritchie (1972, Bell Labs)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C++, Java, and C#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core to OS &amp; embedded systems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to fast, efficient machine 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Paradigms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programming paradigm is a fundamental style of computer programming — a way of thinking about and structuring code.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2011680" cy="214884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11580" y="2560320"/>
            <a:ext cx="502920" cy="50292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960" y="262570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Non-Structured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3520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code with jumps (e.g. GOTO); early BASIC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87752" y="2331720"/>
            <a:ext cx="2011680" cy="214884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42132" y="2560320"/>
            <a:ext cx="502920" cy="50292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512" y="262570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79192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24912" y="3520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divided into modules/functions; e.g. C, Pascal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18304" y="2331720"/>
            <a:ext cx="2011680" cy="214884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72684" y="2560320"/>
            <a:ext cx="502920" cy="50292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064" y="2625700"/>
            <a:ext cx="372161" cy="3721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09744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855464" y="3520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organized around objects &amp; classes; e.g. Java, C++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848856" y="2331720"/>
            <a:ext cx="2011680" cy="214884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603236" y="2560320"/>
            <a:ext cx="502920" cy="50292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616" y="2625700"/>
            <a:ext cx="372161" cy="37216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0296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986016" y="3520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Functional, logic, event-driven, and more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Non-Structured Programming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written as a single, continuous program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may be numbered or labeled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is allowed to jump to any line (e.g. via GOTO)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produces what is known as “spaghetti code”</a:t>
            </a:r>
            <a:endParaRPr lang="en-US" sz="1500" dirty="0"/>
          </a:p>
          <a:p>
            <a:pPr lvl="1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read and follow, since logic is scattered across the file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early versions of BASIC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5040" y="1828800"/>
            <a:ext cx="1463040" cy="146304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5235" y="2018995"/>
            <a:ext cx="1082650" cy="10826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0" y="3429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SPAGHETTI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Non-Structured Programming — Illustration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91640" y="1783080"/>
            <a:ext cx="3291840" cy="1700784"/>
          </a:xfrm>
          <a:prstGeom prst="line">
            <a:avLst/>
          </a:prstGeom>
          <a:noFill/>
          <a:ln w="15875">
            <a:solidFill>
              <a:srgbClr val="3A4A5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691640" y="2350008"/>
            <a:ext cx="3291840" cy="1700784"/>
          </a:xfrm>
          <a:prstGeom prst="line">
            <a:avLst/>
          </a:prstGeom>
          <a:noFill/>
          <a:ln w="15875">
            <a:solidFill>
              <a:srgbClr val="3A4A5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691640" y="2916936"/>
            <a:ext cx="3291840" cy="-1133856"/>
          </a:xfrm>
          <a:prstGeom prst="line">
            <a:avLst/>
          </a:prstGeom>
          <a:noFill/>
          <a:ln w="15875">
            <a:solidFill>
              <a:srgbClr val="3A4A5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691640" y="3483864"/>
            <a:ext cx="3291840" cy="1133856"/>
          </a:xfrm>
          <a:prstGeom prst="line">
            <a:avLst/>
          </a:prstGeom>
          <a:noFill/>
          <a:ln w="15875">
            <a:solidFill>
              <a:srgbClr val="3A4A5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691640" y="4050792"/>
            <a:ext cx="3291840" cy="-1700784"/>
          </a:xfrm>
          <a:prstGeom prst="line">
            <a:avLst/>
          </a:prstGeom>
          <a:noFill/>
          <a:ln w="15875">
            <a:solidFill>
              <a:srgbClr val="3A4A5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691640" y="4617720"/>
            <a:ext cx="3291840" cy="-1700784"/>
          </a:xfrm>
          <a:prstGeom prst="line">
            <a:avLst/>
          </a:prstGeom>
          <a:noFill/>
          <a:ln w="15875">
            <a:solidFill>
              <a:srgbClr val="3A4A5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40080" y="155448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B2733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10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121408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B2733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2140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88336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B2733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883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30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255264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B2733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5526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40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B2733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221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50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B2733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891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60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1508760"/>
            <a:ext cx="1371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 40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 60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 10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 20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 50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 30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40880" y="1554480"/>
            <a:ext cx="1737360" cy="3246120"/>
          </a:xfrm>
          <a:prstGeom prst="roundRect">
            <a:avLst>
              <a:gd name="adj" fmla="val 4211"/>
            </a:avLst>
          </a:prstGeom>
          <a:solidFill>
            <a:srgbClr val="1B2733"/>
          </a:solidFill>
          <a:ln/>
        </p:spPr>
      </p:sp>
      <p:sp>
        <p:nvSpPr>
          <p:cNvPr id="24" name="Shape 22"/>
          <p:cNvSpPr/>
          <p:nvPr/>
        </p:nvSpPr>
        <p:spPr>
          <a:xfrm>
            <a:off x="7635240" y="1828800"/>
            <a:ext cx="548640" cy="54864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6563" y="1900123"/>
            <a:ext cx="405994" cy="40599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223760" y="2514600"/>
            <a:ext cx="1371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jumps unpredictably between lines — nearly impossible to trace by eye.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1 — DRAWBACKS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Non-Structured Programming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47088"/>
            <a:ext cx="502920" cy="50292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180" y="1912468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Maintain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21214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grows sharply as program size increases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5544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847088"/>
            <a:ext cx="502920" cy="50292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140" y="1912468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Cannot Be Reused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77840" y="21214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is tangled together, not modular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538728"/>
            <a:ext cx="502920" cy="50292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80" y="3604108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Test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25880" y="381304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isolated units to verify independently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09160" y="32461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538728"/>
            <a:ext cx="502920" cy="50292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140" y="3604108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Clarity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77840" y="381304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 make the flow of logic hard to follow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Programming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is divided into smaller subtasks, or modules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achieve modularity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is made manageable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is made easier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between modules is defined in a structured, predictable manner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has clearly defined inputs and outputs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C, PASCAL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1737360"/>
            <a:ext cx="1554480" cy="155448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5682" y="1939442"/>
            <a:ext cx="1150315" cy="11503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3429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Modules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Functions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2 — 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Structured Programming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09928"/>
            <a:ext cx="438912" cy="438912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427" y="1766987"/>
            <a:ext cx="324795" cy="324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2199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496312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modules simplify design and teamwork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73552" y="150876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709928"/>
            <a:ext cx="438912" cy="438912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779" y="1766987"/>
            <a:ext cx="324795" cy="3247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6432" y="222199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56432" y="2496312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flow makes code easier to follow and review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89904" y="150876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91072" y="1709928"/>
            <a:ext cx="438912" cy="438912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131" y="1766987"/>
            <a:ext cx="324795" cy="3247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72784" y="222199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72784" y="2496312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can be reused across programs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10896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3310128"/>
            <a:ext cx="438912" cy="438912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27" y="3367187"/>
            <a:ext cx="324795" cy="3247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" y="382219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Maintenance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" y="4096512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are isolated to specific modules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73552" y="310896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74720" y="3310128"/>
            <a:ext cx="438912" cy="438912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1779" y="3367187"/>
            <a:ext cx="324795" cy="32479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56432" y="382219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56432" y="4096512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Well-defined inputs/outputs reduce side effects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89904" y="310896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91072" y="3310128"/>
            <a:ext cx="438912" cy="438912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131" y="3367187"/>
            <a:ext cx="324795" cy="32479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72784" y="382219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Testing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72784" y="4096512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can be tested on its own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General Form of a Simple C Program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663440" cy="3017520"/>
          </a:xfrm>
          <a:prstGeom prst="roundRect">
            <a:avLst>
              <a:gd name="adj" fmla="val 2424"/>
            </a:avLst>
          </a:prstGeom>
          <a:solidFill>
            <a:srgbClr val="121A2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934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60934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160934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8191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directives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main()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statements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0" y="155448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simple C program follows this basic shape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Directives are processed before compilation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main() marks the program's entry point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braces { } group the statements that belong to main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Key Language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uses { and } much the way other languages use words like begin and end. Even the simplest C programs rely on three key features: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22476" y="2450592"/>
            <a:ext cx="548640" cy="54864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3799" y="2521915"/>
            <a:ext cx="405994" cy="4059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127248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52044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for the preprocessor, before compilation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73552" y="219456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38828" y="2450592"/>
            <a:ext cx="548640" cy="54864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151" y="2521915"/>
            <a:ext cx="405994" cy="4059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0712" y="3127248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56432" y="352044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grouped sets of statements that perform a task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89904" y="219456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55180" y="2450592"/>
            <a:ext cx="548640" cy="54864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503" y="2521915"/>
            <a:ext cx="405994" cy="4059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27064" y="3127248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72784" y="352044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commands executed when the program runs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C program is compiled, it is first processed by a preprocessor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intended for the preprocessor are called directives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&lt;stdio.h&gt; is a common example</a:t>
            </a:r>
            <a:endParaRPr lang="en-US" sz="1500" dirty="0"/>
          </a:p>
          <a:p>
            <a:pPr lvl="1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&lt;stdio.h&gt; is a header file containing information about C's standard I/O library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23560" y="1737360"/>
            <a:ext cx="3063240" cy="1463040"/>
          </a:xfrm>
          <a:prstGeom prst="roundRect">
            <a:avLst>
              <a:gd name="adj" fmla="val 5000"/>
            </a:avLst>
          </a:prstGeom>
          <a:solidFill>
            <a:srgbClr val="121A2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06440" y="188366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6007608" y="188366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6208776" y="188366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5623560" y="185623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2423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Directives — Syntax Rules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Directives always begin with a # character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directives are one line long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semicolon or other special marker at the end of a directive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preprocessor handles all directives before the compiler ever sees the code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1920240"/>
            <a:ext cx="1463040" cy="146304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0995" y="2110435"/>
            <a:ext cx="1082650" cy="10826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 Standard Library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set of library functions that your program may use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collection of programs is referred to as the C standard library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contains functions to perform:</a:t>
            </a:r>
            <a:endParaRPr lang="en-US" sz="1500" dirty="0"/>
          </a:p>
          <a:p>
            <a:pPr lvl="1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 (I/O)</a:t>
            </a:r>
            <a:endParaRPr lang="en-US" sz="1500" dirty="0"/>
          </a:p>
          <a:p>
            <a:pPr lvl="1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computation</a:t>
            </a:r>
            <a:endParaRPr lang="en-US" sz="1500" dirty="0"/>
          </a:p>
          <a:p>
            <a:pPr lvl="1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manipulation, and more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89320" y="1828800"/>
            <a:ext cx="1554480" cy="155448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402" y="2030882"/>
            <a:ext cx="1150315" cy="11503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about standard library functions is found in header files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files end with a .h extension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files are added to a program using the #include directive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commonly required header file is stdio.h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89320" y="1828800"/>
            <a:ext cx="1554480" cy="155448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402" y="2030882"/>
            <a:ext cx="1150315" cy="11503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a series of statements grouped together and given a name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functions are provided as part of the C implementation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printf()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94960" y="17373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121A2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77840" y="188366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5779008" y="188366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5980176" y="188366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18562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15000" y="2468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printf("Welcome to C!");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main() Function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function is mandatory in every C program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 special: it is called automatically when the program executes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starts with the first statement after main()'s opening curly brace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ends when main()'s closing curly brace is reached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989320" y="1828800"/>
            <a:ext cx="1554480" cy="155448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402" y="2030882"/>
            <a:ext cx="1150315" cy="11503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statement is a command to be executed when the program runs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a function to perform its task is known as calling the function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first.c calls printf to display a string: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94960" y="18288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121A2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77840" y="19751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5779008" y="19751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5980176" y="19751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194767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first.c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15000" y="25420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printf("Welcome to C! \n");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Statements — Syntax Rules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requires that each statement end with a semicolon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one exception: the compound statement</a:t>
            </a:r>
            <a:endParaRPr lang="en-US" sz="1550" dirty="0"/>
          </a:p>
          <a:p>
            <a:pPr lvl="1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 statement groups several statements inside { }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Directives are normally one line long and do not end with a semicolon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0" y="1920240"/>
            <a:ext cx="1463040" cy="146304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0995" y="2110435"/>
            <a:ext cx="1082650" cy="10826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C Program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480560" cy="3108960"/>
          </a:xfrm>
          <a:prstGeom prst="roundRect">
            <a:avLst>
              <a:gd name="adj" fmla="val 2353"/>
            </a:avLst>
          </a:prstGeom>
          <a:solidFill>
            <a:srgbClr val="121A2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6362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15636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" y="156362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361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first.c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main()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printf("Welcome to C! \n");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49240" y="1609344"/>
            <a:ext cx="109728" cy="10972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77840" y="17556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 — loads the standard I/O library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49240" y="2478024"/>
            <a:ext cx="109728" cy="109728"/>
          </a:xfrm>
          <a:prstGeom prst="ellipse">
            <a:avLst/>
          </a:prstGeom>
          <a:solidFill>
            <a:srgbClr val="82AAFF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2350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main()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2624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— the program's mandatory entry point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9240" y="3346704"/>
            <a:ext cx="109728" cy="109728"/>
          </a:xfrm>
          <a:prstGeom prst="ellipse">
            <a:avLst/>
          </a:prstGeom>
          <a:solidFill>
            <a:srgbClr val="E8EDF1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3218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printf(...);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77840" y="34930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— calls a library function, ends with 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180" y="18941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09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structured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2103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middle-level, structured programming language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5087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828800"/>
            <a:ext cx="502920" cy="50292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140" y="189418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709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Paradigms differ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77840" y="2103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code beats non-structured in maintainability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2004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520440"/>
            <a:ext cx="502920" cy="50292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80" y="358582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401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building blocks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2588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Directives, functions, and statements form every program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32004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520440"/>
            <a:ext cx="502920" cy="50292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140" y="358582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401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runs first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7784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always begins and ends inside main()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2743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2194560" cy="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CSE0613101: Structured Programming Language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0" y="46863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3 - Structured Programming Language</dc:title>
  <dc:subject>PptxGenJS Presentation</dc:subject>
  <dc:creator>Farhana Akter Suci</dc:creator>
  <cp:lastModifiedBy>Farhana Akter Suci</cp:lastModifiedBy>
  <cp:revision>1</cp:revision>
  <dcterms:created xsi:type="dcterms:W3CDTF">2026-07-07T00:01:04Z</dcterms:created>
  <dcterms:modified xsi:type="dcterms:W3CDTF">2026-07-07T00:01:04Z</dcterms:modified>
</cp:coreProperties>
</file>