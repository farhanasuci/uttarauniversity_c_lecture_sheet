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9144000"/>
  <p:notesSz cx="6858000" cy="9144000"/>
  <p:embeddedFontLst>
    <p:embeddedFont>
      <p:font typeface="Tahoma"/>
      <p:regular r:id="rId34"/>
      <p:bold r:id="rId35"/>
    </p:embeddedFont>
    <p:embeddedFont>
      <p:font typeface="Oi"/>
      <p:regular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iTLKuwFkCP4tjeWytoAq+0Pz2x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952C05-C68E-49FD-93E9-83B47A20C106}">
  <a:tblStyle styleId="{5A952C05-C68E-49FD-93E9-83B47A20C10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Tahoma-bold.fntdata"/><Relationship Id="rId12" Type="http://schemas.openxmlformats.org/officeDocument/2006/relationships/slide" Target="slides/slide6.xml"/><Relationship Id="rId34" Type="http://schemas.openxmlformats.org/officeDocument/2006/relationships/font" Target="fonts/Tahoma-regular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Oi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6" name="Google Shape;3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5" name="Google Shape;3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7" name="Google Shape;3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6" name="Google Shape;3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85" name="Google Shape;38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94" name="Google Shape;39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31" name="Google Shape;4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>
                <a:solidFill>
                  <a:srgbClr val="00206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/>
              <a:t>Lecture 7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CSE0613101: Structured Programming Language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7192" y="416195"/>
            <a:ext cx="3001008" cy="14284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Problem: Conversion table</a:t>
            </a:r>
            <a:br>
              <a:rPr lang="en-US"/>
            </a:br>
            <a:r>
              <a:rPr lang="en-US"/>
              <a:t>degrees 🡪 radians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4495800" y="1981200"/>
            <a:ext cx="4191000" cy="4114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Degrees to Radians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 0  		0.000000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 10  		0.174533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 20  	0.349066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 30  	0.523599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	…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	340  	5.934120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350  	6.108653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   360  	6.283186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2209800" y="3276600"/>
            <a:ext cx="1295400" cy="1524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3581400" y="4114800"/>
            <a:ext cx="83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" name="Google Shape;103;p2"/>
          <p:cNvSpPr/>
          <p:nvPr/>
        </p:nvSpPr>
        <p:spPr>
          <a:xfrm>
            <a:off x="1003300" y="5334000"/>
            <a:ext cx="32639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radians = degrees * PI / 180;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4495800" y="76200"/>
            <a:ext cx="4800600" cy="670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#include &lt;stdio.h&gt;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#define PI 3.141593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int main()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 int degrees=0;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 double radians;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 printf("Degrees to Radians \n");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degrees = 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radians = degrees*PI/180;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printf("%d %f \n", degrees, radians);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r>
              <a:t/>
            </a:r>
            <a:endParaRPr sz="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degrees = 10;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radians = degrees*PI/180;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printf(“%d %f \n", degrees, radians);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</a:pPr>
            <a:r>
              <a:t/>
            </a:r>
            <a:endParaRPr sz="9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degrees = 20;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radians = degrees*PI/180;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printf(“%d %f \n", degrees, radians);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…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degrees = 360;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radians = degrees*PI/180;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printf(“%d %f \n", degrees, radians);</a:t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  return 0;</a:t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}</a:t>
            </a:r>
            <a:endParaRPr/>
          </a:p>
        </p:txBody>
      </p:sp>
      <p:sp>
        <p:nvSpPr>
          <p:cNvPr id="112" name="Google Shape;112;p3"/>
          <p:cNvSpPr txBox="1"/>
          <p:nvPr>
            <p:ph type="title"/>
          </p:nvPr>
        </p:nvSpPr>
        <p:spPr>
          <a:xfrm>
            <a:off x="838200" y="76200"/>
            <a:ext cx="312420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99"/>
                </a:solidFill>
              </a:rPr>
              <a:t>Sequential Solution</a:t>
            </a:r>
            <a:endParaRPr>
              <a:solidFill>
                <a:srgbClr val="000099"/>
              </a:solidFill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52400" y="3276600"/>
            <a:ext cx="4572000" cy="915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degrees = 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radians = degrees*PI/180;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 printf("%d %f \n", degrees, radians);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57200" y="4800600"/>
            <a:ext cx="3657600" cy="1752600"/>
          </a:xfrm>
          <a:prstGeom prst="irregularSeal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Not a good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3" st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3" st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4" st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4" st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5" st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5" st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6" st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>
                                            <p:txEl>
                                              <p:pRg end="26" st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</a:pPr>
            <a:r>
              <a:rPr lang="en-US">
                <a:solidFill>
                  <a:srgbClr val="17365D"/>
                </a:solidFill>
              </a:rPr>
              <a:t>Loop (Repetition) Structures</a:t>
            </a:r>
            <a:endParaRPr/>
          </a:p>
        </p:txBody>
      </p:sp>
      <p:sp>
        <p:nvSpPr>
          <p:cNvPr id="123" name="Google Shape;123;p4"/>
          <p:cNvSpPr txBox="1"/>
          <p:nvPr>
            <p:ph idx="1" type="body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Loops in programs allow us to repeat one or more statements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</a:pPr>
            <a:r>
              <a:rPr lang="en-US">
                <a:solidFill>
                  <a:srgbClr val="17365D"/>
                </a:solidFill>
              </a:rPr>
              <a:t>Loop (Repetition) Structures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Char char="•"/>
            </a:pPr>
            <a:r>
              <a:rPr lang="en-US">
                <a:solidFill>
                  <a:srgbClr val="000099"/>
                </a:solidFill>
              </a:rPr>
              <a:t>for</a:t>
            </a:r>
            <a:r>
              <a:rPr lang="en-US"/>
              <a:t> statement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Char char="•"/>
            </a:pPr>
            <a:r>
              <a:rPr lang="en-US">
                <a:solidFill>
                  <a:srgbClr val="000099"/>
                </a:solidFill>
              </a:rPr>
              <a:t>while</a:t>
            </a:r>
            <a:r>
              <a:rPr lang="en-US"/>
              <a:t> statement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Char char="•"/>
            </a:pPr>
            <a:r>
              <a:rPr lang="en-US">
                <a:solidFill>
                  <a:srgbClr val="000099"/>
                </a:solidFill>
              </a:rPr>
              <a:t>do while </a:t>
            </a:r>
            <a:r>
              <a:rPr lang="en-US"/>
              <a:t>statement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Two new statements used with loops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</a:t>
            </a:r>
            <a:r>
              <a:rPr lang="en-US">
                <a:solidFill>
                  <a:srgbClr val="000099"/>
                </a:solidFill>
              </a:rPr>
              <a:t>break</a:t>
            </a:r>
            <a:r>
              <a:rPr lang="en-US"/>
              <a:t> and </a:t>
            </a:r>
            <a:r>
              <a:rPr lang="en-US">
                <a:solidFill>
                  <a:srgbClr val="000099"/>
                </a:solidFill>
              </a:rPr>
              <a:t>continue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ourier New"/>
              <a:buNone/>
            </a:pPr>
            <a:r>
              <a:rPr lang="en-US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>
                <a:solidFill>
                  <a:srgbClr val="17365D"/>
                </a:solidFill>
              </a:rPr>
              <a:t> statement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301625" y="1527175"/>
            <a:ext cx="8504238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ct val="100000"/>
              <a:buChar char="•"/>
            </a:pPr>
            <a:r>
              <a:rPr lang="en-US" sz="2800">
                <a:solidFill>
                  <a:srgbClr val="0C0C0C"/>
                </a:solidFill>
              </a:rPr>
              <a:t>General form:</a:t>
            </a:r>
            <a:endParaRPr/>
          </a:p>
          <a:p>
            <a:pPr indent="-20193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Char char="–"/>
            </a:pPr>
            <a:r>
              <a:rPr lang="en-US">
                <a:solidFill>
                  <a:srgbClr val="000099"/>
                </a:solidFill>
              </a:rPr>
              <a:t>for(initialization; condition-test; increment or decrement)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>
                <a:solidFill>
                  <a:srgbClr val="000099"/>
                </a:solidFill>
              </a:rPr>
              <a:t>		statement;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>
              <a:solidFill>
                <a:srgbClr val="000099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Char char="–"/>
            </a:pPr>
            <a:r>
              <a:rPr lang="en-US">
                <a:solidFill>
                  <a:srgbClr val="000099"/>
                </a:solidFill>
              </a:rPr>
              <a:t>for(initialization; condition-test; increment or decrement)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>
                <a:solidFill>
                  <a:srgbClr val="000099"/>
                </a:solidFill>
              </a:rPr>
              <a:t>	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>
                <a:solidFill>
                  <a:srgbClr val="000099"/>
                </a:solidFill>
              </a:rPr>
              <a:t>		statement;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>
                <a:solidFill>
                  <a:srgbClr val="000099"/>
                </a:solidFill>
              </a:rPr>
              <a:t>		statement;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>
                <a:solidFill>
                  <a:srgbClr val="000099"/>
                </a:solidFill>
              </a:rPr>
              <a:t>		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Noto Sans Symbols"/>
              <a:buNone/>
            </a:pPr>
            <a:r>
              <a:rPr lang="en-US">
                <a:solidFill>
                  <a:srgbClr val="000099"/>
                </a:solidFill>
              </a:rPr>
              <a:t>	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400"/>
          </a:p>
        </p:txBody>
      </p:sp>
      <p:sp>
        <p:nvSpPr>
          <p:cNvPr id="142" name="Google Shape;1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</a:pPr>
            <a:r>
              <a:rPr lang="en-US">
                <a:solidFill>
                  <a:srgbClr val="17365D"/>
                </a:solidFill>
              </a:rPr>
              <a:t>Three parts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Three parts of a </a:t>
            </a:r>
            <a:r>
              <a:rPr lang="en-US">
                <a:solidFill>
                  <a:srgbClr val="000099"/>
                </a:solidFill>
              </a:rPr>
              <a:t>for</a:t>
            </a:r>
            <a:r>
              <a:rPr lang="en-US"/>
              <a:t> loop: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>
                <a:solidFill>
                  <a:srgbClr val="000099"/>
                </a:solidFill>
              </a:rPr>
              <a:t>Initialization: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Give a initial value to the variable that controls the loop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This variable is referred to as loop-control-variable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Initialization is executed only once.</a:t>
            </a:r>
            <a:endParaRPr/>
          </a:p>
        </p:txBody>
      </p:sp>
      <p:sp>
        <p:nvSpPr>
          <p:cNvPr id="149" name="Google Shape;14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150" name="Google Shape;15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</a:pPr>
            <a:r>
              <a:rPr lang="en-US">
                <a:solidFill>
                  <a:srgbClr val="17365D"/>
                </a:solidFill>
              </a:rPr>
              <a:t>Three parts</a:t>
            </a:r>
            <a:endParaRPr/>
          </a:p>
        </p:txBody>
      </p:sp>
      <p:sp>
        <p:nvSpPr>
          <p:cNvPr id="156" name="Google Shape;156;p8"/>
          <p:cNvSpPr txBox="1"/>
          <p:nvPr>
            <p:ph idx="1" type="body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>
                <a:solidFill>
                  <a:srgbClr val="000099"/>
                </a:solidFill>
              </a:rPr>
              <a:t>Conditional test: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this portion tests the loop-control variable against a target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the test evaluates true, the loop repeats.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it is false, the loop stops, and program execution goes to the next line of code that follows the loop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Executed at the start of the loop, each time the loop is repeated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Char char="•"/>
            </a:pPr>
            <a:r>
              <a:rPr lang="en-US" sz="2800">
                <a:solidFill>
                  <a:srgbClr val="000099"/>
                </a:solidFill>
              </a:rPr>
              <a:t>Increment or decrement: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Increase or decrease  the loop-control-variable by certain amount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Executed at the bottom of the loop</a:t>
            </a:r>
            <a:endParaRPr/>
          </a:p>
        </p:txBody>
      </p:sp>
      <p:sp>
        <p:nvSpPr>
          <p:cNvPr id="157" name="Google Shape;15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158" name="Google Shape;15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KaiTi"/>
              <a:buNone/>
            </a:pPr>
            <a:r>
              <a:rPr lang="en-US">
                <a:latin typeface="KaiTi"/>
                <a:ea typeface="KaiTi"/>
                <a:cs typeface="KaiTi"/>
                <a:sym typeface="KaiTi"/>
              </a:rPr>
              <a:t>for</a:t>
            </a:r>
            <a:r>
              <a:rPr lang="en-US"/>
              <a:t> statement</a:t>
            </a:r>
            <a:endParaRPr/>
          </a:p>
        </p:txBody>
      </p:sp>
      <p:pic>
        <p:nvPicPr>
          <p:cNvPr descr="for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38" y="2000250"/>
            <a:ext cx="8831262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166" name="Google Shape;16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Oi"/>
              <a:buNone/>
            </a:pPr>
            <a:r>
              <a:rPr lang="en-US">
                <a:latin typeface="Oi"/>
                <a:ea typeface="Oi"/>
                <a:cs typeface="Oi"/>
                <a:sym typeface="Oi"/>
              </a:rPr>
              <a:t>for</a:t>
            </a:r>
            <a:r>
              <a:rPr lang="en-US"/>
              <a:t> Statement</a:t>
            </a:r>
            <a:endParaRPr/>
          </a:p>
        </p:txBody>
      </p:sp>
      <p:sp>
        <p:nvSpPr>
          <p:cNvPr id="172" name="Google Shape;172;p10"/>
          <p:cNvSpPr txBox="1"/>
          <p:nvPr>
            <p:ph idx="1" type="body"/>
          </p:nvPr>
        </p:nvSpPr>
        <p:spPr>
          <a:xfrm>
            <a:off x="304800" y="1447800"/>
            <a:ext cx="8534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Format when using </a:t>
            </a:r>
            <a:r>
              <a:rPr lang="en-US" sz="2600">
                <a:latin typeface="Oi"/>
                <a:ea typeface="Oi"/>
                <a:cs typeface="Oi"/>
                <a:sym typeface="Oi"/>
              </a:rPr>
              <a:t>for</a:t>
            </a:r>
            <a:r>
              <a:rPr lang="en-US"/>
              <a:t> loops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Times New Roman"/>
              <a:buNone/>
            </a:pPr>
            <a:r>
              <a:rPr lang="en-US">
                <a:solidFill>
                  <a:srgbClr val="000099"/>
                </a:solidFill>
              </a:rPr>
              <a:t>for( initialization; conditionTest; increment ) </a:t>
            </a:r>
            <a:br>
              <a:rPr lang="en-US">
                <a:solidFill>
                  <a:srgbClr val="000099"/>
                </a:solidFill>
              </a:rPr>
            </a:br>
            <a:r>
              <a:rPr lang="en-US">
                <a:solidFill>
                  <a:srgbClr val="000099"/>
                </a:solidFill>
              </a:rPr>
              <a:t>   statement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Example: 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for(counter = 1; counter &lt;= 10; counter++ 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ourier New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 "%d\n", counter 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Prints the integers from one to ten</a:t>
            </a:r>
            <a:endParaRPr/>
          </a:p>
        </p:txBody>
      </p:sp>
      <p:grpSp>
        <p:nvGrpSpPr>
          <p:cNvPr id="173" name="Google Shape;173;p10"/>
          <p:cNvGrpSpPr/>
          <p:nvPr/>
        </p:nvGrpSpPr>
        <p:grpSpPr>
          <a:xfrm>
            <a:off x="0" y="2330450"/>
            <a:ext cx="5486400" cy="1374775"/>
            <a:chOff x="0" y="632"/>
            <a:chExt cx="3456" cy="866"/>
          </a:xfrm>
        </p:grpSpPr>
        <p:sp>
          <p:nvSpPr>
            <p:cNvPr id="174" name="Google Shape;174;p10"/>
            <p:cNvSpPr/>
            <p:nvPr/>
          </p:nvSpPr>
          <p:spPr>
            <a:xfrm>
              <a:off x="0" y="749"/>
              <a:ext cx="3456" cy="7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0" y="632"/>
              <a:ext cx="3456" cy="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0"/>
          <p:cNvSpPr/>
          <p:nvPr/>
        </p:nvSpPr>
        <p:spPr>
          <a:xfrm>
            <a:off x="0" y="3705225"/>
            <a:ext cx="9144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 txBox="1"/>
          <p:nvPr/>
        </p:nvSpPr>
        <p:spPr>
          <a:xfrm>
            <a:off x="6781800" y="4238625"/>
            <a:ext cx="1219200" cy="1323975"/>
          </a:xfrm>
          <a:prstGeom prst="rect">
            <a:avLst/>
          </a:prstGeom>
          <a:solidFill>
            <a:srgbClr val="99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semicolon (</a:t>
            </a: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after last expression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0"/>
          <p:cNvCxnSpPr/>
          <p:nvPr/>
        </p:nvCxnSpPr>
        <p:spPr>
          <a:xfrm flipH="1" rot="10800000">
            <a:off x="7239000" y="3705225"/>
            <a:ext cx="46038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" name="Google Shape;17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180" name="Google Shape;18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0" y="76200"/>
            <a:ext cx="89646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/>
              <a:t>Flow Chart of the Example </a:t>
            </a:r>
            <a:r>
              <a:rPr lang="en-US">
                <a:solidFill>
                  <a:schemeClr val="accent2"/>
                </a:solidFill>
                <a:latin typeface="Oi"/>
                <a:ea typeface="Oi"/>
                <a:cs typeface="Oi"/>
                <a:sym typeface="Oi"/>
              </a:rPr>
              <a:t>for</a:t>
            </a:r>
            <a:r>
              <a:rPr lang="en-US"/>
              <a:t> Loop	</a:t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4019550" y="3101975"/>
            <a:ext cx="2833688" cy="2571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4019550" y="3101975"/>
            <a:ext cx="2855913" cy="222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853238" y="3101975"/>
            <a:ext cx="22225" cy="2794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019550" y="3359150"/>
            <a:ext cx="2833688" cy="222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019550" y="3101975"/>
            <a:ext cx="22225" cy="2571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7153275" y="3101975"/>
            <a:ext cx="1201738" cy="2571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7153275" y="3101975"/>
            <a:ext cx="1223963" cy="222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8355013" y="3101975"/>
            <a:ext cx="22225" cy="2794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7153275" y="3359150"/>
            <a:ext cx="1201738" cy="222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7153275" y="3101975"/>
            <a:ext cx="22225" cy="2571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658938" y="2095500"/>
            <a:ext cx="1630362" cy="150813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830388" y="2052638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counter =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1658938" y="2052638"/>
            <a:ext cx="1630362" cy="2571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658938" y="2052638"/>
            <a:ext cx="1652587" cy="222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3289300" y="2052638"/>
            <a:ext cx="22225" cy="27940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658938" y="2309813"/>
            <a:ext cx="1630362" cy="222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658938" y="2052638"/>
            <a:ext cx="20637" cy="25717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444625" y="2824163"/>
            <a:ext cx="2060575" cy="814387"/>
          </a:xfrm>
          <a:custGeom>
            <a:rect b="b" l="l" r="r" t="t"/>
            <a:pathLst>
              <a:path extrusionOk="0" h="513" w="1298">
                <a:moveTo>
                  <a:pt x="649" y="0"/>
                </a:moveTo>
                <a:lnTo>
                  <a:pt x="0" y="256"/>
                </a:lnTo>
                <a:lnTo>
                  <a:pt x="649" y="513"/>
                </a:lnTo>
                <a:lnTo>
                  <a:pt x="1298" y="256"/>
                </a:lnTo>
                <a:lnTo>
                  <a:pt x="64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1379538" y="2824163"/>
            <a:ext cx="2189162" cy="835025"/>
          </a:xfrm>
          <a:custGeom>
            <a:rect b="b" l="l" r="r" t="t"/>
            <a:pathLst>
              <a:path extrusionOk="0" h="526" w="1379">
                <a:moveTo>
                  <a:pt x="690" y="14"/>
                </a:moveTo>
                <a:lnTo>
                  <a:pt x="41" y="270"/>
                </a:lnTo>
                <a:lnTo>
                  <a:pt x="41" y="256"/>
                </a:lnTo>
                <a:lnTo>
                  <a:pt x="690" y="513"/>
                </a:lnTo>
                <a:lnTo>
                  <a:pt x="690" y="526"/>
                </a:lnTo>
                <a:lnTo>
                  <a:pt x="690" y="513"/>
                </a:lnTo>
                <a:lnTo>
                  <a:pt x="1339" y="256"/>
                </a:lnTo>
                <a:lnTo>
                  <a:pt x="1379" y="270"/>
                </a:lnTo>
                <a:lnTo>
                  <a:pt x="1339" y="270"/>
                </a:lnTo>
                <a:lnTo>
                  <a:pt x="690" y="526"/>
                </a:lnTo>
                <a:lnTo>
                  <a:pt x="41" y="270"/>
                </a:lnTo>
                <a:lnTo>
                  <a:pt x="0" y="256"/>
                </a:lnTo>
                <a:lnTo>
                  <a:pt x="41" y="256"/>
                </a:lnTo>
                <a:lnTo>
                  <a:pt x="690" y="0"/>
                </a:lnTo>
                <a:lnTo>
                  <a:pt x="690" y="14"/>
                </a:lnTo>
                <a:close/>
              </a:path>
            </a:pathLst>
          </a:cu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474913" y="2824163"/>
            <a:ext cx="1030287" cy="428625"/>
          </a:xfrm>
          <a:custGeom>
            <a:rect b="b" l="l" r="r" t="t"/>
            <a:pathLst>
              <a:path extrusionOk="0" h="270" w="649">
                <a:moveTo>
                  <a:pt x="649" y="270"/>
                </a:moveTo>
                <a:lnTo>
                  <a:pt x="0" y="14"/>
                </a:lnTo>
                <a:lnTo>
                  <a:pt x="0" y="0"/>
                </a:lnTo>
                <a:lnTo>
                  <a:pt x="649" y="256"/>
                </a:lnTo>
                <a:lnTo>
                  <a:pt x="649" y="27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379538" y="2824163"/>
            <a:ext cx="2189162" cy="835025"/>
          </a:xfrm>
          <a:custGeom>
            <a:rect b="b" l="l" r="r" t="t"/>
            <a:pathLst>
              <a:path extrusionOk="0" h="526" w="1379">
                <a:moveTo>
                  <a:pt x="690" y="14"/>
                </a:moveTo>
                <a:lnTo>
                  <a:pt x="41" y="270"/>
                </a:lnTo>
                <a:lnTo>
                  <a:pt x="41" y="256"/>
                </a:lnTo>
                <a:lnTo>
                  <a:pt x="690" y="513"/>
                </a:lnTo>
                <a:lnTo>
                  <a:pt x="690" y="526"/>
                </a:lnTo>
                <a:lnTo>
                  <a:pt x="690" y="513"/>
                </a:lnTo>
                <a:lnTo>
                  <a:pt x="1339" y="256"/>
                </a:lnTo>
                <a:lnTo>
                  <a:pt x="1379" y="270"/>
                </a:lnTo>
                <a:lnTo>
                  <a:pt x="1339" y="270"/>
                </a:lnTo>
                <a:lnTo>
                  <a:pt x="690" y="526"/>
                </a:lnTo>
                <a:lnTo>
                  <a:pt x="41" y="270"/>
                </a:lnTo>
                <a:lnTo>
                  <a:pt x="0" y="256"/>
                </a:lnTo>
                <a:lnTo>
                  <a:pt x="41" y="256"/>
                </a:lnTo>
                <a:lnTo>
                  <a:pt x="690" y="0"/>
                </a:lnTo>
                <a:lnTo>
                  <a:pt x="690" y="14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2474913" y="2824163"/>
            <a:ext cx="1030287" cy="428625"/>
          </a:xfrm>
          <a:custGeom>
            <a:rect b="b" l="l" r="r" t="t"/>
            <a:pathLst>
              <a:path extrusionOk="0" h="270" w="649">
                <a:moveTo>
                  <a:pt x="649" y="270"/>
                </a:moveTo>
                <a:lnTo>
                  <a:pt x="0" y="14"/>
                </a:lnTo>
                <a:lnTo>
                  <a:pt x="0" y="0"/>
                </a:lnTo>
                <a:lnTo>
                  <a:pt x="649" y="256"/>
                </a:lnTo>
                <a:lnTo>
                  <a:pt x="649" y="27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809750" y="3124200"/>
            <a:ext cx="13827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counter &lt;= 10</a:t>
            </a:r>
            <a:endParaRPr b="0" i="0" sz="1800" u="none" cap="none" strike="noStrike">
              <a:solidFill>
                <a:schemeClr val="dk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2479675" y="2944813"/>
            <a:ext cx="20638" cy="1587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2479675" y="3330575"/>
            <a:ext cx="20638" cy="158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2474913" y="2309813"/>
            <a:ext cx="20637" cy="385762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2479675" y="4273550"/>
            <a:ext cx="20638" cy="158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2479675" y="4659313"/>
            <a:ext cx="20638" cy="1587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2474913" y="3638550"/>
            <a:ext cx="20637" cy="385763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2409825" y="4152900"/>
            <a:ext cx="150813" cy="149225"/>
          </a:xfrm>
          <a:custGeom>
            <a:rect b="b" l="l" r="r" t="t"/>
            <a:pathLst>
              <a:path extrusionOk="0" h="94" w="95">
                <a:moveTo>
                  <a:pt x="81" y="40"/>
                </a:moveTo>
                <a:lnTo>
                  <a:pt x="68" y="0"/>
                </a:lnTo>
                <a:lnTo>
                  <a:pt x="68" y="13"/>
                </a:lnTo>
                <a:lnTo>
                  <a:pt x="41" y="13"/>
                </a:lnTo>
                <a:lnTo>
                  <a:pt x="14" y="13"/>
                </a:lnTo>
                <a:lnTo>
                  <a:pt x="27" y="0"/>
                </a:lnTo>
                <a:lnTo>
                  <a:pt x="14" y="40"/>
                </a:lnTo>
                <a:lnTo>
                  <a:pt x="27" y="67"/>
                </a:lnTo>
                <a:lnTo>
                  <a:pt x="14" y="67"/>
                </a:lnTo>
                <a:lnTo>
                  <a:pt x="41" y="81"/>
                </a:lnTo>
                <a:lnTo>
                  <a:pt x="68" y="67"/>
                </a:lnTo>
                <a:lnTo>
                  <a:pt x="81" y="40"/>
                </a:lnTo>
                <a:lnTo>
                  <a:pt x="95" y="40"/>
                </a:lnTo>
                <a:lnTo>
                  <a:pt x="81" y="67"/>
                </a:lnTo>
                <a:lnTo>
                  <a:pt x="68" y="81"/>
                </a:lnTo>
                <a:lnTo>
                  <a:pt x="41" y="94"/>
                </a:lnTo>
                <a:lnTo>
                  <a:pt x="14" y="81"/>
                </a:lnTo>
                <a:lnTo>
                  <a:pt x="14" y="67"/>
                </a:lnTo>
                <a:lnTo>
                  <a:pt x="0" y="40"/>
                </a:lnTo>
                <a:lnTo>
                  <a:pt x="14" y="0"/>
                </a:lnTo>
                <a:lnTo>
                  <a:pt x="41" y="0"/>
                </a:lnTo>
                <a:lnTo>
                  <a:pt x="68" y="0"/>
                </a:lnTo>
                <a:lnTo>
                  <a:pt x="81" y="0"/>
                </a:lnTo>
                <a:lnTo>
                  <a:pt x="95" y="40"/>
                </a:lnTo>
                <a:lnTo>
                  <a:pt x="81" y="4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2538413" y="4216400"/>
            <a:ext cx="22225" cy="1588"/>
          </a:xfrm>
          <a:custGeom>
            <a:rect b="b" l="l" r="r" t="t"/>
            <a:pathLst>
              <a:path extrusionOk="0" h="1588" w="14">
                <a:moveTo>
                  <a:pt x="0" y="0"/>
                </a:moveTo>
                <a:lnTo>
                  <a:pt x="0" y="0"/>
                </a:lnTo>
                <a:lnTo>
                  <a:pt x="14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913188" y="3209925"/>
            <a:ext cx="128587" cy="63500"/>
          </a:xfrm>
          <a:custGeom>
            <a:rect b="b" l="l" r="r" t="t"/>
            <a:pathLst>
              <a:path extrusionOk="0" h="40" w="81">
                <a:moveTo>
                  <a:pt x="0" y="13"/>
                </a:moveTo>
                <a:lnTo>
                  <a:pt x="0" y="0"/>
                </a:lnTo>
                <a:lnTo>
                  <a:pt x="40" y="13"/>
                </a:lnTo>
                <a:lnTo>
                  <a:pt x="81" y="13"/>
                </a:lnTo>
                <a:lnTo>
                  <a:pt x="40" y="27"/>
                </a:lnTo>
                <a:lnTo>
                  <a:pt x="0" y="40"/>
                </a:lnTo>
                <a:lnTo>
                  <a:pt x="0" y="27"/>
                </a:lnTo>
                <a:lnTo>
                  <a:pt x="40" y="13"/>
                </a:lnTo>
                <a:lnTo>
                  <a:pt x="40" y="27"/>
                </a:lnTo>
                <a:lnTo>
                  <a:pt x="0" y="13"/>
                </a:lnTo>
                <a:lnTo>
                  <a:pt x="0" y="0"/>
                </a:lnTo>
                <a:lnTo>
                  <a:pt x="13" y="0"/>
                </a:ln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3913188" y="3230563"/>
            <a:ext cx="20637" cy="22225"/>
          </a:xfrm>
          <a:custGeom>
            <a:rect b="b" l="l" r="r" t="t"/>
            <a:pathLst>
              <a:path extrusionOk="0" h="14" w="13">
                <a:moveTo>
                  <a:pt x="0" y="14"/>
                </a:moveTo>
                <a:lnTo>
                  <a:pt x="0" y="0"/>
                </a:lnTo>
                <a:lnTo>
                  <a:pt x="13" y="0"/>
                </a:lnTo>
                <a:lnTo>
                  <a:pt x="13" y="14"/>
                </a:lnTo>
                <a:lnTo>
                  <a:pt x="0" y="14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913188" y="3209925"/>
            <a:ext cx="63500" cy="42863"/>
          </a:xfrm>
          <a:custGeom>
            <a:rect b="b" l="l" r="r" t="t"/>
            <a:pathLst>
              <a:path extrusionOk="0" h="27" w="40">
                <a:moveTo>
                  <a:pt x="0" y="13"/>
                </a:moveTo>
                <a:lnTo>
                  <a:pt x="0" y="0"/>
                </a:lnTo>
                <a:lnTo>
                  <a:pt x="40" y="13"/>
                </a:lnTo>
                <a:lnTo>
                  <a:pt x="0" y="27"/>
                </a:lnTo>
                <a:lnTo>
                  <a:pt x="0" y="13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509963" y="3865563"/>
            <a:ext cx="1587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895725" y="3865563"/>
            <a:ext cx="1588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505200" y="3230563"/>
            <a:ext cx="385763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3525838" y="2995613"/>
            <a:ext cx="3048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2560638" y="3767138"/>
            <a:ext cx="3746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2628900" y="3201988"/>
            <a:ext cx="1588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7780338" y="3201988"/>
            <a:ext cx="1587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2624138" y="2566988"/>
            <a:ext cx="5151437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2479675" y="2152650"/>
            <a:ext cx="20638" cy="158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2479675" y="2538413"/>
            <a:ext cx="20638" cy="1587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2409825" y="1389063"/>
            <a:ext cx="150813" cy="149225"/>
          </a:xfrm>
          <a:custGeom>
            <a:rect b="b" l="l" r="r" t="t"/>
            <a:pathLst>
              <a:path extrusionOk="0" h="94" w="95">
                <a:moveTo>
                  <a:pt x="81" y="40"/>
                </a:moveTo>
                <a:lnTo>
                  <a:pt x="68" y="13"/>
                </a:lnTo>
                <a:lnTo>
                  <a:pt x="68" y="27"/>
                </a:lnTo>
                <a:lnTo>
                  <a:pt x="41" y="13"/>
                </a:lnTo>
                <a:lnTo>
                  <a:pt x="14" y="27"/>
                </a:lnTo>
                <a:lnTo>
                  <a:pt x="27" y="13"/>
                </a:lnTo>
                <a:lnTo>
                  <a:pt x="14" y="40"/>
                </a:lnTo>
                <a:lnTo>
                  <a:pt x="27" y="67"/>
                </a:lnTo>
                <a:lnTo>
                  <a:pt x="14" y="67"/>
                </a:lnTo>
                <a:lnTo>
                  <a:pt x="41" y="81"/>
                </a:lnTo>
                <a:lnTo>
                  <a:pt x="68" y="67"/>
                </a:lnTo>
                <a:lnTo>
                  <a:pt x="81" y="40"/>
                </a:lnTo>
                <a:lnTo>
                  <a:pt x="95" y="40"/>
                </a:lnTo>
                <a:lnTo>
                  <a:pt x="81" y="67"/>
                </a:lnTo>
                <a:lnTo>
                  <a:pt x="68" y="81"/>
                </a:lnTo>
                <a:lnTo>
                  <a:pt x="41" y="94"/>
                </a:lnTo>
                <a:lnTo>
                  <a:pt x="14" y="81"/>
                </a:lnTo>
                <a:lnTo>
                  <a:pt x="14" y="67"/>
                </a:lnTo>
                <a:lnTo>
                  <a:pt x="0" y="40"/>
                </a:lnTo>
                <a:lnTo>
                  <a:pt x="14" y="13"/>
                </a:lnTo>
                <a:lnTo>
                  <a:pt x="41" y="0"/>
                </a:lnTo>
                <a:lnTo>
                  <a:pt x="68" y="13"/>
                </a:lnTo>
                <a:lnTo>
                  <a:pt x="81" y="13"/>
                </a:lnTo>
                <a:lnTo>
                  <a:pt x="95" y="40"/>
                </a:lnTo>
                <a:lnTo>
                  <a:pt x="81" y="4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2538413" y="1452563"/>
            <a:ext cx="22225" cy="1587"/>
          </a:xfrm>
          <a:custGeom>
            <a:rect b="b" l="l" r="r" t="t"/>
            <a:pathLst>
              <a:path extrusionOk="0" h="1587" w="14">
                <a:moveTo>
                  <a:pt x="0" y="0"/>
                </a:moveTo>
                <a:lnTo>
                  <a:pt x="0" y="0"/>
                </a:lnTo>
                <a:lnTo>
                  <a:pt x="14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1895475" y="2074863"/>
            <a:ext cx="116998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counter = 1</a:t>
            </a:r>
            <a:endParaRPr b="0" i="0" sz="1800" u="none" cap="none" strike="noStrike">
              <a:solidFill>
                <a:schemeClr val="dk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1658938" y="2052638"/>
            <a:ext cx="1652587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3289300" y="2052638"/>
            <a:ext cx="22225" cy="2794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658938" y="2309813"/>
            <a:ext cx="1630362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1658938" y="2052638"/>
            <a:ext cx="20637" cy="25717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7281863" y="3124200"/>
            <a:ext cx="957262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counter++</a:t>
            </a:r>
            <a:endParaRPr b="0" i="0" sz="1800" u="none" cap="none" strike="noStrike">
              <a:solidFill>
                <a:schemeClr val="dk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153275" y="3101975"/>
            <a:ext cx="1223963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8355013" y="3101975"/>
            <a:ext cx="22225" cy="2794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7153275" y="3359150"/>
            <a:ext cx="1201738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7153275" y="3101975"/>
            <a:ext cx="22225" cy="25717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00100" y="1325563"/>
            <a:ext cx="76993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550988" y="1325563"/>
            <a:ext cx="454025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00100" y="1538288"/>
            <a:ext cx="42386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1250950" y="1538288"/>
            <a:ext cx="82708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control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800100" y="1752600"/>
            <a:ext cx="6207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00100" y="3724275"/>
            <a:ext cx="100488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if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852613" y="3724275"/>
            <a:ext cx="3746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800100" y="3938588"/>
            <a:ext cx="42386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250950" y="3938588"/>
            <a:ext cx="827088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control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800100" y="4152900"/>
            <a:ext cx="14478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has been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800100" y="4367213"/>
            <a:ext cx="63976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reached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019550" y="3787775"/>
            <a:ext cx="103505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of loop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4019550" y="4002088"/>
            <a:ext cx="14970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(this may be many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019550" y="4216400"/>
            <a:ext cx="9255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153275" y="3402013"/>
            <a:ext cx="8366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7153275" y="3616325"/>
            <a:ext cx="8763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control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7153275" y="3830638"/>
            <a:ext cx="6207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1749425" y="2473325"/>
            <a:ext cx="1588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143000" y="3724275"/>
            <a:ext cx="22225" cy="20638"/>
          </a:xfrm>
          <a:custGeom>
            <a:rect b="b" l="l" r="r" t="t"/>
            <a:pathLst>
              <a:path extrusionOk="0" h="13" w="14">
                <a:moveTo>
                  <a:pt x="0" y="0"/>
                </a:moveTo>
                <a:lnTo>
                  <a:pt x="0" y="0"/>
                </a:lnTo>
                <a:lnTo>
                  <a:pt x="14" y="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143000" y="3444875"/>
            <a:ext cx="493713" cy="300038"/>
          </a:xfrm>
          <a:custGeom>
            <a:rect b="b" l="l" r="r" t="t"/>
            <a:pathLst>
              <a:path extrusionOk="0" h="189" w="311">
                <a:moveTo>
                  <a:pt x="0" y="176"/>
                </a:moveTo>
                <a:lnTo>
                  <a:pt x="14" y="189"/>
                </a:lnTo>
                <a:lnTo>
                  <a:pt x="311" y="14"/>
                </a:lnTo>
                <a:lnTo>
                  <a:pt x="298" y="0"/>
                </a:lnTo>
                <a:lnTo>
                  <a:pt x="0" y="176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7046913" y="3209925"/>
            <a:ext cx="128587" cy="63500"/>
          </a:xfrm>
          <a:custGeom>
            <a:rect b="b" l="l" r="r" t="t"/>
            <a:pathLst>
              <a:path extrusionOk="0" h="40" w="81">
                <a:moveTo>
                  <a:pt x="0" y="13"/>
                </a:moveTo>
                <a:lnTo>
                  <a:pt x="0" y="0"/>
                </a:lnTo>
                <a:lnTo>
                  <a:pt x="40" y="13"/>
                </a:lnTo>
                <a:lnTo>
                  <a:pt x="81" y="13"/>
                </a:lnTo>
                <a:lnTo>
                  <a:pt x="40" y="27"/>
                </a:lnTo>
                <a:lnTo>
                  <a:pt x="0" y="40"/>
                </a:lnTo>
                <a:lnTo>
                  <a:pt x="0" y="27"/>
                </a:lnTo>
                <a:lnTo>
                  <a:pt x="40" y="13"/>
                </a:lnTo>
                <a:lnTo>
                  <a:pt x="40" y="27"/>
                </a:lnTo>
                <a:lnTo>
                  <a:pt x="0" y="13"/>
                </a:lnTo>
                <a:lnTo>
                  <a:pt x="0" y="0"/>
                </a:lnTo>
                <a:lnTo>
                  <a:pt x="13" y="0"/>
                </a:lnTo>
                <a:lnTo>
                  <a:pt x="13" y="13"/>
                </a:lnTo>
                <a:lnTo>
                  <a:pt x="0" y="13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7046913" y="3230563"/>
            <a:ext cx="20637" cy="22225"/>
          </a:xfrm>
          <a:custGeom>
            <a:rect b="b" l="l" r="r" t="t"/>
            <a:pathLst>
              <a:path extrusionOk="0" h="14" w="13">
                <a:moveTo>
                  <a:pt x="0" y="14"/>
                </a:moveTo>
                <a:lnTo>
                  <a:pt x="0" y="0"/>
                </a:lnTo>
                <a:lnTo>
                  <a:pt x="13" y="0"/>
                </a:lnTo>
                <a:lnTo>
                  <a:pt x="13" y="14"/>
                </a:lnTo>
                <a:lnTo>
                  <a:pt x="0" y="14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7046913" y="3209925"/>
            <a:ext cx="63500" cy="42863"/>
          </a:xfrm>
          <a:custGeom>
            <a:rect b="b" l="l" r="r" t="t"/>
            <a:pathLst>
              <a:path extrusionOk="0" h="27" w="40">
                <a:moveTo>
                  <a:pt x="0" y="13"/>
                </a:moveTo>
                <a:lnTo>
                  <a:pt x="0" y="0"/>
                </a:lnTo>
                <a:lnTo>
                  <a:pt x="40" y="13"/>
                </a:lnTo>
                <a:lnTo>
                  <a:pt x="0" y="27"/>
                </a:lnTo>
                <a:lnTo>
                  <a:pt x="0" y="13"/>
                </a:lnTo>
                <a:close/>
              </a:path>
            </a:pathLst>
          </a:cu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853238" y="3230563"/>
            <a:ext cx="1587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7029450" y="3865563"/>
            <a:ext cx="1588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853238" y="3230563"/>
            <a:ext cx="171450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780338" y="3201988"/>
            <a:ext cx="22225" cy="1587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7780338" y="3736975"/>
            <a:ext cx="22225" cy="1588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7775575" y="2566988"/>
            <a:ext cx="22225" cy="534987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191000" y="3124200"/>
            <a:ext cx="2552700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printf( "%d", counter );</a:t>
            </a:r>
            <a:endParaRPr b="0" i="0" sz="1800" u="none" cap="none" strike="noStrike">
              <a:solidFill>
                <a:schemeClr val="dk1"/>
              </a:solidFill>
              <a:latin typeface="Oi"/>
              <a:ea typeface="Oi"/>
              <a:cs typeface="Oi"/>
              <a:sym typeface="O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019550" y="3101975"/>
            <a:ext cx="2855913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853238" y="3101975"/>
            <a:ext cx="22225" cy="279400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4019550" y="3359150"/>
            <a:ext cx="2833688" cy="2222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019550" y="3101975"/>
            <a:ext cx="22225" cy="257175"/>
          </a:xfrm>
          <a:prstGeom prst="rect">
            <a:avLst/>
          </a:prstGeom>
          <a:blipFill rotWithShape="1">
            <a:blip r:embed="rId4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1"/>
          <p:cNvCxnSpPr/>
          <p:nvPr/>
        </p:nvCxnSpPr>
        <p:spPr>
          <a:xfrm>
            <a:off x="2474913" y="1563688"/>
            <a:ext cx="0" cy="4302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11"/>
          <p:cNvCxnSpPr/>
          <p:nvPr/>
        </p:nvCxnSpPr>
        <p:spPr>
          <a:xfrm>
            <a:off x="2492375" y="2363788"/>
            <a:ext cx="0" cy="403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11"/>
          <p:cNvCxnSpPr/>
          <p:nvPr/>
        </p:nvCxnSpPr>
        <p:spPr>
          <a:xfrm flipH="1" rot="10800000">
            <a:off x="1182688" y="3435350"/>
            <a:ext cx="474662" cy="290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p11"/>
          <p:cNvCxnSpPr/>
          <p:nvPr/>
        </p:nvCxnSpPr>
        <p:spPr>
          <a:xfrm rot="10800000">
            <a:off x="2586038" y="2565400"/>
            <a:ext cx="346075" cy="9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" name="Google Shape;280;p11"/>
          <p:cNvCxnSpPr/>
          <p:nvPr/>
        </p:nvCxnSpPr>
        <p:spPr>
          <a:xfrm>
            <a:off x="2465388" y="3919538"/>
            <a:ext cx="9525" cy="11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" name="Google Shape;28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282" name="Google Shape;28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 txBox="1"/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for(count=1; count&lt;=5; count++)</a:t>
            </a:r>
            <a:br>
              <a:rPr lang="en-US">
                <a:solidFill>
                  <a:schemeClr val="dk2"/>
                </a:solidFill>
              </a:rPr>
            </a:br>
            <a:r>
              <a:rPr lang="en-US">
                <a:solidFill>
                  <a:schemeClr val="dk2"/>
                </a:solidFill>
              </a:rPr>
              <a:t>     printf(“count=%d\n”, count);</a:t>
            </a:r>
            <a:endParaRPr/>
          </a:p>
        </p:txBody>
      </p:sp>
      <p:grpSp>
        <p:nvGrpSpPr>
          <p:cNvPr id="288" name="Google Shape;288;p12"/>
          <p:cNvGrpSpPr/>
          <p:nvPr/>
        </p:nvGrpSpPr>
        <p:grpSpPr>
          <a:xfrm>
            <a:off x="1981200" y="1143000"/>
            <a:ext cx="5029200" cy="4267200"/>
            <a:chOff x="1752600" y="1295400"/>
            <a:chExt cx="5029200" cy="4267200"/>
          </a:xfrm>
        </p:grpSpPr>
        <p:sp>
          <p:nvSpPr>
            <p:cNvPr id="289" name="Google Shape;289;p12"/>
            <p:cNvSpPr/>
            <p:nvPr/>
          </p:nvSpPr>
          <p:spPr>
            <a:xfrm>
              <a:off x="3048000" y="1676400"/>
              <a:ext cx="2895600" cy="5334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count =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2"/>
            <p:cNvSpPr/>
            <p:nvPr/>
          </p:nvSpPr>
          <p:spPr>
            <a:xfrm>
              <a:off x="3505200" y="2895600"/>
              <a:ext cx="1981200" cy="1066800"/>
            </a:xfrm>
            <a:prstGeom prst="diamond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count &lt;=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2"/>
            <p:cNvSpPr/>
            <p:nvPr/>
          </p:nvSpPr>
          <p:spPr>
            <a:xfrm>
              <a:off x="1752600" y="4191000"/>
              <a:ext cx="2819400" cy="5334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printf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2"/>
            <p:cNvSpPr/>
            <p:nvPr/>
          </p:nvSpPr>
          <p:spPr>
            <a:xfrm>
              <a:off x="1752600" y="5029200"/>
              <a:ext cx="2819400" cy="533400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count ++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3" name="Google Shape;293;p12"/>
            <p:cNvCxnSpPr/>
            <p:nvPr/>
          </p:nvCxnSpPr>
          <p:spPr>
            <a:xfrm rot="5400000">
              <a:off x="2952750" y="3638550"/>
              <a:ext cx="762000" cy="342900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94" name="Google Shape;294;p12"/>
            <p:cNvCxnSpPr/>
            <p:nvPr/>
          </p:nvCxnSpPr>
          <p:spPr>
            <a:xfrm>
              <a:off x="3200400" y="4724400"/>
              <a:ext cx="0" cy="3048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5" name="Google Shape;295;p12"/>
            <p:cNvCxnSpPr/>
            <p:nvPr/>
          </p:nvCxnSpPr>
          <p:spPr>
            <a:xfrm flipH="1" rot="-5400000">
              <a:off x="5105400" y="3810000"/>
              <a:ext cx="2057400" cy="1295400"/>
            </a:xfrm>
            <a:prstGeom prst="bentConnector2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96" name="Google Shape;296;p12"/>
            <p:cNvCxnSpPr/>
            <p:nvPr/>
          </p:nvCxnSpPr>
          <p:spPr>
            <a:xfrm>
              <a:off x="4495800" y="1295400"/>
              <a:ext cx="0" cy="381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7" name="Google Shape;297;p12"/>
            <p:cNvSpPr txBox="1"/>
            <p:nvPr/>
          </p:nvSpPr>
          <p:spPr>
            <a:xfrm>
              <a:off x="2286000" y="3200400"/>
              <a:ext cx="709613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2"/>
            <p:cNvSpPr txBox="1"/>
            <p:nvPr/>
          </p:nvSpPr>
          <p:spPr>
            <a:xfrm>
              <a:off x="5794375" y="2895600"/>
              <a:ext cx="8286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false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9" name="Google Shape;299;p12"/>
            <p:cNvCxnSpPr/>
            <p:nvPr/>
          </p:nvCxnSpPr>
          <p:spPr>
            <a:xfrm flipH="1">
              <a:off x="4495094" y="2210594"/>
              <a:ext cx="1500" cy="6858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0" name="Google Shape;300;p12"/>
            <p:cNvCxnSpPr/>
            <p:nvPr/>
          </p:nvCxnSpPr>
          <p:spPr>
            <a:xfrm rot="-5400000">
              <a:off x="2305050" y="3371850"/>
              <a:ext cx="3048000" cy="1333500"/>
            </a:xfrm>
            <a:prstGeom prst="bentConnector5">
              <a:avLst>
                <a:gd fmla="val -17500" name="adj1"/>
                <a:gd fmla="val -157142" name="adj2"/>
                <a:gd fmla="val 90231" name="adj3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1" name="Google Shape;30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302" name="Google Shape;30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ourier New"/>
              <a:buNone/>
            </a:pPr>
            <a:r>
              <a:rPr lang="en-US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>
                <a:solidFill>
                  <a:srgbClr val="17365D"/>
                </a:solidFill>
              </a:rPr>
              <a:t> Example</a:t>
            </a:r>
            <a:endParaRPr/>
          </a:p>
        </p:txBody>
      </p:sp>
      <p:sp>
        <p:nvSpPr>
          <p:cNvPr id="310" name="Google Shape;310;p13"/>
          <p:cNvSpPr txBox="1"/>
          <p:nvPr>
            <p:ph idx="1" type="body"/>
          </p:nvPr>
        </p:nvSpPr>
        <p:spPr>
          <a:xfrm>
            <a:off x="1219200" y="1447800"/>
            <a:ext cx="716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rPr lang="en-US" sz="2800"/>
              <a:t>Use for loop to print the numbers 1 to 5  on the screen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int num;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for (num=1; num&lt;6; num = num+1)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    printf(“%d”,num);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311" name="Google Shape;31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Example</a:t>
            </a:r>
            <a:endParaRPr/>
          </a:p>
        </p:txBody>
      </p:sp>
      <p:sp>
        <p:nvSpPr>
          <p:cNvPr id="319" name="Google Shape;319;p14"/>
          <p:cNvSpPr txBox="1"/>
          <p:nvPr>
            <p:ph idx="1" type="body"/>
          </p:nvPr>
        </p:nvSpPr>
        <p:spPr>
          <a:xfrm>
            <a:off x="228600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09600" lvl="0" marL="609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What will be the output of the following program, also show how values of variables change in the memory.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int sum1, sum2, k;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sum1 = 0;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sum2 = 0;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for( k = 1; k &lt; 5; k++) {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if( k % 2 == 0) 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sum1 =sum1 + k;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else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      sum2 = sum2 + k;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printf(“sum1 is %d\n”, sum1);</a:t>
            </a:r>
            <a:endParaRPr/>
          </a:p>
          <a:p>
            <a:pPr indent="-609600" lvl="0" marL="6096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printf(“sum2 is %d\n”, sum2);</a:t>
            </a:r>
            <a:endParaRPr/>
          </a:p>
        </p:txBody>
      </p:sp>
      <p:graphicFrame>
        <p:nvGraphicFramePr>
          <p:cNvPr id="320" name="Google Shape;320;p14"/>
          <p:cNvGraphicFramePr/>
          <p:nvPr/>
        </p:nvGraphicFramePr>
        <p:xfrm>
          <a:off x="4800600" y="28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{5A952C05-C68E-49FD-93E9-83B47A20C106}</a:tableStyleId>
              </a:tblPr>
              <a:tblGrid>
                <a:gridCol w="3173425"/>
              </a:tblGrid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0  2  6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0  1  4  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ourier New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1  2  3  4 5</a:t>
                      </a:r>
                      <a:endParaRPr b="1"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14"/>
          <p:cNvSpPr txBox="1"/>
          <p:nvPr/>
        </p:nvSpPr>
        <p:spPr>
          <a:xfrm>
            <a:off x="8001000" y="2819400"/>
            <a:ext cx="6667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4953000" y="5181600"/>
            <a:ext cx="3657600" cy="1219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sum1 is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sum2 is 4</a:t>
            </a:r>
            <a:endParaRPr b="0" i="0" sz="24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3" name="Google Shape;3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lang="en-US" sz="4000">
                <a:solidFill>
                  <a:srgbClr val="000099"/>
                </a:solidFill>
              </a:rPr>
              <a:t>Ascending </a:t>
            </a:r>
            <a:r>
              <a:rPr b="1" lang="en-US" sz="4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4000">
                <a:solidFill>
                  <a:srgbClr val="000099"/>
                </a:solidFill>
              </a:rPr>
              <a:t> </a:t>
            </a:r>
            <a:br>
              <a:rPr lang="en-US" sz="4000">
                <a:solidFill>
                  <a:srgbClr val="000099"/>
                </a:solidFill>
              </a:rPr>
            </a:br>
            <a:r>
              <a:rPr lang="en-US" sz="4000">
                <a:solidFill>
                  <a:srgbClr val="000099"/>
                </a:solidFill>
              </a:rPr>
              <a:t>use &lt;=,++</a:t>
            </a: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1524000" y="1447800"/>
            <a:ext cx="3276600" cy="533400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 = init_value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1524000" y="2667000"/>
            <a:ext cx="3276600" cy="1066800"/>
          </a:xfrm>
          <a:prstGeom prst="diamond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&lt;= limit_value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381000" y="3962400"/>
            <a:ext cx="2819400" cy="5334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81000" y="4800600"/>
            <a:ext cx="2819400" cy="5334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 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15"/>
          <p:cNvCxnSpPr/>
          <p:nvPr/>
        </p:nvCxnSpPr>
        <p:spPr>
          <a:xfrm flipH="1" rot="-5400000">
            <a:off x="1276350" y="3448050"/>
            <a:ext cx="762000" cy="2667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4" name="Google Shape;334;p15"/>
          <p:cNvCxnSpPr/>
          <p:nvPr/>
        </p:nvCxnSpPr>
        <p:spPr>
          <a:xfrm>
            <a:off x="1828800" y="4495800"/>
            <a:ext cx="0" cy="30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15"/>
          <p:cNvCxnSpPr/>
          <p:nvPr/>
        </p:nvCxnSpPr>
        <p:spPr>
          <a:xfrm flipH="1" rot="-5400000">
            <a:off x="4305300" y="3695700"/>
            <a:ext cx="1219200" cy="228600"/>
          </a:xfrm>
          <a:prstGeom prst="bentConnector3">
            <a:avLst>
              <a:gd fmla="val 5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6" name="Google Shape;336;p15"/>
          <p:cNvCxnSpPr/>
          <p:nvPr/>
        </p:nvCxnSpPr>
        <p:spPr>
          <a:xfrm>
            <a:off x="3124200" y="1066800"/>
            <a:ext cx="0" cy="3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" name="Google Shape;337;p15"/>
          <p:cNvSpPr txBox="1"/>
          <p:nvPr/>
        </p:nvSpPr>
        <p:spPr>
          <a:xfrm>
            <a:off x="990600" y="2743200"/>
            <a:ext cx="7096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4727575" y="2743200"/>
            <a:ext cx="828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5"/>
          <p:cNvCxnSpPr/>
          <p:nvPr/>
        </p:nvCxnSpPr>
        <p:spPr>
          <a:xfrm flipH="1">
            <a:off x="3160589" y="1982788"/>
            <a:ext cx="3300" cy="68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0" name="Google Shape;340;p15"/>
          <p:cNvCxnSpPr/>
          <p:nvPr/>
        </p:nvCxnSpPr>
        <p:spPr>
          <a:xfrm rot="-5400000">
            <a:off x="895350" y="3105150"/>
            <a:ext cx="3124200" cy="1333500"/>
          </a:xfrm>
          <a:prstGeom prst="bentConnector5">
            <a:avLst>
              <a:gd fmla="val -7315" name="adj1"/>
              <a:gd fmla="val -122856" name="adj2"/>
              <a:gd fmla="val 100097" name="adj3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1" name="Google Shape;341;p15"/>
          <p:cNvSpPr txBox="1"/>
          <p:nvPr/>
        </p:nvSpPr>
        <p:spPr>
          <a:xfrm>
            <a:off x="2438400" y="5638800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(var=init_value; var &lt;=limit_value;  var++)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statement;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343" name="Google Shape;3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 txBox="1"/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lang="en-US" sz="4000">
                <a:solidFill>
                  <a:srgbClr val="000099"/>
                </a:solidFill>
              </a:rPr>
              <a:t>Descending </a:t>
            </a:r>
            <a:r>
              <a:rPr b="1" lang="en-US" sz="4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br>
              <a:rPr lang="en-US" sz="4000">
                <a:solidFill>
                  <a:srgbClr val="000099"/>
                </a:solidFill>
              </a:rPr>
            </a:br>
            <a:r>
              <a:rPr lang="en-US" sz="4000">
                <a:solidFill>
                  <a:srgbClr val="000099"/>
                </a:solidFill>
              </a:rPr>
              <a:t>use &gt;=,--</a:t>
            </a:r>
            <a:br>
              <a:rPr lang="en-US" sz="4000">
                <a:solidFill>
                  <a:srgbClr val="4F6128"/>
                </a:solidFill>
              </a:rPr>
            </a:br>
            <a:endParaRPr sz="4000">
              <a:solidFill>
                <a:srgbClr val="4F6128"/>
              </a:solidFill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1524000" y="1524000"/>
            <a:ext cx="3276600" cy="5334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 = init_value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524000" y="2743200"/>
            <a:ext cx="3276600" cy="1066800"/>
          </a:xfrm>
          <a:prstGeom prst="diamond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 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&gt;= limit_value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381000" y="4038600"/>
            <a:ext cx="2819400" cy="5334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381000" y="4876800"/>
            <a:ext cx="2819400" cy="5334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 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6"/>
          <p:cNvCxnSpPr/>
          <p:nvPr/>
        </p:nvCxnSpPr>
        <p:spPr>
          <a:xfrm flipH="1" rot="-5400000">
            <a:off x="1276350" y="3524250"/>
            <a:ext cx="762000" cy="266700"/>
          </a:xfrm>
          <a:prstGeom prst="bentConnector4">
            <a:avLst>
              <a:gd fmla="val 0" name="adj1"/>
              <a:gd fmla="val 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4" name="Google Shape;354;p16"/>
          <p:cNvCxnSpPr/>
          <p:nvPr/>
        </p:nvCxnSpPr>
        <p:spPr>
          <a:xfrm>
            <a:off x="1828800" y="4572000"/>
            <a:ext cx="0" cy="30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5" name="Google Shape;355;p16"/>
          <p:cNvCxnSpPr/>
          <p:nvPr/>
        </p:nvCxnSpPr>
        <p:spPr>
          <a:xfrm flipH="1" rot="-5400000">
            <a:off x="4457700" y="3619500"/>
            <a:ext cx="990600" cy="304800"/>
          </a:xfrm>
          <a:prstGeom prst="bentConnector2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6" name="Google Shape;356;p16"/>
          <p:cNvCxnSpPr/>
          <p:nvPr/>
        </p:nvCxnSpPr>
        <p:spPr>
          <a:xfrm>
            <a:off x="3124200" y="1371600"/>
            <a:ext cx="0" cy="15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" name="Google Shape;357;p16"/>
          <p:cNvSpPr txBox="1"/>
          <p:nvPr/>
        </p:nvSpPr>
        <p:spPr>
          <a:xfrm>
            <a:off x="990600" y="2819400"/>
            <a:ext cx="7096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6"/>
          <p:cNvSpPr txBox="1"/>
          <p:nvPr/>
        </p:nvSpPr>
        <p:spPr>
          <a:xfrm>
            <a:off x="4727575" y="2819400"/>
            <a:ext cx="8286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16"/>
          <p:cNvCxnSpPr/>
          <p:nvPr/>
        </p:nvCxnSpPr>
        <p:spPr>
          <a:xfrm flipH="1">
            <a:off x="3160589" y="2058988"/>
            <a:ext cx="3300" cy="68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0" name="Google Shape;360;p16"/>
          <p:cNvCxnSpPr/>
          <p:nvPr/>
        </p:nvCxnSpPr>
        <p:spPr>
          <a:xfrm rot="-5400000">
            <a:off x="933450" y="3143250"/>
            <a:ext cx="3124200" cy="1409700"/>
          </a:xfrm>
          <a:prstGeom prst="bentConnector5">
            <a:avLst>
              <a:gd fmla="val -7315" name="adj1"/>
              <a:gd fmla="val -116218" name="adj2"/>
              <a:gd fmla="val 99806" name="adj3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1" name="Google Shape;361;p16"/>
          <p:cNvSpPr txBox="1"/>
          <p:nvPr/>
        </p:nvSpPr>
        <p:spPr>
          <a:xfrm>
            <a:off x="2743200" y="5562600"/>
            <a:ext cx="5943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(var=init_value; var &gt;=limit_value; var--)         statement;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363" name="Google Shape;36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0" name="Google Shape;37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ourier New"/>
              <a:buNone/>
            </a:pPr>
            <a:r>
              <a:rPr lang="en-US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>
                <a:solidFill>
                  <a:srgbClr val="17365D"/>
                </a:solidFill>
              </a:rPr>
              <a:t> Example</a:t>
            </a:r>
            <a:endParaRPr/>
          </a:p>
        </p:txBody>
      </p:sp>
      <p:sp>
        <p:nvSpPr>
          <p:cNvPr id="371" name="Google Shape;371;p17"/>
          <p:cNvSpPr txBox="1"/>
          <p:nvPr>
            <p:ph idx="1" type="body"/>
          </p:nvPr>
        </p:nvSpPr>
        <p:spPr>
          <a:xfrm>
            <a:off x="762000" y="1447800"/>
            <a:ext cx="7696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If the test is false to begin with, the loop will not execute even once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To repeat several statements, use a block of code as the target of the loop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loop-control variable can be incremented or decremented by more than one.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0099"/>
              </a:solidFill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0099"/>
              </a:solidFill>
            </a:endParaRPr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72" name="Google Shape;3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ourier New"/>
              <a:buNone/>
            </a:pPr>
            <a:r>
              <a:rPr lang="en-US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>
                <a:solidFill>
                  <a:srgbClr val="17365D"/>
                </a:solidFill>
              </a:rPr>
              <a:t> Example</a:t>
            </a:r>
            <a:endParaRPr/>
          </a:p>
        </p:txBody>
      </p:sp>
      <p:sp>
        <p:nvSpPr>
          <p:cNvPr id="380" name="Google Shape;380;p18"/>
          <p:cNvSpPr txBox="1"/>
          <p:nvPr>
            <p:ph idx="1" type="body"/>
          </p:nvPr>
        </p:nvSpPr>
        <p:spPr>
          <a:xfrm>
            <a:off x="1219200" y="1447800"/>
            <a:ext cx="7162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int num;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/*this loop will not execute*/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for (num=6; num&lt;6; num = num+1)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    printf(“%d”,num);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381" name="Google Shape;38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ourier New"/>
              <a:buNone/>
            </a:pPr>
            <a:r>
              <a:rPr lang="en-US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>
                <a:solidFill>
                  <a:srgbClr val="17365D"/>
                </a:solidFill>
              </a:rPr>
              <a:t> Example</a:t>
            </a:r>
            <a:endParaRPr/>
          </a:p>
        </p:txBody>
      </p:sp>
      <p:sp>
        <p:nvSpPr>
          <p:cNvPr id="389" name="Google Shape;389;p19"/>
          <p:cNvSpPr txBox="1"/>
          <p:nvPr>
            <p:ph idx="1" type="body"/>
          </p:nvPr>
        </p:nvSpPr>
        <p:spPr>
          <a:xfrm>
            <a:off x="685800" y="1447800"/>
            <a:ext cx="7924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/>
              <a:t>Compute the product and sum of the numbers from 1 to 5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int num, sum=0, prod=1;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for (num=1; num&lt;6; num=num+1){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	  sum = sum + num;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	     prod = prod * num;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printf(“%d %d”, prod, sum);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1" lang="en-US" sz="24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390" name="Google Shape;39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1676400" y="2438400"/>
            <a:ext cx="914400" cy="304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8" name="Google Shape;39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libri"/>
              <a:buNone/>
            </a:pPr>
            <a:r>
              <a:rPr lang="en-US">
                <a:solidFill>
                  <a:schemeClr val="dk2"/>
                </a:solidFill>
              </a:rPr>
              <a:t>Examples</a:t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2819400" y="2362200"/>
            <a:ext cx="914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1981200" y="2743200"/>
            <a:ext cx="21336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3886200" y="2362200"/>
            <a:ext cx="7620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2819400" y="2362200"/>
            <a:ext cx="914400" cy="381000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1981200" y="2743200"/>
            <a:ext cx="2133600" cy="457200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4" name="Google Shape;404;p20"/>
          <p:cNvSpPr/>
          <p:nvPr/>
        </p:nvSpPr>
        <p:spPr>
          <a:xfrm>
            <a:off x="3886200" y="2362200"/>
            <a:ext cx="762000" cy="381000"/>
          </a:xfrm>
          <a:prstGeom prst="rect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5" name="Google Shape;405;p20"/>
          <p:cNvSpPr/>
          <p:nvPr/>
        </p:nvSpPr>
        <p:spPr>
          <a:xfrm>
            <a:off x="2819400" y="2362200"/>
            <a:ext cx="914400" cy="381000"/>
          </a:xfrm>
          <a:prstGeom prst="rect">
            <a:avLst/>
          </a:prstGeom>
          <a:solidFill>
            <a:srgbClr val="00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6" name="Google Shape;406;p20"/>
          <p:cNvSpPr/>
          <p:nvPr/>
        </p:nvSpPr>
        <p:spPr>
          <a:xfrm>
            <a:off x="1981200" y="2743200"/>
            <a:ext cx="2133600" cy="457200"/>
          </a:xfrm>
          <a:prstGeom prst="rect">
            <a:avLst/>
          </a:prstGeom>
          <a:solidFill>
            <a:srgbClr val="00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3886200" y="2362200"/>
            <a:ext cx="762000" cy="381000"/>
          </a:xfrm>
          <a:prstGeom prst="rect">
            <a:avLst/>
          </a:prstGeom>
          <a:solidFill>
            <a:srgbClr val="0066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2819400" y="2362200"/>
            <a:ext cx="914400" cy="3810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1143000" y="1752600"/>
            <a:ext cx="7239000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6666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sum =0;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 int i=1 ;  i &lt; 7    ;  i+=2 )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sum = sum +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5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5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fact =1;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for(int n=5;n&gt;1;n--)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fact = fact * 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5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20"/>
          <p:cNvSpPr/>
          <p:nvPr/>
        </p:nvSpPr>
        <p:spPr>
          <a:xfrm>
            <a:off x="1295400" y="3505200"/>
            <a:ext cx="1600200" cy="228600"/>
          </a:xfrm>
          <a:prstGeom prst="rect">
            <a:avLst/>
          </a:prstGeom>
          <a:solidFill>
            <a:srgbClr val="FF00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graphicFrame>
        <p:nvGraphicFramePr>
          <p:cNvPr id="411" name="Google Shape;411;p20"/>
          <p:cNvGraphicFramePr/>
          <p:nvPr/>
        </p:nvGraphicFramePr>
        <p:xfrm>
          <a:off x="5638800" y="243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{5A952C05-C68E-49FD-93E9-83B47A20C106}</a:tableStyleId>
              </a:tblPr>
              <a:tblGrid>
                <a:gridCol w="2209800"/>
              </a:tblGrid>
              <a:tr h="838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?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680"/>
                        <a:buFont typeface="Noto Sans Symbols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20"/>
          <p:cNvSpPr txBox="1"/>
          <p:nvPr/>
        </p:nvSpPr>
        <p:spPr>
          <a:xfrm>
            <a:off x="7848600" y="2590800"/>
            <a:ext cx="1066800" cy="3725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sum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5791200" y="259080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5867400" y="335280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6096000" y="251460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6324600" y="335280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6400800" y="259080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7010400" y="342900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0"/>
          <p:cNvSpPr txBox="1"/>
          <p:nvPr/>
        </p:nvSpPr>
        <p:spPr>
          <a:xfrm>
            <a:off x="6934200" y="2590800"/>
            <a:ext cx="685800" cy="519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20"/>
          <p:cNvCxnSpPr/>
          <p:nvPr/>
        </p:nvCxnSpPr>
        <p:spPr>
          <a:xfrm flipH="1" rot="10800000">
            <a:off x="5562600" y="3352800"/>
            <a:ext cx="457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20"/>
          <p:cNvCxnSpPr/>
          <p:nvPr/>
        </p:nvCxnSpPr>
        <p:spPr>
          <a:xfrm flipH="1" rot="10800000">
            <a:off x="6019800" y="3429000"/>
            <a:ext cx="457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20"/>
          <p:cNvCxnSpPr/>
          <p:nvPr/>
        </p:nvCxnSpPr>
        <p:spPr>
          <a:xfrm flipH="1" rot="10800000">
            <a:off x="6477000" y="2590800"/>
            <a:ext cx="457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20"/>
          <p:cNvCxnSpPr/>
          <p:nvPr/>
        </p:nvCxnSpPr>
        <p:spPr>
          <a:xfrm flipH="1" rot="10800000">
            <a:off x="6248400" y="2514600"/>
            <a:ext cx="457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20"/>
          <p:cNvCxnSpPr/>
          <p:nvPr/>
        </p:nvCxnSpPr>
        <p:spPr>
          <a:xfrm flipH="1" rot="10800000">
            <a:off x="5867400" y="2590800"/>
            <a:ext cx="457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20"/>
          <p:cNvCxnSpPr/>
          <p:nvPr/>
        </p:nvCxnSpPr>
        <p:spPr>
          <a:xfrm flipH="1" rot="10800000">
            <a:off x="5562600" y="2438400"/>
            <a:ext cx="457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20"/>
          <p:cNvCxnSpPr/>
          <p:nvPr/>
        </p:nvCxnSpPr>
        <p:spPr>
          <a:xfrm flipH="1" rot="10800000">
            <a:off x="6477000" y="3352800"/>
            <a:ext cx="4572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7" name="Google Shape;42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ourier New"/>
              <a:buNone/>
            </a:pPr>
            <a:r>
              <a:rPr lang="en-US">
                <a:solidFill>
                  <a:srgbClr val="17365D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>
                <a:solidFill>
                  <a:srgbClr val="17365D"/>
                </a:solidFill>
              </a:rPr>
              <a:t> Example</a:t>
            </a:r>
            <a:endParaRPr/>
          </a:p>
        </p:txBody>
      </p:sp>
      <p:sp>
        <p:nvSpPr>
          <p:cNvPr id="435" name="Google Shape;435;p21"/>
          <p:cNvSpPr txBox="1"/>
          <p:nvPr>
            <p:ph idx="1" type="body"/>
          </p:nvPr>
        </p:nvSpPr>
        <p:spPr>
          <a:xfrm>
            <a:off x="762000" y="1371600"/>
            <a:ext cx="7620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#include &lt;stdio.h&gt;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#define PI 3.141593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int main()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int degrees;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double radians;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sz="2000">
              <a:solidFill>
                <a:srgbClr val="000099"/>
              </a:solidFill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printf("Degrees to Radians \n");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for (degrees=0; degrees&lt;=360; degrees+=10)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   radians = degrees*PI/180;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   printf("%d %lf \n", degrees, radians);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   return 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000099"/>
                </a:solidFill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36" name="Google Shape;43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/>
              <a:t> loop variations</a:t>
            </a:r>
            <a:endParaRPr/>
          </a:p>
        </p:txBody>
      </p:sp>
      <p:sp>
        <p:nvSpPr>
          <p:cNvPr id="442" name="Google Shape;442;p22"/>
          <p:cNvSpPr txBox="1"/>
          <p:nvPr>
            <p:ph idx="1" type="body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There does not need to be a loop-control-variable, the </a:t>
            </a:r>
            <a:r>
              <a:rPr lang="en-US" sz="2200">
                <a:solidFill>
                  <a:srgbClr val="000099"/>
                </a:solidFill>
              </a:rPr>
              <a:t>conditional expression </a:t>
            </a:r>
            <a:r>
              <a:rPr lang="en-US" sz="2200"/>
              <a:t>may use some other means of stopping the loop</a:t>
            </a:r>
            <a:endParaRPr b="1" sz="2200">
              <a:solidFill>
                <a:srgbClr val="000099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Example: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char ch = ‘a’;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for( i=0; ch!=‘q’ ; i++){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statements;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scanf(“%c”,&amp;ch);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None/>
            </a:pPr>
            <a:r>
              <a:rPr b="1" lang="en-US" sz="20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43" name="Google Shape;44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444" name="Google Shape;44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/>
              <a:t> loop variations</a:t>
            </a:r>
            <a:endParaRPr/>
          </a:p>
        </p:txBody>
      </p:sp>
      <p:sp>
        <p:nvSpPr>
          <p:cNvPr id="450" name="Google Shape;450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00"/>
              <a:t>It is possible to leave an expression in a loop empty</a:t>
            </a:r>
            <a:endParaRPr b="1" sz="3000">
              <a:solidFill>
                <a:srgbClr val="000099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Example: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0000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printf(“enter an integer”);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scanf(“%d”,&amp;i);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for( ; i ; i--)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   printf(“%d ”,i);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51" name="Google Shape;45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452" name="Google Shape;45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/>
              <a:t> loop variations</a:t>
            </a:r>
            <a:endParaRPr/>
          </a:p>
        </p:txBody>
      </p:sp>
      <p:sp>
        <p:nvSpPr>
          <p:cNvPr id="458" name="Google Shape;458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target of for loop may be empty.</a:t>
            </a:r>
            <a:endParaRPr b="1" sz="2800">
              <a:solidFill>
                <a:srgbClr val="000099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Example: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b="1" lang="en-US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b="1" lang="en-US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b="1" lang="en-US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char ch;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b="1" lang="en-US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for(scanf(“%c”,&amp;ch);ch!=‘q’;scanf(“%c”,&amp;ch));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b="1" lang="en-US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printf(“Found the q”);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b="1" lang="en-US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None/>
            </a:pPr>
            <a:r>
              <a:rPr b="1" lang="en-US" sz="22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59" name="Google Shape;4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460" name="Google Shape;4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/>
              <a:t> loop variations</a:t>
            </a:r>
            <a:endParaRPr/>
          </a:p>
        </p:txBody>
      </p:sp>
      <p:sp>
        <p:nvSpPr>
          <p:cNvPr id="466" name="Google Shape;466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It is possible to create a loop that never stops. It is usually called </a:t>
            </a:r>
            <a:r>
              <a:rPr b="1" lang="en-US" sz="2800">
                <a:solidFill>
                  <a:srgbClr val="000099"/>
                </a:solidFill>
              </a:rPr>
              <a:t>infinite loop.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Use for construct: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None/>
            </a:pPr>
            <a:r>
              <a:rPr b="1" lang="en-US">
                <a:solidFill>
                  <a:srgbClr val="000099"/>
                </a:solidFill>
              </a:rPr>
              <a:t>for( ; ; 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None/>
            </a:pPr>
            <a:r>
              <a:rPr b="1" lang="en-US">
                <a:solidFill>
                  <a:srgbClr val="000099"/>
                </a:solidFill>
              </a:rPr>
              <a:t>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000099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None/>
            </a:pPr>
            <a:r>
              <a:rPr b="1" lang="en-US">
                <a:solidFill>
                  <a:srgbClr val="000099"/>
                </a:solidFill>
              </a:rPr>
              <a:t>}</a:t>
            </a:r>
            <a:endParaRPr b="1">
              <a:solidFill>
                <a:srgbClr val="000099"/>
              </a:solidFill>
            </a:endParaRPr>
          </a:p>
        </p:txBody>
      </p:sp>
      <p:sp>
        <p:nvSpPr>
          <p:cNvPr id="467" name="Google Shape;46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468" name="Google Shape;46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urier New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/>
              <a:t> loop variations</a:t>
            </a:r>
            <a:endParaRPr/>
          </a:p>
        </p:txBody>
      </p:sp>
      <p:sp>
        <p:nvSpPr>
          <p:cNvPr id="474" name="Google Shape;474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It is valid for the loop-control variable to be altered outside the increment section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800"/>
              <a:t>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#include&lt;stdio.h&gt;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for(i=0; i&lt;10;  ){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printf(“%d ”,i);</a:t>
            </a:r>
            <a:endParaRPr/>
          </a:p>
          <a:p>
            <a:pPr indent="-228600" lvl="3" marL="16002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i++;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return 0;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rgbClr val="000099"/>
              </a:buClr>
              <a:buSzPct val="100000"/>
              <a:buNone/>
            </a:pPr>
            <a:r>
              <a:rPr b="1" lang="en-US" sz="2600">
                <a:solidFill>
                  <a:srgbClr val="0000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75" name="Google Shape;47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476" name="Google Shape;47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2" name="Google Shape;482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	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			Thank you</a:t>
            </a:r>
            <a:endParaRPr/>
          </a:p>
        </p:txBody>
      </p:sp>
      <p:sp>
        <p:nvSpPr>
          <p:cNvPr id="483" name="Google Shape;48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Farhana Akter Suci, Lecturer, Dept. of CSE</a:t>
            </a:r>
            <a:endParaRPr/>
          </a:p>
        </p:txBody>
      </p:sp>
      <p:sp>
        <p:nvSpPr>
          <p:cNvPr id="484" name="Google Shape;48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Naila</dc:creator>
</cp:coreProperties>
</file>