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9" r:id="rId3"/>
    <p:sldId id="300" r:id="rId4"/>
    <p:sldId id="304" r:id="rId5"/>
    <p:sldId id="307" r:id="rId6"/>
    <p:sldId id="301" r:id="rId7"/>
    <p:sldId id="302" r:id="rId8"/>
    <p:sldId id="260" r:id="rId9"/>
    <p:sldId id="312" r:id="rId10"/>
    <p:sldId id="313" r:id="rId11"/>
    <p:sldId id="314" r:id="rId12"/>
    <p:sldId id="308" r:id="rId13"/>
    <p:sldId id="309" r:id="rId14"/>
    <p:sldId id="310" r:id="rId15"/>
    <p:sldId id="311" r:id="rId16"/>
    <p:sldId id="315" r:id="rId17"/>
    <p:sldId id="316" r:id="rId18"/>
    <p:sldId id="317" r:id="rId19"/>
    <p:sldId id="318" r:id="rId20"/>
    <p:sldId id="319" r:id="rId21"/>
    <p:sldId id="261" r:id="rId22"/>
    <p:sldId id="262" r:id="rId23"/>
    <p:sldId id="263" r:id="rId24"/>
    <p:sldId id="264" r:id="rId25"/>
    <p:sldId id="265" r:id="rId26"/>
    <p:sldId id="266" r:id="rId27"/>
    <p:sldId id="274" r:id="rId28"/>
    <p:sldId id="275" r:id="rId29"/>
    <p:sldId id="283" r:id="rId30"/>
    <p:sldId id="284" r:id="rId31"/>
    <p:sldId id="285" r:id="rId32"/>
    <p:sldId id="287" r:id="rId33"/>
    <p:sldId id="286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320" r:id="rId42"/>
    <p:sldId id="321" r:id="rId43"/>
    <p:sldId id="322" r:id="rId44"/>
    <p:sldId id="323" r:id="rId45"/>
    <p:sldId id="324" r:id="rId46"/>
    <p:sldId id="329" r:id="rId47"/>
    <p:sldId id="328" r:id="rId48"/>
    <p:sldId id="325" r:id="rId49"/>
    <p:sldId id="326" r:id="rId50"/>
    <p:sldId id="327" r:id="rId51"/>
    <p:sldId id="330" r:id="rId52"/>
    <p:sldId id="257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9" autoAdjust="0"/>
    <p:restoredTop sz="94671" autoAdjust="0"/>
  </p:normalViewPr>
  <p:slideViewPr>
    <p:cSldViewPr>
      <p:cViewPr varScale="1">
        <p:scale>
          <a:sx n="69" d="100"/>
          <a:sy n="69" d="100"/>
        </p:scale>
        <p:origin x="12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35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9AB75-8EDB-4CAE-85F0-8A7931A11019}" type="datetimeFigureOut">
              <a:rPr lang="en-US" smtClean="0"/>
              <a:pPr/>
              <a:t>29-Aug-23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240EE-7B76-4F52-8784-8639329E8F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87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13BE1E-B668-462B-AB73-D0806BC2ECA0}" type="slidenum">
              <a:rPr lang="en-CA" altLang="en-US" smtClean="0"/>
              <a:pPr>
                <a:defRPr/>
              </a:pPr>
              <a:t>44</a:t>
            </a:fld>
            <a:endParaRPr lang="en-CA" alt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49211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E6477C-CB9B-470E-9642-036235809399}" type="slidenum">
              <a:rPr lang="en-CA" altLang="en-US" smtClean="0"/>
              <a:pPr>
                <a:defRPr/>
              </a:pPr>
              <a:t>45</a:t>
            </a:fld>
            <a:endParaRPr lang="en-CA" altLang="en-US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68389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F75AA7-C09C-4ECC-BBE6-EC73BFD06C54}" type="slidenum">
              <a:rPr lang="en-CA" altLang="en-US" smtClean="0"/>
              <a:pPr>
                <a:defRPr/>
              </a:pPr>
              <a:t>46</a:t>
            </a:fld>
            <a:endParaRPr lang="en-CA" altLang="en-US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68772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2434B3-D783-4966-8451-CEAB572BF369}" type="slidenum">
              <a:rPr lang="en-CA" altLang="en-US" smtClean="0"/>
              <a:pPr>
                <a:defRPr/>
              </a:pPr>
              <a:t>47</a:t>
            </a:fld>
            <a:endParaRPr lang="en-CA" altLang="en-US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10963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241500-DC62-4254-9F84-ECD8677B4383}" type="slidenum">
              <a:rPr lang="en-CA" altLang="en-US" smtClean="0"/>
              <a:pPr>
                <a:defRPr/>
              </a:pPr>
              <a:t>48</a:t>
            </a:fld>
            <a:endParaRPr lang="en-CA" alt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30075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3067E0-0831-4DC3-9BFE-5E704A77C243}" type="slidenum">
              <a:rPr lang="en-CA" altLang="en-US" smtClean="0"/>
              <a:pPr>
                <a:defRPr/>
              </a:pPr>
              <a:t>49</a:t>
            </a:fld>
            <a:endParaRPr lang="en-CA" altLang="en-US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3108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044506-9002-4E08-9E93-1373783BD210}" type="slidenum">
              <a:rPr lang="en-CA" altLang="en-US" smtClean="0"/>
              <a:pPr>
                <a:defRPr/>
              </a:pPr>
              <a:t>50</a:t>
            </a:fld>
            <a:endParaRPr lang="en-CA" altLang="en-US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79393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621B36-7832-4CAB-A02C-7770C14804A9}" type="slidenum">
              <a:rPr lang="en-CA" altLang="en-US" smtClean="0"/>
              <a:pPr>
                <a:defRPr/>
              </a:pPr>
              <a:t>51</a:t>
            </a:fld>
            <a:endParaRPr lang="en-CA" altLang="en-US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6888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659A9-4B16-434F-BDE3-AF153309EFD2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2AAFF-A56F-4BC7-B5C4-8B7C91F6C122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76449-C1F1-4FDC-9BD7-60F9ACA18CD4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D6C6-2B37-405F-B6CE-B57B6A117AB4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743A-77BF-41E4-AA5D-223800095FF5}" type="datetime1">
              <a:rPr lang="en-US" smtClean="0"/>
              <a:t>29-Aug-23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F28FF-364C-49D4-84E4-49870A5097B5}" type="datetime1">
              <a:rPr lang="en-US" smtClean="0"/>
              <a:t>29-Aug-23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F71B-5C85-4F8A-A8CD-6F0BD9D343BC}" type="datetime1">
              <a:rPr lang="en-US" smtClean="0"/>
              <a:t>29-Aug-23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1391-E8A1-480B-9A65-42B7054F8B61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7916-BDBF-4893-B1E8-DD8B7DC86511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67322-2209-4FD2-B78E-F9039DCFADE0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F40B7-B6FB-45BF-BF05-34EC568D2366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756A4-CB2D-4CDC-AB61-CAA2B4FC3A53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 w="19050">
            <a:solidFill>
              <a:srgbClr val="0070C0"/>
            </a:solidFill>
          </a:ln>
        </p:spPr>
        <p:txBody>
          <a:bodyPr/>
          <a:lstStyle/>
          <a:p>
            <a:r>
              <a:rPr lang="en-US" dirty="0" smtClean="0"/>
              <a:t>Lecture </a:t>
            </a:r>
            <a:r>
              <a:rPr lang="en-US" dirty="0"/>
              <a:t>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CSE0613101: </a:t>
            </a:r>
            <a:r>
              <a:rPr lang="en-US" dirty="0" smtClean="0"/>
              <a:t>Structured Programming Language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7" y="384440"/>
            <a:ext cx="3082273" cy="146716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/>
          </a:bodyPr>
          <a:lstStyle/>
          <a:p>
            <a:r>
              <a:rPr lang="en-US" sz="3000" dirty="0" smtClean="0"/>
              <a:t>A </a:t>
            </a:r>
            <a:r>
              <a:rPr lang="en-US" sz="3000" dirty="0" smtClean="0">
                <a:solidFill>
                  <a:srgbClr val="000099"/>
                </a:solidFill>
              </a:rPr>
              <a:t>function </a:t>
            </a:r>
            <a:r>
              <a:rPr lang="en-US" sz="3000" dirty="0" smtClean="0"/>
              <a:t>is a series of statements that have been grouped together and given a name.</a:t>
            </a:r>
          </a:p>
          <a:p>
            <a:r>
              <a:rPr lang="en-US" sz="3000" dirty="0" smtClean="0"/>
              <a:t>Every C program has at least one function, which is</a:t>
            </a:r>
            <a:r>
              <a:rPr lang="en-US" sz="3000" dirty="0" smtClean="0">
                <a:solidFill>
                  <a:srgbClr val="000099"/>
                </a:solidFill>
              </a:rPr>
              <a:t> main()</a:t>
            </a:r>
          </a:p>
          <a:p>
            <a:r>
              <a:rPr lang="en-US" sz="3000" dirty="0" smtClean="0"/>
              <a:t>Advantages of functions:</a:t>
            </a:r>
          </a:p>
          <a:p>
            <a:pPr lvl="1"/>
            <a:r>
              <a:rPr lang="en-US" sz="2600" dirty="0" smtClean="0"/>
              <a:t>A program can be divided into small pieces that are easier to understand and modify.</a:t>
            </a:r>
          </a:p>
          <a:p>
            <a:pPr lvl="1"/>
            <a:r>
              <a:rPr lang="en-US" sz="2600" dirty="0" smtClean="0"/>
              <a:t>We can avoid duplicating code that’s used more than once.</a:t>
            </a:r>
          </a:p>
          <a:p>
            <a:pPr lvl="1"/>
            <a:r>
              <a:rPr lang="en-US" sz="2600" dirty="0" smtClean="0"/>
              <a:t>A function that was originally part of one program can be reused in other programs.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7922C9-12AF-48F1-94F0-AA58694132B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Function Definitions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z="2800" dirty="0" smtClean="0"/>
              <a:t>General form of a </a:t>
            </a:r>
            <a:r>
              <a:rPr lang="en-US" sz="2800" b="1" i="1" dirty="0" smtClean="0">
                <a:solidFill>
                  <a:srgbClr val="000099"/>
                </a:solidFill>
              </a:rPr>
              <a:t>function definition</a:t>
            </a:r>
            <a:r>
              <a:rPr lang="en-US" sz="2800" b="1" i="1" dirty="0" smtClean="0"/>
              <a:t>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return-type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function-name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( </a:t>
            </a:r>
            <a:r>
              <a:rPr lang="en-US" sz="2400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parameters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2400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declarations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2400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statements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endParaRPr lang="en-US" sz="2400" dirty="0" smtClean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sz="2800" dirty="0" smtClean="0"/>
              <a:t>Until now, we have seen programs including only one function </a:t>
            </a:r>
            <a:r>
              <a:rPr lang="en-US" sz="2800" dirty="0" smtClean="0">
                <a:solidFill>
                  <a:srgbClr val="000099"/>
                </a:solidFill>
              </a:rPr>
              <a:t>main()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sz="2800" dirty="0" smtClean="0"/>
              <a:t>Real world programs will usually contain many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2F4D42-BB00-478C-8CA7-291491FEACF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General form of a C program with multiple functions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/*include header files*/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/*function prototypes here*/</a:t>
            </a:r>
          </a:p>
          <a:p>
            <a:pPr>
              <a:buNone/>
            </a:pP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ret-type func1 (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-list)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ret-type func2 (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-list)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General form of a C program with multiple functions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/*include header files*/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ret-type func1 (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-list)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ret-type func2 (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-list)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US" sz="2400" b="1" dirty="0" smtClean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0099"/>
                </a:solidFill>
              </a:rPr>
              <a:t>return type </a:t>
            </a:r>
            <a:r>
              <a:rPr lang="en-US" dirty="0" smtClean="0"/>
              <a:t>of a function is the type of value that the function returns.</a:t>
            </a:r>
          </a:p>
          <a:p>
            <a:r>
              <a:rPr lang="en-US" dirty="0" smtClean="0"/>
              <a:t>Rules governing the return type:</a:t>
            </a:r>
          </a:p>
          <a:p>
            <a:pPr lvl="1"/>
            <a:r>
              <a:rPr lang="en-US" dirty="0" smtClean="0"/>
              <a:t>Functions may not return arrays.</a:t>
            </a:r>
          </a:p>
          <a:p>
            <a:pPr lvl="1"/>
            <a:r>
              <a:rPr lang="en-US" dirty="0" smtClean="0"/>
              <a:t>Specifying that the return type is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dirty="0" smtClean="0"/>
              <a:t> indicates that the function doesn’t return a value.</a:t>
            </a:r>
          </a:p>
          <a:p>
            <a:r>
              <a:rPr lang="en-US" dirty="0" smtClean="0"/>
              <a:t>If the return type is omitted, the function is presumed to return a value of type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FEDAA4-BB07-42C6-8B61-898264F821A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Definition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After the function name comes a list of </a:t>
            </a:r>
            <a:r>
              <a:rPr lang="en-US" dirty="0" smtClean="0">
                <a:solidFill>
                  <a:srgbClr val="000099"/>
                </a:solidFill>
              </a:rPr>
              <a:t>parameters.</a:t>
            </a:r>
          </a:p>
          <a:p>
            <a:r>
              <a:rPr lang="en-US" dirty="0" smtClean="0"/>
              <a:t>Each parameter name is preceded by a specification of its type; parameters are separated by commas.</a:t>
            </a:r>
          </a:p>
          <a:p>
            <a:r>
              <a:rPr lang="en-US" dirty="0" smtClean="0"/>
              <a:t>If the function has no parameters, the word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dirty="0" smtClean="0"/>
              <a:t> should appear between the parentheses.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1B1B32-1E00-46D6-BEB1-DE3BC4154A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Defining and Calling Functions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When a function is called, execution transfers to the function</a:t>
            </a:r>
          </a:p>
          <a:p>
            <a:r>
              <a:rPr lang="en-US" sz="2800" dirty="0" smtClean="0"/>
              <a:t>When the end of the program is reached, execution returns to a point immediately after the place at which the function was called</a:t>
            </a:r>
          </a:p>
          <a:p>
            <a:r>
              <a:rPr lang="en-US" sz="2800" dirty="0" smtClean="0"/>
              <a:t>Any function inside a program may call any other function within the same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5AF9A0-50E6-4C38-933B-15AC15EC80F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Calls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0099"/>
                </a:solidFill>
              </a:rPr>
              <a:t>function call </a:t>
            </a:r>
            <a:r>
              <a:rPr lang="en-US" dirty="0" smtClean="0"/>
              <a:t>consists of a function name followed by a list of arguments, enclosed in parentheses: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6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print_text</a:t>
            </a: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 	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6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print_value</a:t>
            </a: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6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average(x, y);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dirty="0" smtClean="0"/>
              <a:t>If the parentheses are missing, the function won’t be called: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print_text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   /* WRONG */</a:t>
            </a:r>
          </a:p>
          <a:p>
            <a:pPr>
              <a:buFontTx/>
              <a:buNone/>
            </a:pPr>
            <a:r>
              <a:rPr lang="en-US" dirty="0" smtClean="0"/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07420-B077-4DD1-94BE-4A585E343BD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Function Calls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8077200" cy="48006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A call of a </a:t>
            </a:r>
            <a:r>
              <a:rPr lang="en-US" sz="2800" dirty="0" smtClean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800" dirty="0" smtClean="0"/>
              <a:t>function (which does no return any value), is always followed by a semicolon to turn it into a statement:</a:t>
            </a:r>
          </a:p>
          <a:p>
            <a:pPr>
              <a:lnSpc>
                <a:spcPct val="80000"/>
              </a:lnSpc>
              <a:spcBef>
                <a:spcPts val="1000"/>
              </a:spcBef>
              <a:buFontTx/>
              <a:buNone/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print_count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print_pun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800" dirty="0" smtClean="0"/>
              <a:t>A call of a </a:t>
            </a:r>
            <a:r>
              <a:rPr lang="en-US" sz="2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non-void</a:t>
            </a:r>
            <a:r>
              <a:rPr lang="en-US" sz="2800" dirty="0" smtClean="0"/>
              <a:t> function produces a value that can be stored in a variable, tested, printed, or used in some other way:</a:t>
            </a:r>
          </a:p>
          <a:p>
            <a:pPr>
              <a:lnSpc>
                <a:spcPct val="80000"/>
              </a:lnSpc>
              <a:spcBef>
                <a:spcPts val="1000"/>
              </a:spcBef>
              <a:buFontTx/>
              <a:buNone/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avg</a:t>
            </a: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average(x, y);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if (average(x, y) &gt; 0)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22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is positive\n");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("The average is %g\n",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average(x,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y));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53E282-7EE4-4272-9692-D38323A29C3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Function Calls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The value returned by a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non-void</a:t>
            </a:r>
            <a:r>
              <a:rPr lang="en-US" dirty="0" smtClean="0"/>
              <a:t> function can always be discarded if it’s not needed: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average(x, y);  /* discards return value */</a:t>
            </a:r>
            <a:endParaRPr lang="en-US" sz="2200" dirty="0" smtClean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 dirty="0" smtClean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63516C-8AE4-48D1-A26D-B8BC88C45E3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Program: Printing a text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When a function has no parameters, the word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800" dirty="0" smtClean="0"/>
              <a:t> is placed in parentheses after the function’s name:</a:t>
            </a:r>
          </a:p>
          <a:p>
            <a:pPr>
              <a:lnSpc>
                <a:spcPct val="80000"/>
              </a:lnSpc>
              <a:spcBef>
                <a:spcPts val="9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print_text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(void)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(“Hello World\n");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en-US" sz="2800" dirty="0" smtClean="0"/>
              <a:t>We can also keep the parenthesis empty, in case the function has no parameters</a:t>
            </a:r>
            <a:endParaRPr lang="en-US" sz="2400" dirty="0" smtClean="0"/>
          </a:p>
          <a:p>
            <a:r>
              <a:rPr lang="en-US" sz="2800" dirty="0" smtClean="0"/>
              <a:t>To call a function with no arguments, we write the function’s name, followed by parentheses:</a:t>
            </a:r>
          </a:p>
          <a:p>
            <a:pPr>
              <a:lnSpc>
                <a:spcPct val="80000"/>
              </a:lnSpc>
              <a:spcBef>
                <a:spcPts val="900"/>
              </a:spcBef>
              <a:buFontTx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print_text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FontTx/>
              <a:buNone/>
            </a:pPr>
            <a:r>
              <a:rPr lang="en-US" sz="2800" dirty="0" smtClean="0"/>
              <a:t>	The parentheses </a:t>
            </a:r>
            <a:r>
              <a:rPr lang="en-US" sz="2800" i="1" dirty="0" smtClean="0"/>
              <a:t>must</a:t>
            </a:r>
            <a:r>
              <a:rPr lang="en-US" sz="2800" dirty="0" smtClean="0"/>
              <a:t> be present.</a:t>
            </a:r>
          </a:p>
          <a:p>
            <a:pPr>
              <a:buFontTx/>
              <a:buNone/>
            </a:pP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ED59DC-D9C1-4EAD-9DF3-2DC64510B92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685800" y="533400"/>
            <a:ext cx="7772400" cy="5791200"/>
          </a:xfrm>
        </p:spPr>
        <p:txBody>
          <a:bodyPr/>
          <a:lstStyle/>
          <a:p>
            <a:pPr algn="ctr">
              <a:spcBef>
                <a:spcPts val="600"/>
              </a:spcBef>
              <a:buFontTx/>
              <a:buNone/>
            </a:pPr>
            <a:r>
              <a:rPr lang="en-US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Example program</a:t>
            </a:r>
          </a:p>
          <a:p>
            <a:pPr>
              <a:spcBef>
                <a:spcPts val="200"/>
              </a:spcBef>
              <a:buFontTx/>
              <a:buNone/>
            </a:pPr>
            <a:r>
              <a:rPr lang="en-US" sz="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endParaRPr lang="en-US" sz="1800" dirty="0" smtClean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print_text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(“Hello World\n");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print_text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0;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8877A5-D276-4EDA-87B3-68D09A3D539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Program: Printing a Number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z="2500" dirty="0" smtClean="0"/>
              <a:t>To indicate that a function has no return value, we specify that its return type is </a:t>
            </a:r>
            <a:r>
              <a:rPr lang="en-US" sz="2500" dirty="0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500" dirty="0" smtClean="0"/>
              <a:t>:</a:t>
            </a:r>
          </a:p>
          <a:p>
            <a:pPr>
              <a:lnSpc>
                <a:spcPct val="80000"/>
              </a:lnSpc>
              <a:spcBef>
                <a:spcPts val="1000"/>
              </a:spcBef>
              <a:buFontTx/>
              <a:buNone/>
            </a:pP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21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print_value</a:t>
            </a: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1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lnSpc>
                <a:spcPct val="80000"/>
              </a:lnSpc>
              <a:spcBef>
                <a:spcPts val="500"/>
              </a:spcBef>
              <a:buFontTx/>
              <a:buNone/>
            </a:pP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Tx/>
              <a:buNone/>
            </a:pP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21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("The number is %d\n", n);</a:t>
            </a:r>
          </a:p>
          <a:p>
            <a:pPr>
              <a:lnSpc>
                <a:spcPct val="80000"/>
              </a:lnSpc>
              <a:spcBef>
                <a:spcPts val="200"/>
              </a:spcBef>
              <a:buFontTx/>
              <a:buNone/>
            </a:pP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25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500" dirty="0" smtClean="0"/>
              <a:t> is a type with no values.</a:t>
            </a:r>
          </a:p>
          <a:p>
            <a:r>
              <a:rPr lang="en-US" sz="2500" dirty="0" smtClean="0"/>
              <a:t>A call of </a:t>
            </a:r>
            <a:r>
              <a:rPr lang="en-US" sz="2500" dirty="0" err="1" smtClean="0">
                <a:latin typeface="Courier New" pitchFamily="49" charset="0"/>
                <a:cs typeface="Courier New" pitchFamily="49" charset="0"/>
              </a:rPr>
              <a:t>print_value</a:t>
            </a:r>
            <a:r>
              <a:rPr lang="en-US" sz="2500" dirty="0" smtClean="0"/>
              <a:t> must appear in a statement by itself: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1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print_value</a:t>
            </a: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1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500" dirty="0" smtClean="0"/>
              <a:t>The </a:t>
            </a:r>
            <a:r>
              <a:rPr lang="en-US" sz="2500" dirty="0" err="1" smtClean="0">
                <a:latin typeface="Courier New" pitchFamily="49" charset="0"/>
                <a:cs typeface="Courier New" pitchFamily="49" charset="0"/>
              </a:rPr>
              <a:t>myprog.c</a:t>
            </a:r>
            <a:r>
              <a:rPr lang="en-US" sz="2500" dirty="0" smtClean="0"/>
              <a:t> program calls </a:t>
            </a:r>
            <a:r>
              <a:rPr lang="en-US" sz="2500" dirty="0" err="1" smtClean="0">
                <a:latin typeface="Courier New" pitchFamily="49" charset="0"/>
                <a:cs typeface="Courier New" pitchFamily="49" charset="0"/>
              </a:rPr>
              <a:t>print_value</a:t>
            </a:r>
            <a:r>
              <a:rPr lang="en-US" sz="2500" dirty="0" smtClean="0"/>
              <a:t> 10 times inside a loop.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endParaRPr lang="en-US" dirty="0" smtClean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E150C8-BEC0-49A3-9B9E-E599EDE5BED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715000"/>
          </a:xfrm>
        </p:spPr>
        <p:txBody>
          <a:bodyPr>
            <a:normAutofit lnSpcReduction="10000"/>
          </a:bodyPr>
          <a:lstStyle/>
          <a:p>
            <a:pPr algn="ctr">
              <a:spcBef>
                <a:spcPts val="600"/>
              </a:spcBef>
              <a:buFontTx/>
              <a:buNone/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myprog.c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buFontTx/>
              <a:buNone/>
            </a:pP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print_value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("The number is %d\n", n);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for (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10;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&gt; 0; --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print_value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0;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066083-B1A2-4165-8739-5C4A672122E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The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mtClean="0"/>
              <a:t> Statement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non-void</a:t>
            </a:r>
            <a:r>
              <a:rPr lang="en-US" dirty="0" smtClean="0"/>
              <a:t> function must use the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>
                <a:solidFill>
                  <a:srgbClr val="000099"/>
                </a:solidFill>
              </a:rPr>
              <a:t> </a:t>
            </a:r>
            <a:r>
              <a:rPr lang="en-US" dirty="0" smtClean="0"/>
              <a:t>statement to specify what value it will return.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/>
              <a:t> statement has the form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return </a:t>
            </a:r>
            <a:r>
              <a:rPr lang="en-US" sz="2400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expression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;</a:t>
            </a:r>
          </a:p>
          <a:p>
            <a:r>
              <a:rPr lang="en-US" dirty="0" smtClean="0"/>
              <a:t>The expression is often just a constant or variable: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return status;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3676CE-0A86-4D7B-982A-DB20E4050F8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The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mtClean="0"/>
              <a:t> Statement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/>
              <a:t> statements may appear in functions whose return type is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dirty="0" smtClean="0"/>
              <a:t>, provided that no expression is given: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return;  /*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r>
              <a:rPr lang="en-US" dirty="0" smtClean="0"/>
              <a:t>Example: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if (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&lt; 0)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  return;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("%d",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dirty="0" smtClean="0">
                <a:solidFill>
                  <a:srgbClr val="000099"/>
                </a:solidFill>
              </a:rPr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561969-2C50-43D8-B337-899B10DAB1B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The 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mtClean="0"/>
              <a:t> Statement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924800" cy="4800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/>
              <a:t> statement may appear at the end of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dirty="0" smtClean="0"/>
              <a:t> function:</a:t>
            </a:r>
          </a:p>
          <a:p>
            <a:pPr>
              <a:lnSpc>
                <a:spcPct val="80000"/>
              </a:lnSpc>
              <a:spcBef>
                <a:spcPts val="1000"/>
              </a:spcBef>
              <a:buFontTx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print_pun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(void)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("To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C,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or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not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to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C: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that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is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the</a:t>
            </a:r>
            <a:r>
              <a:rPr lang="en-US" sz="1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question.\n");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return;   /* OK, but not needed */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Tx/>
              <a:buNone/>
            </a:pPr>
            <a:r>
              <a:rPr lang="en-US" dirty="0" smtClean="0"/>
              <a:t>	Using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/>
              <a:t> here is unnecessary.</a:t>
            </a:r>
          </a:p>
          <a:p>
            <a:r>
              <a:rPr lang="en-US" dirty="0" smtClean="0"/>
              <a:t>If a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non-void</a:t>
            </a:r>
            <a:r>
              <a:rPr lang="en-US" dirty="0" smtClean="0"/>
              <a:t> function fails to execute a </a:t>
            </a: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/>
              <a:t> statement, the behavior of the program is undefined if it attempts to use the function’s return value.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9CA314-2A7D-460A-B5D6-440A71303F3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Program Termination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Normally, the return type of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dirty="0" smtClean="0"/>
              <a:t> is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/>
              <a:t>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…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dirty="0" smtClean="0"/>
              <a:t>Older C programs often omit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dirty="0" smtClean="0"/>
              <a:t>’s return type, taking advantage of the fact that it traditionally defaults to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/>
              <a:t>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main()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…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906AB-3F9E-49D4-9576-D64A925709C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Program Termination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value returned by </a:t>
            </a:r>
            <a:r>
              <a:rPr lang="en-US" sz="2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sz="2800" dirty="0" smtClean="0"/>
              <a:t> is a status code that can be tested when the program terminates.</a:t>
            </a:r>
          </a:p>
          <a:p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sz="2800" dirty="0" smtClean="0"/>
              <a:t> should return 0 if the program terminates normally.</a:t>
            </a:r>
          </a:p>
          <a:p>
            <a:r>
              <a:rPr lang="en-US" sz="2800" dirty="0" smtClean="0"/>
              <a:t>To indicate abnormal termination,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sz="2800" dirty="0" smtClean="0"/>
              <a:t> should return a value other than 0.</a:t>
            </a:r>
          </a:p>
          <a:p>
            <a:r>
              <a:rPr lang="en-US" sz="2800" dirty="0" smtClean="0"/>
              <a:t>It’s good practice to make sure that every C program returns a status code.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4B1C1B-4A38-4ABA-BAA1-92C61C6B558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Program: Computing Averages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A function named </a:t>
            </a:r>
            <a:r>
              <a:rPr lang="en-US" sz="3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z="3000" dirty="0" smtClean="0"/>
              <a:t> that computes the average of two </a:t>
            </a:r>
            <a:r>
              <a:rPr lang="en-US" sz="3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3000" dirty="0" smtClean="0"/>
              <a:t> values: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 average(double a, double b)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return (a + b) / 2;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6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3000" dirty="0" smtClean="0"/>
              <a:t>The word</a:t>
            </a:r>
            <a:r>
              <a:rPr lang="en-US" sz="3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3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000" dirty="0" smtClean="0"/>
              <a:t>at the beginning is the </a:t>
            </a:r>
            <a:r>
              <a:rPr lang="en-US" sz="3000" b="1" i="1" dirty="0" smtClean="0">
                <a:solidFill>
                  <a:srgbClr val="000099"/>
                </a:solidFill>
              </a:rPr>
              <a:t>return type</a:t>
            </a:r>
            <a:r>
              <a:rPr lang="en-US" sz="3000" dirty="0" smtClean="0"/>
              <a:t> of </a:t>
            </a:r>
            <a:r>
              <a:rPr lang="en-US" sz="3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z="3000" dirty="0" smtClean="0">
                <a:solidFill>
                  <a:srgbClr val="000099"/>
                </a:solidFill>
              </a:rPr>
              <a:t>.</a:t>
            </a:r>
          </a:p>
          <a:p>
            <a:r>
              <a:rPr lang="en-US" sz="3000" dirty="0" smtClean="0"/>
              <a:t>The identifiers </a:t>
            </a:r>
            <a:r>
              <a:rPr lang="en-US" sz="3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3000" dirty="0" smtClean="0"/>
              <a:t> and </a:t>
            </a:r>
            <a:r>
              <a:rPr lang="en-US" sz="3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3000" dirty="0" smtClean="0"/>
              <a:t> (the function’s </a:t>
            </a:r>
            <a:r>
              <a:rPr lang="en-US" sz="3000" b="1" i="1" dirty="0" smtClean="0">
                <a:solidFill>
                  <a:srgbClr val="000099"/>
                </a:solidFill>
              </a:rPr>
              <a:t>parameters</a:t>
            </a:r>
            <a:r>
              <a:rPr lang="en-US" sz="3000" dirty="0" smtClean="0"/>
              <a:t>) represent the numbers that will be supplied when </a:t>
            </a:r>
            <a:r>
              <a:rPr lang="en-US" sz="3000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z="3000" dirty="0" smtClean="0"/>
              <a:t> is called.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227C2A-264C-425B-AF80-521282194BC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Program: Computing Averages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Every function has an executable part, called the </a:t>
            </a:r>
            <a:r>
              <a:rPr lang="en-US" b="1" dirty="0" smtClean="0">
                <a:solidFill>
                  <a:srgbClr val="000099"/>
                </a:solidFill>
              </a:rPr>
              <a:t>body</a:t>
            </a:r>
            <a:r>
              <a:rPr lang="en-US" b="1" i="1" dirty="0" smtClean="0"/>
              <a:t>,</a:t>
            </a:r>
            <a:r>
              <a:rPr lang="en-US" dirty="0" smtClean="0"/>
              <a:t> which is enclosed in braces.</a:t>
            </a:r>
          </a:p>
          <a:p>
            <a:r>
              <a:rPr lang="en-US" dirty="0" smtClean="0"/>
              <a:t>The body of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dirty="0" smtClean="0"/>
              <a:t> consists of a single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/>
              <a:t> statement.</a:t>
            </a:r>
          </a:p>
          <a:p>
            <a:r>
              <a:rPr lang="en-US" dirty="0" smtClean="0"/>
              <a:t>Executing this statement causes the function to “return” to the place from which it was called; the value of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(a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b)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dirty="0" smtClean="0"/>
              <a:t> will be the value returned by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57018E-4681-4D38-B39E-B079B83C248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Program: Computing Averages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0099"/>
                </a:solidFill>
              </a:rPr>
              <a:t>function call </a:t>
            </a:r>
            <a:r>
              <a:rPr lang="en-US" dirty="0" smtClean="0"/>
              <a:t>consists of a function name followed by a list of </a:t>
            </a:r>
            <a:r>
              <a:rPr lang="en-US" b="1" i="1" dirty="0" smtClean="0"/>
              <a:t>arguments.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average(x,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y)</a:t>
            </a:r>
            <a:r>
              <a:rPr lang="en-US" dirty="0" smtClean="0"/>
              <a:t> is a call of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dirty="0" smtClean="0"/>
              <a:t> function.</a:t>
            </a:r>
          </a:p>
          <a:p>
            <a:r>
              <a:rPr lang="en-US" dirty="0" smtClean="0"/>
              <a:t>Arguments are used to supply information to a function.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The call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average(x,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y)</a:t>
            </a:r>
            <a:r>
              <a:rPr lang="en-US" dirty="0" smtClean="0"/>
              <a:t> causes the values of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dirty="0" smtClean="0"/>
              <a:t> to be copied into the parameters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 argument doesn’t have to be a variable; any expression of a compatible type will do.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average(5.1,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8.9)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average(x/2,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y/3)</a:t>
            </a:r>
            <a:r>
              <a:rPr lang="en-US" dirty="0" smtClean="0"/>
              <a:t> are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9F5D70-1262-4076-87CE-D97851ACA45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Program: Computing Averages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We’ll put the </a:t>
            </a:r>
            <a:r>
              <a:rPr lang="en-US" dirty="0" smtClean="0">
                <a:solidFill>
                  <a:srgbClr val="000099"/>
                </a:solidFill>
              </a:rPr>
              <a:t>call</a:t>
            </a:r>
            <a:r>
              <a:rPr lang="en-US" dirty="0" smtClean="0"/>
              <a:t> of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dirty="0" smtClean="0"/>
              <a:t> in the place where we need to use the return value.</a:t>
            </a:r>
          </a:p>
          <a:p>
            <a:r>
              <a:rPr lang="en-US" dirty="0" smtClean="0"/>
              <a:t>A statement that prints the average of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dirty="0" smtClean="0"/>
              <a:t>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("Average: %g\n", average(x, y));</a:t>
            </a:r>
          </a:p>
          <a:p>
            <a:pPr>
              <a:buFontTx/>
              <a:buNone/>
            </a:pPr>
            <a:r>
              <a:rPr lang="en-US" dirty="0" smtClean="0"/>
              <a:t>	The return value of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dirty="0" smtClean="0"/>
              <a:t> isn’t saved; the program prints it and then discards it.</a:t>
            </a:r>
          </a:p>
          <a:p>
            <a:r>
              <a:rPr lang="en-US" dirty="0" smtClean="0"/>
              <a:t>If we had needed the return value later in the program, we could have captured it in a variable: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avg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average(x, y);</a:t>
            </a:r>
            <a:r>
              <a:rPr lang="en-US" dirty="0" smtClean="0"/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A69EFE-908C-4776-B770-62F38762935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Program: Computing Averages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mtClean="0"/>
              <a:t>The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average.c</a:t>
            </a:r>
            <a:r>
              <a:rPr lang="en-US" smtClean="0"/>
              <a:t> program reads three numbers and uses the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mtClean="0"/>
              <a:t> function to compute their averages, one pair at a time: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Enter three numbers: </a:t>
            </a:r>
            <a:r>
              <a:rPr lang="en-US" sz="2400" u="sng" smtClean="0">
                <a:latin typeface="Courier New" pitchFamily="49" charset="0"/>
                <a:cs typeface="Courier New" pitchFamily="49" charset="0"/>
              </a:rPr>
              <a:t>3.5 9.6 10.2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Average of 3.5 and 9.6: 6.55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Average of 9.6 and 10.2: 9.9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Average of 3.5 and 10.2: 6.85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F07FB-83E3-4F9A-98BE-88EB0351E07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685800" y="457200"/>
            <a:ext cx="7772400" cy="58674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2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/* Computes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pairwise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averages of three numbers */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 average(double a, double b)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(a + b) / 2;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double x, y, z;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("Enter three numbers: ");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("%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lf%lf%lf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", &amp;x, &amp;y, &amp;z);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%lf:%lf\n", x, y, average(x, y));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%lf:%lf\n", y, z, average(y, z));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%lf:%lf\n", x, z, average(x, z));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0;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0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CA778B-BC45-4458-9BF0-FF1048F6B62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Definition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0099"/>
                </a:solidFill>
              </a:rPr>
              <a:t>body </a:t>
            </a:r>
            <a:r>
              <a:rPr lang="en-US" dirty="0" smtClean="0"/>
              <a:t>of a function may include both declarations and statements.</a:t>
            </a:r>
          </a:p>
          <a:p>
            <a:r>
              <a:rPr lang="en-US" dirty="0" smtClean="0"/>
              <a:t>An alternative version of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dirty="0" smtClean="0"/>
              <a:t> function: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double average(double a, double b)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double sum;       /* declaration */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sum = a + b;      /* statement */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return sum / 2;   /* statement */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B4E67A-DFA1-43B2-8AB7-C3A9B2E676F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Definition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Variables declared in the body of a function can’t be examined or modified by other functions.</a:t>
            </a:r>
          </a:p>
          <a:p>
            <a:r>
              <a:rPr lang="en-US" dirty="0" smtClean="0"/>
              <a:t>The body of a function whose return type is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dirty="0" smtClean="0"/>
              <a:t> (a “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dirty="0" smtClean="0"/>
              <a:t> function”) can be empty: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print_text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(void)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BB3E50-8BAA-47F5-8983-C71CC6BF1B5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Declaration (Prototype)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mtClean="0"/>
              <a:t>C doesn’t require that the definition of a function precede its calls.</a:t>
            </a:r>
          </a:p>
          <a:p>
            <a:r>
              <a:rPr lang="en-US" smtClean="0"/>
              <a:t>Suppose that we rearrange the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average.c</a:t>
            </a:r>
            <a:r>
              <a:rPr lang="en-US" smtClean="0"/>
              <a:t> program by putting the definition of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mtClean="0"/>
              <a:t> </a:t>
            </a:r>
            <a:r>
              <a:rPr lang="en-US" i="1" smtClean="0"/>
              <a:t>after</a:t>
            </a:r>
            <a:r>
              <a:rPr lang="en-US" smtClean="0"/>
              <a:t> the definition of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smtClean="0">
                <a:cs typeface="Courier New" pitchFamily="49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B50AF0-AC2C-4BB8-B0F3-784D8814DDE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Declaration (Prototype)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3820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>
              <a:lnSpc>
                <a:spcPct val="7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7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double x, y, z;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("Enter three numbers: ");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("%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lf%lf%lf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", &amp;x, &amp;y, &amp;z);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 %lf\n", x, y, average(x, y));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 %lf\n", y, z, average(y, z));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 %lf\n", x, z, average(x, z));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0;</a:t>
            </a:r>
          </a:p>
          <a:p>
            <a:pPr>
              <a:lnSpc>
                <a:spcPct val="7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 average(double a, double b)</a:t>
            </a:r>
          </a:p>
          <a:p>
            <a:pPr>
              <a:lnSpc>
                <a:spcPct val="7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7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(a + b) / 2;</a:t>
            </a:r>
          </a:p>
          <a:p>
            <a:pPr>
              <a:lnSpc>
                <a:spcPct val="70000"/>
              </a:lnSpc>
              <a:spcBef>
                <a:spcPts val="4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96E775-E4A9-4525-8238-622C08A1BB2E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Declaration (Prototype)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When the compiler encounters the first call of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z="2800" dirty="0" smtClean="0"/>
              <a:t> in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sz="2800" dirty="0" smtClean="0"/>
              <a:t>, it has no information about the function.</a:t>
            </a:r>
          </a:p>
          <a:p>
            <a:r>
              <a:rPr lang="en-US" sz="2800" dirty="0" smtClean="0"/>
              <a:t>Instead of producing an error message, the compiler assumes that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z="2800" dirty="0" smtClean="0"/>
              <a:t> returns an 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dirty="0" smtClean="0"/>
              <a:t> value.</a:t>
            </a:r>
          </a:p>
          <a:p>
            <a:r>
              <a:rPr lang="en-US" sz="2800" dirty="0" smtClean="0"/>
              <a:t>We say that the compiler has created an </a:t>
            </a:r>
            <a:r>
              <a:rPr lang="en-US" sz="2800" b="1" i="1" dirty="0" smtClean="0"/>
              <a:t>implicit declaration</a:t>
            </a:r>
            <a:r>
              <a:rPr lang="en-US" sz="2800" dirty="0" smtClean="0"/>
              <a:t> of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B46D5C-EF66-4206-881B-21D54B676EE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Declaration (Prototype)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One way to avoid the problem of call-before-definition is to arrange the program so that the definition of each function precedes all its calls.</a:t>
            </a:r>
          </a:p>
          <a:p>
            <a:r>
              <a:rPr lang="en-US" sz="2800" dirty="0" smtClean="0"/>
              <a:t>Unfortunately, such an arrangement doesn’t always exist.</a:t>
            </a:r>
          </a:p>
          <a:p>
            <a:r>
              <a:rPr lang="en-US" sz="2800" dirty="0" smtClean="0"/>
              <a:t>Even when it does, it may make the program harder to understand by putting its function definitions in an unnatural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6988A2-43FF-4C45-A685-B74518E1321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Declaration (Prototype)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compiler is unable to check that we’re passing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z="2800" dirty="0" smtClean="0"/>
              <a:t> the right number of arguments and that the arguments have the proper type.</a:t>
            </a:r>
          </a:p>
          <a:p>
            <a:r>
              <a:rPr lang="en-US" sz="2800" dirty="0" smtClean="0"/>
              <a:t>Instead, it performs the default argument promotions and hopes for the best.</a:t>
            </a:r>
          </a:p>
          <a:p>
            <a:r>
              <a:rPr lang="en-US" sz="2800" dirty="0" smtClean="0"/>
              <a:t>When it encounters the definition of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z="2800" dirty="0" smtClean="0"/>
              <a:t> later in the program, the compiler notices that the function’s return type is actually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800" dirty="0" smtClean="0"/>
              <a:t>, not 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dirty="0" smtClean="0"/>
              <a:t>, and so we get an error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055E40-3C92-4028-8D0A-C28D9F81270F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Declaration (Prototype)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sz="2600" dirty="0" smtClean="0"/>
              <a:t>Fortunately, C offers a better solution: declare each function before calling it.</a:t>
            </a:r>
          </a:p>
          <a:p>
            <a:r>
              <a:rPr lang="en-US" sz="2600" dirty="0" smtClean="0"/>
              <a:t>A </a:t>
            </a:r>
            <a:r>
              <a:rPr lang="en-US" sz="2600" b="1" dirty="0" smtClean="0">
                <a:solidFill>
                  <a:srgbClr val="000099"/>
                </a:solidFill>
              </a:rPr>
              <a:t>function declaration</a:t>
            </a:r>
            <a:r>
              <a:rPr lang="en-US" sz="2600" dirty="0" smtClean="0">
                <a:solidFill>
                  <a:srgbClr val="000099"/>
                </a:solidFill>
              </a:rPr>
              <a:t> </a:t>
            </a:r>
            <a:r>
              <a:rPr lang="en-US" sz="2600" dirty="0" smtClean="0"/>
              <a:t>or</a:t>
            </a:r>
            <a:r>
              <a:rPr lang="en-US" sz="2600" dirty="0" smtClean="0">
                <a:solidFill>
                  <a:srgbClr val="000099"/>
                </a:solidFill>
              </a:rPr>
              <a:t> </a:t>
            </a:r>
            <a:r>
              <a:rPr lang="en-US" sz="2600" b="1" dirty="0" smtClean="0">
                <a:solidFill>
                  <a:srgbClr val="000099"/>
                </a:solidFill>
              </a:rPr>
              <a:t>prototype</a:t>
            </a:r>
            <a:r>
              <a:rPr lang="en-US" sz="2600" dirty="0" smtClean="0">
                <a:solidFill>
                  <a:srgbClr val="000099"/>
                </a:solidFill>
              </a:rPr>
              <a:t> </a:t>
            </a:r>
            <a:r>
              <a:rPr lang="en-US" sz="2600" dirty="0" smtClean="0"/>
              <a:t>provides the compiler with a brief glimpse at a function whose full definition will appear later.</a:t>
            </a:r>
          </a:p>
          <a:p>
            <a:r>
              <a:rPr lang="en-US" sz="2600" dirty="0" smtClean="0"/>
              <a:t>General form of a function declaration: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200" i="1" dirty="0" smtClean="0"/>
              <a:t>	</a:t>
            </a:r>
            <a:r>
              <a:rPr lang="en-US" sz="2200" b="1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return-type</a:t>
            </a:r>
            <a:r>
              <a:rPr lang="en-US" sz="22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function-name</a:t>
            </a:r>
            <a:r>
              <a:rPr lang="en-US" sz="22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( </a:t>
            </a:r>
            <a:r>
              <a:rPr lang="en-US" sz="2200" b="1" i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parameters</a:t>
            </a:r>
            <a:r>
              <a:rPr lang="en-US" sz="2200" b="1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) ;</a:t>
            </a:r>
          </a:p>
          <a:p>
            <a:r>
              <a:rPr lang="en-US" sz="2600" dirty="0" smtClean="0"/>
              <a:t>The declaration of a function must be consistent with the function’s definition.</a:t>
            </a:r>
          </a:p>
          <a:p>
            <a:r>
              <a:rPr lang="en-US" sz="2600" dirty="0" smtClean="0"/>
              <a:t>Here’s the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average.c</a:t>
            </a:r>
            <a:r>
              <a:rPr lang="en-US" sz="2600" dirty="0" smtClean="0"/>
              <a:t> program with a declaration of </a:t>
            </a:r>
            <a:r>
              <a:rPr lang="en-US" sz="2600" dirty="0" smtClean="0">
                <a:latin typeface="Courier New" pitchFamily="49" charset="0"/>
                <a:cs typeface="Courier New" pitchFamily="49" charset="0"/>
              </a:rPr>
              <a:t>average</a:t>
            </a:r>
            <a:r>
              <a:rPr lang="en-US" sz="2600" dirty="0" smtClean="0"/>
              <a:t> added.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52F50-F9C3-44B4-B58B-9F9CECEE5D07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Function Declarations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3820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6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 average(double a, double b);   /* DECLARATION */</a:t>
            </a:r>
          </a:p>
          <a:p>
            <a:pPr>
              <a:lnSpc>
                <a:spcPct val="6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6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double x, y, z;</a:t>
            </a:r>
          </a:p>
          <a:p>
            <a:pPr>
              <a:lnSpc>
                <a:spcPct val="6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("Enter three numbers: ");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("%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lf%lf%lf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", &amp;x, &amp;y, &amp;z);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 %lf\n", x, y, average(x, y));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 %lf\n", y, z, average(y, z));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("Average of %lf and %lf: %lf\n", x, z, average(x, z));</a:t>
            </a:r>
          </a:p>
          <a:p>
            <a:pPr>
              <a:lnSpc>
                <a:spcPct val="6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0;</a:t>
            </a:r>
          </a:p>
          <a:p>
            <a:pPr>
              <a:lnSpc>
                <a:spcPct val="6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6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 average(double a, double b)    /* DEFINITION */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30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(a + b) / 2;</a:t>
            </a:r>
          </a:p>
          <a:p>
            <a:pPr>
              <a:lnSpc>
                <a:spcPct val="6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6C4300-251D-4690-B054-4094833D0B63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Function Declarations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z="2800" dirty="0" smtClean="0"/>
              <a:t>A function prototype doesn’t have to specify the names of the function’s parameters, as long as their types are present: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double average(double, double);</a:t>
            </a:r>
          </a:p>
          <a:p>
            <a:r>
              <a:rPr lang="en-US" sz="2800" dirty="0" smtClean="0"/>
              <a:t>It’s usually best not to omit parameter names.</a:t>
            </a:r>
          </a:p>
          <a:p>
            <a:endParaRPr lang="en-US" sz="28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8BEF9F-289C-423C-B161-C7F6DFF33BB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Arguments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dirty="0" smtClean="0"/>
              <a:t>In C, arguments are by default </a:t>
            </a:r>
            <a:r>
              <a:rPr lang="en-US" b="1" i="1" dirty="0" smtClean="0">
                <a:solidFill>
                  <a:srgbClr val="000099"/>
                </a:solidFill>
              </a:rPr>
              <a:t>passed by value:</a:t>
            </a:r>
            <a:r>
              <a:rPr lang="en-US" dirty="0" smtClean="0">
                <a:solidFill>
                  <a:srgbClr val="000099"/>
                </a:solidFill>
              </a:rPr>
              <a:t> </a:t>
            </a:r>
          </a:p>
          <a:p>
            <a:pPr lvl="1"/>
            <a:r>
              <a:rPr lang="en-US" dirty="0" smtClean="0"/>
              <a:t>when a function is called, each argument is evaluated and its value assigned to the corresponding parameter.</a:t>
            </a:r>
          </a:p>
          <a:p>
            <a:pPr lvl="1"/>
            <a:r>
              <a:rPr lang="en-US" dirty="0" smtClean="0"/>
              <a:t>The parameter contains a </a:t>
            </a:r>
            <a:r>
              <a:rPr lang="en-US" dirty="0" smtClean="0">
                <a:solidFill>
                  <a:srgbClr val="000099"/>
                </a:solidFill>
              </a:rPr>
              <a:t>copy of the argument’s value</a:t>
            </a:r>
            <a:r>
              <a:rPr lang="en-US" dirty="0" smtClean="0"/>
              <a:t>, any changes made to the parameter during the execution of the function don’t affect the argument.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4B31-58C7-4DA2-BFBA-FED0B8E9203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Arguments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fact that arguments are passed by value has both advantages and disadvantages.</a:t>
            </a:r>
          </a:p>
          <a:p>
            <a:r>
              <a:rPr lang="en-US" sz="2800" dirty="0" smtClean="0"/>
              <a:t>Since a parameter can be modified without affecting the corresponding argument, we can use parameters as variables within the function, reducing the number of genuine variables needed.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4A38D7-C232-4F4C-A59A-49BAE5149A6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Arguments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r>
              <a:rPr lang="en-US" smtClean="0"/>
              <a:t>Consider the following function, which raises a number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mtClean="0"/>
              <a:t> to a power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mtClean="0"/>
              <a:t>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int power(int x, int n)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  int i, result = 1;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  for (i = 1; i &lt;= n; i++)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    result = result * x;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  return result;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90DE17-72FC-41FA-B1A0-4AD72D86B19E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Arguments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smtClean="0"/>
              <a:t>Since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mtClean="0"/>
              <a:t> is a </a:t>
            </a:r>
            <a:r>
              <a:rPr lang="en-US" i="1" smtClean="0"/>
              <a:t>copy</a:t>
            </a:r>
            <a:r>
              <a:rPr lang="en-US" smtClean="0"/>
              <a:t> of the original exponent, the function can safely modify it, removing the need for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mtClean="0"/>
              <a:t>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int power(int x, int n)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  int result = 1;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  while (n-- &gt; 0)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    result = result * x;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 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  return result;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09D08D-2436-40BE-ACF6-52F00F204E1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534400" cy="685800"/>
          </a:xfrm>
        </p:spPr>
        <p:txBody>
          <a:bodyPr/>
          <a:lstStyle/>
          <a:p>
            <a:pPr>
              <a:defRPr/>
            </a:pPr>
            <a:r>
              <a:rPr lang="en-US" sz="3200" dirty="0" smtClean="0"/>
              <a:t>Program: Testing Whether a Number Is Prime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en-US" smtClean="0"/>
              <a:t>The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prime.c</a:t>
            </a:r>
            <a:r>
              <a:rPr lang="en-US" smtClean="0"/>
              <a:t> program tests whether a number is prime:</a:t>
            </a: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Enter a number: </a:t>
            </a:r>
            <a:r>
              <a:rPr lang="en-US" sz="2400" u="sng" smtClean="0">
                <a:latin typeface="Courier New" pitchFamily="49" charset="0"/>
                <a:cs typeface="Courier New" pitchFamily="49" charset="0"/>
              </a:rPr>
              <a:t>34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sz="2400" smtClean="0">
                <a:latin typeface="Courier New" pitchFamily="49" charset="0"/>
                <a:cs typeface="Courier New" pitchFamily="49" charset="0"/>
              </a:rPr>
              <a:t>	Not prime</a:t>
            </a:r>
          </a:p>
          <a:p>
            <a:r>
              <a:rPr lang="en-US" smtClean="0"/>
              <a:t>The program uses a function named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mtClean="0"/>
              <a:t> that returns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mtClean="0"/>
              <a:t> if its parameter is a prime number and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mtClean="0"/>
              <a:t> if it isn’t.</a:t>
            </a:r>
          </a:p>
          <a:p>
            <a:r>
              <a:rPr lang="en-US" smtClean="0"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mtClean="0"/>
              <a:t> divides its parameter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mtClean="0"/>
              <a:t> by each of the numbers between 2 and the square root of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mtClean="0"/>
              <a:t>; if the remainder is ever 0, </a:t>
            </a:r>
            <a:r>
              <a:rPr lang="en-US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mtClean="0"/>
              <a:t> isn’t prime.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BE7BC1-9571-43A9-BFA3-5D49A9499767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715000"/>
          </a:xfrm>
        </p:spPr>
        <p:txBody>
          <a:bodyPr>
            <a:normAutofit lnSpcReduction="10000"/>
          </a:bodyPr>
          <a:lstStyle/>
          <a:p>
            <a:pPr algn="ctr">
              <a:spcBef>
                <a:spcPts val="600"/>
              </a:spcBef>
              <a:buFontTx/>
              <a:buNone/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prime.c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buFontTx/>
              <a:buNone/>
            </a:pPr>
            <a:r>
              <a:rPr lang="en-US" sz="800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divisor;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if (n &lt;= 1)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for (divisor = 2; divisor &lt;= n; divisor++)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if (n % divisor == 0)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return 0;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1;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1DD58C-D825-41C7-8ADA-4213E1ADE2A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("Enter a number: ");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("%d", &amp;n);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if (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(n)==1)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("Prime\n");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else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("Not prime\n");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return 0;</a:t>
            </a:r>
          </a:p>
          <a:p>
            <a:pPr>
              <a:lnSpc>
                <a:spcPct val="80000"/>
              </a:lnSpc>
              <a:spcBef>
                <a:spcPts val="400"/>
              </a:spcBef>
              <a:buFontTx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9D0B0-F666-4005-90E2-9EBF52F8BC62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Functions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Library functions: </a:t>
            </a:r>
          </a:p>
          <a:p>
            <a:pPr eaLnBrk="1" hangingPunct="1">
              <a:buFont typeface="Wingdings" pitchFamily="2" charset="2"/>
              <a:buNone/>
            </a:pPr>
            <a:endParaRPr lang="en-US" sz="1600" dirty="0" smtClean="0"/>
          </a:p>
          <a:p>
            <a:pPr eaLnBrk="1" hangingPunct="1"/>
            <a:r>
              <a:rPr lang="en-US" dirty="0" smtClean="0"/>
              <a:t>User-defined functions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Library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Defined in</a:t>
            </a:r>
          </a:p>
          <a:p>
            <a:pPr lvl="1" eaLnBrk="1" hangingPunct="1"/>
            <a:r>
              <a:rPr lang="en-US" dirty="0" err="1" smtClean="0"/>
              <a:t>stdio.h</a:t>
            </a:r>
            <a:endParaRPr lang="en-US" dirty="0" smtClean="0"/>
          </a:p>
          <a:p>
            <a:pPr lvl="2" eaLnBrk="1" hangingPunct="1"/>
            <a:r>
              <a:rPr lang="en-US" dirty="0" err="1" smtClean="0"/>
              <a:t>printf</a:t>
            </a:r>
            <a:r>
              <a:rPr lang="en-US" dirty="0" smtClean="0"/>
              <a:t>(): formatted output</a:t>
            </a:r>
          </a:p>
          <a:p>
            <a:pPr lvl="2" eaLnBrk="1" hangingPunct="1"/>
            <a:r>
              <a:rPr lang="en-US" dirty="0" err="1" smtClean="0"/>
              <a:t>getchar</a:t>
            </a:r>
            <a:r>
              <a:rPr lang="en-US" dirty="0" smtClean="0"/>
              <a:t>(): macro to read a character from keyboard</a:t>
            </a:r>
          </a:p>
          <a:p>
            <a:pPr lvl="2" eaLnBrk="1" hangingPunct="1"/>
            <a:r>
              <a:rPr lang="en-US" dirty="0" err="1" smtClean="0"/>
              <a:t>putchar</a:t>
            </a:r>
            <a:r>
              <a:rPr lang="en-US" dirty="0" smtClean="0"/>
              <a:t>(): macro to print a character to screen</a:t>
            </a:r>
          </a:p>
          <a:p>
            <a:pPr lvl="2" eaLnBrk="1" hangingPunct="1"/>
            <a:r>
              <a:rPr lang="en-US" dirty="0" err="1" smtClean="0"/>
              <a:t>scanf</a:t>
            </a:r>
            <a:r>
              <a:rPr lang="en-US" dirty="0" smtClean="0"/>
              <a:t>(): take formatted input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Library Functions (Cont.)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Defined in </a:t>
            </a:r>
          </a:p>
          <a:p>
            <a:pPr lvl="1" eaLnBrk="1" hangingPunct="1"/>
            <a:r>
              <a:rPr lang="en-US" dirty="0" err="1" smtClean="0"/>
              <a:t>math.h</a:t>
            </a:r>
            <a:endParaRPr lang="en-US" dirty="0" smtClean="0"/>
          </a:p>
          <a:p>
            <a:pPr lvl="2" eaLnBrk="1" hangingPunct="1"/>
            <a:r>
              <a:rPr lang="en-US" dirty="0" smtClean="0"/>
              <a:t>sin(), </a:t>
            </a:r>
            <a:r>
              <a:rPr lang="en-US" dirty="0" err="1" smtClean="0"/>
              <a:t>cos</a:t>
            </a:r>
            <a:r>
              <a:rPr lang="en-US" dirty="0" smtClean="0"/>
              <a:t>(), tan(), </a:t>
            </a:r>
            <a:r>
              <a:rPr lang="en-US" dirty="0" err="1" smtClean="0"/>
              <a:t>sqrt</a:t>
            </a:r>
            <a:r>
              <a:rPr lang="en-US" dirty="0" smtClean="0"/>
              <a:t>(), pow(), exp(), log()</a:t>
            </a:r>
          </a:p>
          <a:p>
            <a:pPr lvl="2" eaLnBrk="1" hangingPunct="1"/>
            <a:r>
              <a:rPr lang="en-US" dirty="0" err="1" smtClean="0"/>
              <a:t>fabs</a:t>
            </a:r>
            <a:r>
              <a:rPr lang="en-US" dirty="0" smtClean="0"/>
              <a:t>(): absolute value of a float</a:t>
            </a:r>
          </a:p>
          <a:p>
            <a:pPr lvl="2" eaLnBrk="1" hangingPunct="1"/>
            <a:r>
              <a:rPr lang="en-US" dirty="0" smtClean="0"/>
              <a:t>ceil(): smallest integer upper bound</a:t>
            </a:r>
          </a:p>
          <a:p>
            <a:pPr lvl="2" eaLnBrk="1" hangingPunct="1"/>
            <a:r>
              <a:rPr lang="en-US" dirty="0" smtClean="0"/>
              <a:t>floor(): greatest integer lower bound</a:t>
            </a:r>
          </a:p>
          <a:p>
            <a:pPr lvl="2" eaLnBrk="1" hangingPunct="1"/>
            <a:r>
              <a:rPr lang="en-US" dirty="0" err="1" smtClean="0"/>
              <a:t>pow</a:t>
            </a:r>
            <a:r>
              <a:rPr lang="en-US" dirty="0" smtClean="0"/>
              <a:t>(x, y): x raised to power y</a:t>
            </a:r>
          </a:p>
          <a:p>
            <a:pPr lvl="2" eaLnBrk="1" hangingPunct="1"/>
            <a:r>
              <a:rPr lang="en-US" dirty="0" err="1" smtClean="0"/>
              <a:t>fmod</a:t>
            </a:r>
            <a:r>
              <a:rPr lang="en-US" dirty="0" smtClean="0"/>
              <a:t>(</a:t>
            </a:r>
            <a:r>
              <a:rPr lang="en-US" dirty="0" err="1" smtClean="0"/>
              <a:t>x,y</a:t>
            </a:r>
            <a:r>
              <a:rPr lang="en-US" dirty="0" smtClean="0"/>
              <a:t>): remainder of x/y as float</a:t>
            </a:r>
          </a:p>
          <a:p>
            <a:pPr lvl="2"/>
            <a:r>
              <a:rPr lang="en-US" dirty="0" smtClean="0"/>
              <a:t>log(x): Returns the natural logarithm (base-e) of x.</a:t>
            </a:r>
          </a:p>
          <a:p>
            <a:pPr lvl="2"/>
            <a:r>
              <a:rPr lang="en-US" dirty="0" err="1" smtClean="0"/>
              <a:t>sqrt</a:t>
            </a:r>
            <a:r>
              <a:rPr lang="en-US" dirty="0" smtClean="0"/>
              <a:t>(x): Returns the square root of x.</a:t>
            </a:r>
          </a:p>
          <a:p>
            <a:pPr lvl="2"/>
            <a:endParaRPr lang="en-US" dirty="0" smtClean="0"/>
          </a:p>
          <a:p>
            <a:pPr lvl="2" eaLnBrk="1" hangingPunct="1"/>
            <a:endParaRPr lang="en-US" dirty="0" smtClean="0"/>
          </a:p>
          <a:p>
            <a:pPr lvl="2" eaLnBrk="1" hangingPunct="1"/>
            <a:endParaRPr 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Library Functions (Cont.)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Defined 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600" dirty="0" err="1" smtClean="0"/>
              <a:t>ctype.h</a:t>
            </a:r>
            <a:endParaRPr lang="en-US" sz="26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dirty="0" err="1" smtClean="0"/>
              <a:t>isspace</a:t>
            </a:r>
            <a:r>
              <a:rPr lang="en-US" dirty="0" smtClean="0"/>
              <a:t>(character): macro to check whether character is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				a white space(‘\t’, ’\n’, ‘ ‘, ‘\r’, ‘\f’, ‘\v’)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err="1" smtClean="0"/>
              <a:t>isupper</a:t>
            </a:r>
            <a:r>
              <a:rPr lang="en-US" dirty="0" smtClean="0"/>
              <a:t>(character): macro to check whether character is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				an upper case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err="1" smtClean="0"/>
              <a:t>isdigit</a:t>
            </a:r>
            <a:r>
              <a:rPr lang="en-US" dirty="0" smtClean="0"/>
              <a:t>(character): return 1 if character is a digit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err="1" smtClean="0"/>
              <a:t>isalpha</a:t>
            </a:r>
            <a:r>
              <a:rPr lang="en-US" dirty="0" smtClean="0"/>
              <a:t>(character): returns 1 if character is a letter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err="1" smtClean="0"/>
              <a:t>isalnum</a:t>
            </a:r>
            <a:r>
              <a:rPr lang="en-US" dirty="0" smtClean="0"/>
              <a:t>(character): returns 1 if character is either a digit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				or a letter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err="1" smtClean="0"/>
              <a:t>tolower</a:t>
            </a:r>
            <a:r>
              <a:rPr lang="en-US" dirty="0" smtClean="0"/>
              <a:t>(character): change character to lower case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err="1" smtClean="0"/>
              <a:t>Iscntrl</a:t>
            </a:r>
            <a:r>
              <a:rPr lang="en-US" dirty="0" smtClean="0"/>
              <a:t> (character): returns 1 if it is a control character</a:t>
            </a:r>
          </a:p>
          <a:p>
            <a:pPr lvl="2" eaLnBrk="1" hangingPunct="1">
              <a:lnSpc>
                <a:spcPct val="90000"/>
              </a:lnSpc>
            </a:pPr>
            <a:endParaRPr 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696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Library Functions (Cont.)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448675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Defined in</a:t>
            </a:r>
          </a:p>
          <a:p>
            <a:pPr lvl="1"/>
            <a:r>
              <a:rPr lang="en-US" dirty="0" err="1" smtClean="0"/>
              <a:t>stdlib.h</a:t>
            </a:r>
            <a:endParaRPr lang="en-US" dirty="0" smtClean="0"/>
          </a:p>
          <a:p>
            <a:pPr lvl="2"/>
            <a:r>
              <a:rPr lang="en-US" dirty="0" smtClean="0"/>
              <a:t>rand(): random number between 0 and RAND_MAX</a:t>
            </a:r>
          </a:p>
          <a:p>
            <a:pPr lvl="2"/>
            <a:r>
              <a:rPr lang="en-US" dirty="0" err="1" smtClean="0"/>
              <a:t>malloc</a:t>
            </a:r>
            <a:r>
              <a:rPr lang="en-US" dirty="0" smtClean="0"/>
              <a:t>(size): allocate memory</a:t>
            </a:r>
          </a:p>
          <a:p>
            <a:pPr lvl="2"/>
            <a:r>
              <a:rPr lang="en-US" dirty="0" smtClean="0"/>
              <a:t>free(</a:t>
            </a:r>
            <a:r>
              <a:rPr lang="en-US" dirty="0" err="1" smtClean="0"/>
              <a:t>var_ptr</a:t>
            </a:r>
            <a:r>
              <a:rPr lang="en-US" dirty="0" smtClean="0"/>
              <a:t>): </a:t>
            </a:r>
            <a:r>
              <a:rPr lang="en-US" dirty="0" err="1" smtClean="0"/>
              <a:t>deallocate</a:t>
            </a:r>
            <a:r>
              <a:rPr lang="en-US" dirty="0" smtClean="0"/>
              <a:t> memory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6962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Library Functions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448675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Defined in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 err="1" smtClean="0"/>
              <a:t>stdlib.h</a:t>
            </a:r>
            <a:r>
              <a:rPr lang="en-US" sz="2800" dirty="0" smtClean="0"/>
              <a:t> (Cont.)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err="1" smtClean="0"/>
              <a:t>atoi</a:t>
            </a:r>
            <a:r>
              <a:rPr lang="en-US" sz="2400" dirty="0" smtClean="0"/>
              <a:t> (</a:t>
            </a:r>
            <a:r>
              <a:rPr lang="en-US" sz="2400" dirty="0" err="1" smtClean="0"/>
              <a:t>string_var</a:t>
            </a:r>
            <a:r>
              <a:rPr lang="en-US" sz="2400" dirty="0" smtClean="0"/>
              <a:t>): convert string variable and return an integer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err="1" smtClean="0"/>
              <a:t>atof</a:t>
            </a:r>
            <a:r>
              <a:rPr lang="en-US" sz="2400" dirty="0" smtClean="0"/>
              <a:t> (</a:t>
            </a:r>
            <a:r>
              <a:rPr lang="en-US" sz="2400" dirty="0" err="1" smtClean="0"/>
              <a:t>string_var</a:t>
            </a:r>
            <a:r>
              <a:rPr lang="en-US" sz="2400" dirty="0" smtClean="0"/>
              <a:t>): convert string variable and return a float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err="1" smtClean="0"/>
              <a:t>atol</a:t>
            </a:r>
            <a:r>
              <a:rPr lang="en-US" sz="2400" dirty="0" smtClean="0"/>
              <a:t>(</a:t>
            </a:r>
            <a:r>
              <a:rPr lang="en-US" sz="2400" dirty="0" err="1" smtClean="0"/>
              <a:t>string_var</a:t>
            </a:r>
            <a:r>
              <a:rPr lang="en-US" sz="2400" dirty="0" smtClean="0"/>
              <a:t>): convert string variable and return a long </a:t>
            </a:r>
            <a:r>
              <a:rPr lang="en-US" sz="2400" dirty="0" err="1" smtClean="0"/>
              <a:t>int</a:t>
            </a:r>
            <a:endParaRPr lang="en-US" sz="24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Library Functions (Cont.)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US" smtClean="0"/>
              <a:t>Defined in</a:t>
            </a:r>
          </a:p>
          <a:p>
            <a:pPr lvl="1" eaLnBrk="1" hangingPunct="1"/>
            <a:r>
              <a:rPr lang="en-US" smtClean="0"/>
              <a:t>assert.h</a:t>
            </a:r>
          </a:p>
          <a:p>
            <a:pPr lvl="2" eaLnBrk="1" hangingPunct="1"/>
            <a:r>
              <a:rPr lang="en-US" smtClean="0"/>
              <a:t>assert(condition): macro to check whether condition is true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mtClean="0"/>
              <a:t>				if false, print error message</a:t>
            </a:r>
          </a:p>
          <a:p>
            <a:pPr lvl="1" eaLnBrk="1" hangingPunct="1"/>
            <a:r>
              <a:rPr lang="en-US" smtClean="0"/>
              <a:t>limits.h</a:t>
            </a:r>
          </a:p>
          <a:p>
            <a:pPr lvl="2" eaLnBrk="1" hangingPunct="1"/>
            <a:r>
              <a:rPr lang="en-US" smtClean="0"/>
              <a:t>UINT_MAX: unsigned int max</a:t>
            </a:r>
          </a:p>
          <a:p>
            <a:pPr lvl="2" eaLnBrk="1" hangingPunct="1"/>
            <a:r>
              <a:rPr lang="en-US" smtClean="0"/>
              <a:t>INT_MAX: int max</a:t>
            </a:r>
          </a:p>
          <a:p>
            <a:pPr lvl="2" eaLnBrk="1" hangingPunct="1"/>
            <a:endParaRPr lang="en-US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Library Functions (Cont.)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lvl="1" eaLnBrk="1" hangingPunct="1"/>
            <a:r>
              <a:rPr lang="en-US" smtClean="0"/>
              <a:t>time.h</a:t>
            </a:r>
          </a:p>
          <a:p>
            <a:pPr lvl="2" eaLnBrk="1" hangingPunct="1"/>
            <a:r>
              <a:rPr lang="en-US" smtClean="0"/>
              <a:t>time(NULL): number of seconds since Jan 1, 1970</a:t>
            </a:r>
          </a:p>
          <a:p>
            <a:pPr lvl="1"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	Thank you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2272</Words>
  <Application>Microsoft Office PowerPoint</Application>
  <PresentationFormat>On-screen Show (4:3)</PresentationFormat>
  <Paragraphs>559</Paragraphs>
  <Slides>52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Courier New</vt:lpstr>
      <vt:lpstr>Times New Roman</vt:lpstr>
      <vt:lpstr>Wingdings</vt:lpstr>
      <vt:lpstr>Office Theme</vt:lpstr>
      <vt:lpstr>Lecture 9</vt:lpstr>
      <vt:lpstr>Introduction</vt:lpstr>
      <vt:lpstr>Function Definitions</vt:lpstr>
      <vt:lpstr>General form of a C program with multiple functions (1)</vt:lpstr>
      <vt:lpstr>General form of a C program with multiple functions (2)</vt:lpstr>
      <vt:lpstr>Function Definition</vt:lpstr>
      <vt:lpstr>Function Definition</vt:lpstr>
      <vt:lpstr>Defining and Calling Functions</vt:lpstr>
      <vt:lpstr>Function Calls</vt:lpstr>
      <vt:lpstr>Function Calls</vt:lpstr>
      <vt:lpstr>Function Calls</vt:lpstr>
      <vt:lpstr>Program: Printing a text</vt:lpstr>
      <vt:lpstr>PowerPoint Presentation</vt:lpstr>
      <vt:lpstr>Program: Printing a Number</vt:lpstr>
      <vt:lpstr>PowerPoint Presentation</vt:lpstr>
      <vt:lpstr>The return Statement</vt:lpstr>
      <vt:lpstr>The return Statement</vt:lpstr>
      <vt:lpstr>The return Statement</vt:lpstr>
      <vt:lpstr>Program Termination</vt:lpstr>
      <vt:lpstr>Program Termination</vt:lpstr>
      <vt:lpstr>Program: Computing Averages</vt:lpstr>
      <vt:lpstr>Program: Computing Averages</vt:lpstr>
      <vt:lpstr>Program: Computing Averages</vt:lpstr>
      <vt:lpstr>Program: Computing Averages</vt:lpstr>
      <vt:lpstr>Program: Computing Averages</vt:lpstr>
      <vt:lpstr>PowerPoint Presentation</vt:lpstr>
      <vt:lpstr>Function Definition</vt:lpstr>
      <vt:lpstr>Function Definition</vt:lpstr>
      <vt:lpstr>Function Declaration (Prototype)</vt:lpstr>
      <vt:lpstr>Function Declaration (Prototype)</vt:lpstr>
      <vt:lpstr>Function Declaration (Prototype)</vt:lpstr>
      <vt:lpstr>Function Declaration (Prototype)</vt:lpstr>
      <vt:lpstr>Function Declaration (Prototype)</vt:lpstr>
      <vt:lpstr>Function Declaration (Prototype)</vt:lpstr>
      <vt:lpstr>Function Declarations</vt:lpstr>
      <vt:lpstr>Function Declarations</vt:lpstr>
      <vt:lpstr>Arguments</vt:lpstr>
      <vt:lpstr>Arguments</vt:lpstr>
      <vt:lpstr>Arguments</vt:lpstr>
      <vt:lpstr>Arguments</vt:lpstr>
      <vt:lpstr>Program: Testing Whether a Number Is Prime</vt:lpstr>
      <vt:lpstr>PowerPoint Presentation</vt:lpstr>
      <vt:lpstr>PowerPoint Presentation</vt:lpstr>
      <vt:lpstr>Functions</vt:lpstr>
      <vt:lpstr>Library Functions</vt:lpstr>
      <vt:lpstr>Library Functions (Cont.)</vt:lpstr>
      <vt:lpstr>Library Functions (Cont.)</vt:lpstr>
      <vt:lpstr>Library Functions (Cont.)</vt:lpstr>
      <vt:lpstr>Library Functions (Cont.)</vt:lpstr>
      <vt:lpstr>Library Functions (Cont.)</vt:lpstr>
      <vt:lpstr>Library Functions (Cont.)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Naila</dc:creator>
  <cp:lastModifiedBy>Common Printer</cp:lastModifiedBy>
  <cp:revision>503</cp:revision>
  <dcterms:created xsi:type="dcterms:W3CDTF">2006-08-16T00:00:00Z</dcterms:created>
  <dcterms:modified xsi:type="dcterms:W3CDTF">2023-08-29T07:39:15Z</dcterms:modified>
</cp:coreProperties>
</file>