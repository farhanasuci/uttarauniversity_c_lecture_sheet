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799263" cy="9929813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Georgia" panose="02040502050405020303" pitchFamily="18" charset="0"/>
      <p:regular r:id="rId44"/>
      <p:bold r:id="rId45"/>
      <p:italic r:id="rId46"/>
      <p:boldItalic r:id="rId47"/>
    </p:embeddedFont>
    <p:embeddedFont>
      <p:font typeface="Tahoma" panose="020B0604030504040204" pitchFamily="34" charset="0"/>
      <p:regular r:id="rId48"/>
      <p:bold r:id="rId49"/>
    </p:embeddedFont>
    <p:embeddedFont>
      <p:font typeface="Times" panose="02020603050405020304" pitchFamily="18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iDDh1j+q9uP51p64M6dxq+NP31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A017CE-5322-4DC8-8A1D-446B482B133D}">
  <a:tblStyle styleId="{B7A017CE-5322-4DC8-8A1D-446B482B13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9DB53-A546-42AE-9624-92C2F15D104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80E98-D938-42EE-894A-B90FF371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32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342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40" name="Google Shape;2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p1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73" name="Google Shape;2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4" name="Google Shape;274;p1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81" name="Google Shape;2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89" name="Google Shape;2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0" name="Google Shape;290;p1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8" name="Google Shape;338;p2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87" name="Google Shape;38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8" name="Google Shape;388;p2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4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64" name="Google Shape;64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Farhana Akter Suci, Lecturer, Dept. of CSE</a:t>
            </a:r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Lecture 6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CSE0613101: Structured Programming Language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883" y="412149"/>
            <a:ext cx="2820317" cy="143252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Pseudo-code Notation and Flowchart Symbols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pic>
        <p:nvPicPr>
          <p:cNvPr id="1026" name="Picture 2" descr="Pseudocode and Flow Charts – Technology and More Technolog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1593273"/>
            <a:ext cx="7176654" cy="47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Structured Programming</a:t>
            </a: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Sequence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Selection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Repetition</a:t>
            </a:r>
            <a:endParaRPr dirty="0"/>
          </a:p>
        </p:txBody>
      </p:sp>
      <p:grpSp>
        <p:nvGrpSpPr>
          <p:cNvPr id="106" name="Google Shape;106;p3"/>
          <p:cNvGrpSpPr/>
          <p:nvPr/>
        </p:nvGrpSpPr>
        <p:grpSpPr>
          <a:xfrm>
            <a:off x="5486400" y="3352800"/>
            <a:ext cx="2133600" cy="1295400"/>
            <a:chOff x="3456" y="2112"/>
            <a:chExt cx="1344" cy="816"/>
          </a:xfrm>
        </p:grpSpPr>
        <p:grpSp>
          <p:nvGrpSpPr>
            <p:cNvPr id="107" name="Google Shape;107;p3"/>
            <p:cNvGrpSpPr/>
            <p:nvPr/>
          </p:nvGrpSpPr>
          <p:grpSpPr>
            <a:xfrm>
              <a:off x="3456" y="2112"/>
              <a:ext cx="1344" cy="816"/>
              <a:chOff x="2256" y="1680"/>
              <a:chExt cx="1344" cy="816"/>
            </a:xfrm>
          </p:grpSpPr>
          <p:sp>
            <p:nvSpPr>
              <p:cNvPr id="108" name="Google Shape;108;p3"/>
              <p:cNvSpPr/>
              <p:nvPr/>
            </p:nvSpPr>
            <p:spPr>
              <a:xfrm>
                <a:off x="2688" y="1824"/>
                <a:ext cx="480" cy="192"/>
              </a:xfrm>
              <a:prstGeom prst="flowChartDecision">
                <a:avLst/>
              </a:prstGeom>
              <a:solidFill>
                <a:srgbClr val="99CC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2256" y="2064"/>
                <a:ext cx="336" cy="144"/>
              </a:xfrm>
              <a:prstGeom prst="flowChartProcess">
                <a:avLst/>
              </a:prstGeom>
              <a:solidFill>
                <a:srgbClr val="99CC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3264" y="2064"/>
                <a:ext cx="336" cy="144"/>
              </a:xfrm>
              <a:prstGeom prst="flowChartProcess">
                <a:avLst/>
              </a:prstGeom>
              <a:solidFill>
                <a:srgbClr val="99CC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cxnSp>
            <p:nvCxnSpPr>
              <p:cNvPr id="111" name="Google Shape;111;p3"/>
              <p:cNvCxnSpPr/>
              <p:nvPr/>
            </p:nvCxnSpPr>
            <p:spPr>
              <a:xfrm rot="10800000">
                <a:off x="2448" y="1920"/>
                <a:ext cx="24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/>
              <p:nvPr/>
            </p:nvCxnSpPr>
            <p:spPr>
              <a:xfrm>
                <a:off x="3168" y="1920"/>
                <a:ext cx="24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" name="Google Shape;113;p3"/>
              <p:cNvCxnSpPr/>
              <p:nvPr/>
            </p:nvCxnSpPr>
            <p:spPr>
              <a:xfrm>
                <a:off x="2448" y="1920"/>
                <a:ext cx="0" cy="14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4" name="Google Shape;114;p3"/>
              <p:cNvCxnSpPr/>
              <p:nvPr/>
            </p:nvCxnSpPr>
            <p:spPr>
              <a:xfrm>
                <a:off x="3408" y="1920"/>
                <a:ext cx="0" cy="14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5" name="Google Shape;115;p3"/>
              <p:cNvCxnSpPr/>
              <p:nvPr/>
            </p:nvCxnSpPr>
            <p:spPr>
              <a:xfrm>
                <a:off x="2928" y="1680"/>
                <a:ext cx="0" cy="14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6" name="Google Shape;116;p3"/>
              <p:cNvCxnSpPr/>
              <p:nvPr/>
            </p:nvCxnSpPr>
            <p:spPr>
              <a:xfrm>
                <a:off x="2448" y="2208"/>
                <a:ext cx="0" cy="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3"/>
              <p:cNvCxnSpPr/>
              <p:nvPr/>
            </p:nvCxnSpPr>
            <p:spPr>
              <a:xfrm>
                <a:off x="3408" y="2208"/>
                <a:ext cx="0" cy="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3"/>
              <p:cNvCxnSpPr/>
              <p:nvPr/>
            </p:nvCxnSpPr>
            <p:spPr>
              <a:xfrm>
                <a:off x="2448" y="230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9" name="Google Shape;119;p3"/>
              <p:cNvCxnSpPr/>
              <p:nvPr/>
            </p:nvCxnSpPr>
            <p:spPr>
              <a:xfrm rot="10800000">
                <a:off x="2928" y="2304"/>
                <a:ext cx="48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0" name="Google Shape;120;p3"/>
              <p:cNvCxnSpPr/>
              <p:nvPr/>
            </p:nvCxnSpPr>
            <p:spPr>
              <a:xfrm>
                <a:off x="2928" y="2304"/>
                <a:ext cx="0" cy="19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21" name="Google Shape;121;p3"/>
            <p:cNvSpPr txBox="1"/>
            <p:nvPr/>
          </p:nvSpPr>
          <p:spPr>
            <a:xfrm>
              <a:off x="4320" y="2208"/>
              <a:ext cx="336" cy="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3648" y="2208"/>
              <a:ext cx="336" cy="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3664974" y="4360606"/>
            <a:ext cx="1600200" cy="1828800"/>
            <a:chOff x="2496" y="2688"/>
            <a:chExt cx="1008" cy="1152"/>
          </a:xfrm>
        </p:grpSpPr>
        <p:cxnSp>
          <p:nvCxnSpPr>
            <p:cNvPr id="124" name="Google Shape;124;p3"/>
            <p:cNvCxnSpPr/>
            <p:nvPr/>
          </p:nvCxnSpPr>
          <p:spPr>
            <a:xfrm>
              <a:off x="2880" y="2688"/>
              <a:ext cx="0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5" name="Google Shape;125;p3"/>
            <p:cNvSpPr/>
            <p:nvPr/>
          </p:nvSpPr>
          <p:spPr>
            <a:xfrm>
              <a:off x="2640" y="2832"/>
              <a:ext cx="480" cy="288"/>
            </a:xfrm>
            <a:prstGeom prst="flowChartDecision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26" name="Google Shape;126;p3"/>
            <p:cNvCxnSpPr/>
            <p:nvPr/>
          </p:nvCxnSpPr>
          <p:spPr>
            <a:xfrm>
              <a:off x="2880" y="3120"/>
              <a:ext cx="0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7" name="Google Shape;127;p3"/>
            <p:cNvSpPr/>
            <p:nvPr/>
          </p:nvSpPr>
          <p:spPr>
            <a:xfrm>
              <a:off x="2640" y="3264"/>
              <a:ext cx="480" cy="240"/>
            </a:xfrm>
            <a:prstGeom prst="flowChartProcess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28" name="Google Shape;128;p3"/>
            <p:cNvCxnSpPr/>
            <p:nvPr/>
          </p:nvCxnSpPr>
          <p:spPr>
            <a:xfrm>
              <a:off x="2880" y="3504"/>
              <a:ext cx="0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3"/>
            <p:cNvCxnSpPr/>
            <p:nvPr/>
          </p:nvCxnSpPr>
          <p:spPr>
            <a:xfrm rot="10800000">
              <a:off x="2496" y="3648"/>
              <a:ext cx="38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p3"/>
            <p:cNvCxnSpPr/>
            <p:nvPr/>
          </p:nvCxnSpPr>
          <p:spPr>
            <a:xfrm rot="10800000">
              <a:off x="2496" y="2976"/>
              <a:ext cx="0" cy="6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3"/>
            <p:cNvCxnSpPr/>
            <p:nvPr/>
          </p:nvCxnSpPr>
          <p:spPr>
            <a:xfrm>
              <a:off x="2496" y="2976"/>
              <a:ext cx="1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2" name="Google Shape;132;p3"/>
            <p:cNvSpPr txBox="1"/>
            <p:nvPr/>
          </p:nvSpPr>
          <p:spPr>
            <a:xfrm>
              <a:off x="2976" y="3072"/>
              <a:ext cx="336" cy="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" name="Google Shape;133;p3"/>
            <p:cNvCxnSpPr/>
            <p:nvPr/>
          </p:nvCxnSpPr>
          <p:spPr>
            <a:xfrm>
              <a:off x="3120" y="2976"/>
              <a:ext cx="38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3"/>
            <p:cNvCxnSpPr/>
            <p:nvPr/>
          </p:nvCxnSpPr>
          <p:spPr>
            <a:xfrm>
              <a:off x="3504" y="2976"/>
              <a:ext cx="0" cy="7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p3"/>
            <p:cNvCxnSpPr/>
            <p:nvPr/>
          </p:nvCxnSpPr>
          <p:spPr>
            <a:xfrm rot="10800000">
              <a:off x="2880" y="3744"/>
              <a:ext cx="62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3"/>
            <p:cNvCxnSpPr/>
            <p:nvPr/>
          </p:nvCxnSpPr>
          <p:spPr>
            <a:xfrm>
              <a:off x="2880" y="3744"/>
              <a:ext cx="0" cy="9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" name="Google Shape;137;p3"/>
            <p:cNvSpPr txBox="1"/>
            <p:nvPr/>
          </p:nvSpPr>
          <p:spPr>
            <a:xfrm>
              <a:off x="3168" y="2784"/>
              <a:ext cx="336" cy="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4298950" y="2514600"/>
            <a:ext cx="730250" cy="1143000"/>
            <a:chOff x="3044" y="1200"/>
            <a:chExt cx="460" cy="720"/>
          </a:xfrm>
        </p:grpSpPr>
        <p:sp>
          <p:nvSpPr>
            <p:cNvPr id="139" name="Google Shape;139;p3"/>
            <p:cNvSpPr/>
            <p:nvPr/>
          </p:nvSpPr>
          <p:spPr>
            <a:xfrm>
              <a:off x="3072" y="1344"/>
              <a:ext cx="432" cy="144"/>
            </a:xfrm>
            <a:prstGeom prst="flowChartProcess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40" name="Google Shape;140;p3"/>
            <p:cNvCxnSpPr/>
            <p:nvPr/>
          </p:nvCxnSpPr>
          <p:spPr>
            <a:xfrm>
              <a:off x="3264" y="1200"/>
              <a:ext cx="0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141;p3"/>
            <p:cNvCxnSpPr/>
            <p:nvPr/>
          </p:nvCxnSpPr>
          <p:spPr>
            <a:xfrm>
              <a:off x="3264" y="1488"/>
              <a:ext cx="0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2" name="Google Shape;142;p3"/>
            <p:cNvSpPr/>
            <p:nvPr/>
          </p:nvSpPr>
          <p:spPr>
            <a:xfrm>
              <a:off x="3044" y="1632"/>
              <a:ext cx="432" cy="144"/>
            </a:xfrm>
            <a:prstGeom prst="flowChartProcess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43" name="Google Shape;143;p3"/>
            <p:cNvCxnSpPr/>
            <p:nvPr/>
          </p:nvCxnSpPr>
          <p:spPr>
            <a:xfrm>
              <a:off x="3236" y="1776"/>
              <a:ext cx="0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44" name="Google Shape;144;p3"/>
          <p:cNvSpPr txBox="1"/>
          <p:nvPr/>
        </p:nvSpPr>
        <p:spPr>
          <a:xfrm>
            <a:off x="1295400" y="1447800"/>
            <a:ext cx="67056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 simple control structures to organize the solution to a problem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Sequence</a:t>
            </a:r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52" name="Google Shape;152;p4" descr="figure03_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0" y="1524000"/>
            <a:ext cx="3106738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457200" y="1447800"/>
            <a:ext cx="4876800" cy="2862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Write a program that takes time “T” as input and calculate  velocity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lang="en-US" sz="24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=0.00001.T</a:t>
            </a:r>
            <a:r>
              <a:rPr lang="en-US" sz="2400" baseline="300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lang="en-US" sz="24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-0.00488T</a:t>
            </a:r>
            <a:r>
              <a:rPr lang="en-US" sz="2400" baseline="300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4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+ 0.75795.T + 181.3566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acceleration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4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 =3-0.000062.V</a:t>
            </a:r>
            <a:r>
              <a:rPr lang="en-US" sz="2400" baseline="30000">
                <a:solidFill>
                  <a:srgbClr val="000099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Selection</a:t>
            </a:r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body" idx="4294967295"/>
          </p:nvPr>
        </p:nvSpPr>
        <p:spPr>
          <a:xfrm>
            <a:off x="1371600" y="2017713"/>
            <a:ext cx="7772400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/>
          </a:p>
          <a:p>
            <a:pPr marL="342900" lvl="0" indent="-2413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  <p:pic>
        <p:nvPicPr>
          <p:cNvPr id="162" name="Google Shape;162;p5" descr="figure03_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935163"/>
            <a:ext cx="8229600" cy="385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9" name="Google Shape;169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Conditional Statement</a:t>
            </a:r>
            <a:endParaRPr/>
          </a:p>
        </p:txBody>
      </p:sp>
      <p:sp>
        <p:nvSpPr>
          <p:cNvPr id="170" name="Google Shape;170;p6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</a:t>
            </a:r>
            <a:r>
              <a:rPr lang="en-US" sz="2800" b="1">
                <a:solidFill>
                  <a:srgbClr val="000099"/>
                </a:solidFill>
              </a:rPr>
              <a:t>condition</a:t>
            </a:r>
            <a:r>
              <a:rPr lang="en-US" sz="2800">
                <a:solidFill>
                  <a:srgbClr val="000099"/>
                </a:solidFill>
              </a:rPr>
              <a:t> </a:t>
            </a:r>
            <a:r>
              <a:rPr lang="en-US" sz="2800"/>
              <a:t>is an expression that can be evaluated to be either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Char char="–"/>
            </a:pPr>
            <a:r>
              <a:rPr lang="en-US" sz="2400" b="1">
                <a:solidFill>
                  <a:srgbClr val="000099"/>
                </a:solidFill>
              </a:rPr>
              <a:t>TRUE (any value other than 0) or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Char char="–"/>
            </a:pPr>
            <a:r>
              <a:rPr lang="en-US" sz="2400" b="1">
                <a:solidFill>
                  <a:srgbClr val="000099"/>
                </a:solidFill>
              </a:rPr>
              <a:t>FALSE (value of 0)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Conditional Expression is composed of expressions combined with </a:t>
            </a:r>
            <a:r>
              <a:rPr lang="en-US" sz="2800">
                <a:solidFill>
                  <a:srgbClr val="000099"/>
                </a:solidFill>
              </a:rPr>
              <a:t>relational </a:t>
            </a:r>
            <a:r>
              <a:rPr lang="en-US" sz="2800"/>
              <a:t>and/or </a:t>
            </a:r>
            <a:r>
              <a:rPr lang="en-US" sz="2800">
                <a:solidFill>
                  <a:srgbClr val="000099"/>
                </a:solidFill>
              </a:rPr>
              <a:t>logical operators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>
                <a:solidFill>
                  <a:srgbClr val="000099"/>
                </a:solidFill>
              </a:rPr>
              <a:t>Conditional statements (selection statements) </a:t>
            </a:r>
            <a:r>
              <a:rPr lang="en-US" sz="2800"/>
              <a:t>make decisions based upon the outcome of some condition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7" name="Google Shape;17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Relational Operators</a:t>
            </a:r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body" idx="1"/>
          </p:nvPr>
        </p:nvSpPr>
        <p:spPr>
          <a:xfrm>
            <a:off x="838200" y="2209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== </a:t>
            </a:r>
            <a:r>
              <a:rPr lang="en-US" sz="2800" b="1"/>
              <a:t>		</a:t>
            </a:r>
            <a:r>
              <a:rPr lang="en-US" sz="2800"/>
              <a:t>equality			(x == 3)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!=		non equality   		(y != 0)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&lt;		less than    			(x &lt; y)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&gt;		greater than    		(y &gt; 10)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&lt;=		less than equal to   		(x &lt;= 0)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&gt;=		greater than equal to         (x &gt;= y)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!!! </a:t>
            </a:r>
            <a:r>
              <a:rPr lang="en-US" sz="2800" b="1">
                <a:solidFill>
                  <a:srgbClr val="FF0000"/>
                </a:solidFill>
              </a:rPr>
              <a:t>a==b</a:t>
            </a:r>
            <a:r>
              <a:rPr lang="en-US" sz="2800"/>
              <a:t>  vs.  </a:t>
            </a:r>
            <a:r>
              <a:rPr lang="en-US" sz="2800">
                <a:solidFill>
                  <a:srgbClr val="FF0000"/>
                </a:solidFill>
              </a:rPr>
              <a:t>a=b</a:t>
            </a:r>
            <a:r>
              <a:rPr lang="en-US" sz="2800"/>
              <a:t> !!!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5" name="Google Shape;18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Examples</a:t>
            </a:r>
            <a:endParaRPr/>
          </a:p>
        </p:txBody>
      </p:sp>
      <p:sp>
        <p:nvSpPr>
          <p:cNvPr id="186" name="Google Shape;186;p8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&lt; B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D= b &gt; c;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(D)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	A=b+c;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Mixing with arithmetic op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X+Y &gt;= K/3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</p:txBody>
      </p:sp>
      <p:graphicFrame>
        <p:nvGraphicFramePr>
          <p:cNvPr id="187" name="Google Shape;187;p8"/>
          <p:cNvGraphicFramePr/>
          <p:nvPr/>
        </p:nvGraphicFramePr>
        <p:xfrm>
          <a:off x="6629400" y="1905000"/>
          <a:ext cx="1066800" cy="4145360"/>
        </p:xfrm>
        <a:graphic>
          <a:graphicData uri="http://schemas.openxmlformats.org/drawingml/2006/table">
            <a:tbl>
              <a:tblPr>
                <a:noFill/>
                <a:tableStyleId>{B7A017CE-5322-4DC8-8A1D-446B482B133D}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8" name="Google Shape;188;p8"/>
          <p:cNvSpPr txBox="1"/>
          <p:nvPr/>
        </p:nvSpPr>
        <p:spPr>
          <a:xfrm>
            <a:off x="7772400" y="1965325"/>
            <a:ext cx="762000" cy="39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</a:t>
            </a:r>
            <a:endParaRPr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Logical Operators</a:t>
            </a:r>
            <a:endParaRPr/>
          </a:p>
        </p:txBody>
      </p:sp>
      <p:sp>
        <p:nvSpPr>
          <p:cNvPr id="196" name="Google Shape;196;p9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!	 	not	     !(x==0)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&amp;&amp; 	and        (x&gt;=0) &amp;&amp; (x&lt;=10)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||		or          (x&gt;0) || (x&lt;0)</a:t>
            </a:r>
            <a:endParaRPr/>
          </a:p>
        </p:txBody>
      </p:sp>
      <p:graphicFrame>
        <p:nvGraphicFramePr>
          <p:cNvPr id="197" name="Google Shape;197;p9"/>
          <p:cNvGraphicFramePr/>
          <p:nvPr/>
        </p:nvGraphicFramePr>
        <p:xfrm>
          <a:off x="685800" y="3886200"/>
          <a:ext cx="7620000" cy="2442220"/>
        </p:xfrm>
        <a:graphic>
          <a:graphicData uri="http://schemas.openxmlformats.org/drawingml/2006/table">
            <a:tbl>
              <a:tblPr>
                <a:noFill/>
                <a:tableStyleId>{B7A017CE-5322-4DC8-8A1D-446B482B133D}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&amp;&amp; 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|| 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!A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!B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Examples</a:t>
            </a:r>
            <a:endParaRPr/>
          </a:p>
        </p:txBody>
      </p:sp>
      <p:sp>
        <p:nvSpPr>
          <p:cNvPr id="205" name="Google Shape;205;p10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A&lt;B &amp;&amp; C&gt;=5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A+B * 2 &lt; 5 &amp;&amp; 4&gt;=A/2 || T-2 &lt; 10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&lt; B &lt; C  ????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A&lt;B&lt;C  is not the same as 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(A&lt;B) &amp;&amp; (B&lt;C)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12" name="Google Shape;21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99"/>
                </a:solidFill>
              </a:rPr>
              <a:t>Precedence for Arithmetic, Relational, and Logical Operators</a:t>
            </a:r>
            <a:endParaRPr/>
          </a:p>
        </p:txBody>
      </p:sp>
      <p:pic>
        <p:nvPicPr>
          <p:cNvPr id="213" name="Google Shape;213;p11" descr="table03_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2514600"/>
            <a:ext cx="8229600" cy="3697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20" name="Google Shape;22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Exercise</a:t>
            </a:r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Assume that following variables are declared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a = 5.5	b = 1.5    k = -3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Are the following true or false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/>
              <a:t>a &lt; 10.0 + k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/>
              <a:t>a + b &gt;= 6.5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/>
              <a:t>k != a-b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/>
              <a:t>!(a == 3*b)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/>
              <a:t>a&lt;10 &amp;&amp; a&gt;5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Selection Statements</a:t>
            </a:r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body" idx="1"/>
          </p:nvPr>
        </p:nvSpPr>
        <p:spPr>
          <a:xfrm>
            <a:off x="1202171" y="1508487"/>
            <a:ext cx="729066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if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if else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switch</a:t>
            </a: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if statement</a:t>
            </a:r>
            <a:endParaRPr/>
          </a:p>
        </p:txBody>
      </p:sp>
      <p:sp>
        <p:nvSpPr>
          <p:cNvPr id="237" name="Google Shape;237;p14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The </a:t>
            </a:r>
            <a:r>
              <a:rPr lang="en-US" sz="2800">
                <a:solidFill>
                  <a:srgbClr val="000099"/>
                </a:solidFill>
              </a:rPr>
              <a:t>if</a:t>
            </a:r>
            <a:r>
              <a:rPr lang="en-US" sz="2800"/>
              <a:t> statement allows the program to conditionally execute a program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General form: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Char char="–"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if(Boolean expression)	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statement;	/* single statement */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 b="1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Char char="–"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if(Boolean expression) {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  	/* more than one statement */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statement1;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	…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 n;</a:t>
            </a:r>
            <a:endParaRPr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44" name="Google Shape;244;p1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if statement</a:t>
            </a:r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The </a:t>
            </a:r>
            <a:r>
              <a:rPr lang="en-US" sz="3000">
                <a:solidFill>
                  <a:srgbClr val="000099"/>
                </a:solidFill>
              </a:rPr>
              <a:t>if</a:t>
            </a:r>
            <a:r>
              <a:rPr lang="en-US" sz="3000"/>
              <a:t> statement allows the program to conditionally execute a program</a:t>
            </a:r>
            <a:endParaRPr/>
          </a:p>
          <a:p>
            <a:pPr marL="342900" lvl="0" indent="-342900" algn="l" rtl="0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The expression can be any valid C expression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If the expression is evaluated as true, the statements will be executed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Otherwise, the statement is bypassed, and the line of code  following the </a:t>
            </a:r>
            <a:r>
              <a:rPr lang="en-US" sz="2600">
                <a:solidFill>
                  <a:srgbClr val="000099"/>
                </a:solidFill>
              </a:rPr>
              <a:t>if </a:t>
            </a:r>
            <a:r>
              <a:rPr lang="en-US" sz="2600"/>
              <a:t>is executed.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An expression is true, if it is evaluated to non-zero value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If it evaluates to zero, it is false</a:t>
            </a:r>
            <a:endParaRPr/>
          </a:p>
          <a:p>
            <a:pPr marL="342900" lvl="0" indent="-342900" algn="l" rtl="0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Commonly,  The expression inside the </a:t>
            </a:r>
            <a:r>
              <a:rPr lang="en-US" sz="3000">
                <a:solidFill>
                  <a:srgbClr val="000099"/>
                </a:solidFill>
              </a:rPr>
              <a:t>if</a:t>
            </a:r>
            <a:r>
              <a:rPr lang="en-US" sz="3000"/>
              <a:t> compares one value with another using relational operator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The </a:t>
            </a:r>
            <a:r>
              <a:rPr lang="en-US">
                <a:latin typeface="Droid Sans Mono"/>
                <a:ea typeface="Droid Sans Mono"/>
                <a:cs typeface="Droid Sans Mono"/>
                <a:sym typeface="Droid Sans Mono"/>
              </a:rPr>
              <a:t>if</a:t>
            </a:r>
            <a:r>
              <a:rPr lang="en-US"/>
              <a:t> Selection Flowchart</a:t>
            </a:r>
            <a:endParaRPr/>
          </a:p>
        </p:txBody>
      </p:sp>
      <p:sp>
        <p:nvSpPr>
          <p:cNvPr id="251" name="Google Shape;251;p16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Droid Sans Mono"/>
                <a:ea typeface="Droid Sans Mono"/>
                <a:cs typeface="Droid Sans Mono"/>
                <a:sym typeface="Droid Sans Mono"/>
              </a:rPr>
              <a:t>if</a:t>
            </a:r>
            <a:r>
              <a:rPr lang="en-US"/>
              <a:t> statement is a single-entry/single-exit structure</a:t>
            </a:r>
            <a:endParaRPr/>
          </a:p>
        </p:txBody>
      </p:sp>
      <p:grpSp>
        <p:nvGrpSpPr>
          <p:cNvPr id="252" name="Google Shape;252;p16"/>
          <p:cNvGrpSpPr/>
          <p:nvPr/>
        </p:nvGrpSpPr>
        <p:grpSpPr>
          <a:xfrm>
            <a:off x="1066800" y="2763837"/>
            <a:ext cx="4381500" cy="2798763"/>
            <a:chOff x="696" y="2523"/>
            <a:chExt cx="1488" cy="824"/>
          </a:xfrm>
        </p:grpSpPr>
        <p:sp>
          <p:nvSpPr>
            <p:cNvPr id="253" name="Google Shape;253;p16"/>
            <p:cNvSpPr/>
            <p:nvPr/>
          </p:nvSpPr>
          <p:spPr>
            <a:xfrm>
              <a:off x="1080" y="2571"/>
              <a:ext cx="0" cy="192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1080" y="3107"/>
              <a:ext cx="0" cy="192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1056" y="2523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1056" y="3299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1464" y="2935"/>
              <a:ext cx="192" cy="0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1086" y="3152"/>
              <a:ext cx="864" cy="0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1999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944" y="2984"/>
              <a:ext cx="0" cy="168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0"/>
                  </a:moveTo>
                  <a:lnTo>
                    <a:pt x="0" y="1995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474" y="2854"/>
              <a:ext cx="170" cy="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true</a:t>
              </a:r>
              <a:endParaRPr sz="1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930" y="3170"/>
              <a:ext cx="208" cy="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false</a:t>
              </a:r>
              <a:endParaRPr sz="1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262" name="Google Shape;262;p16"/>
            <p:cNvGrpSpPr/>
            <p:nvPr/>
          </p:nvGrpSpPr>
          <p:grpSpPr>
            <a:xfrm>
              <a:off x="696" y="2763"/>
              <a:ext cx="768" cy="344"/>
              <a:chOff x="0" y="0"/>
              <a:chExt cx="20000" cy="20000"/>
            </a:xfrm>
          </p:grpSpPr>
          <p:sp>
            <p:nvSpPr>
              <p:cNvPr id="263" name="Google Shape;263;p16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90" y="10000"/>
                    </a:moveTo>
                    <a:lnTo>
                      <a:pt x="9990" y="19977"/>
                    </a:lnTo>
                    <a:lnTo>
                      <a:pt x="0" y="10000"/>
                    </a:lnTo>
                    <a:lnTo>
                      <a:pt x="9990" y="0"/>
                    </a:lnTo>
                    <a:lnTo>
                      <a:pt x="19990" y="1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4365" y="8372"/>
                <a:ext cx="11260" cy="4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grade &gt;= 60</a:t>
                </a:r>
                <a:endParaRPr sz="16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265" name="Google Shape;265;p16"/>
            <p:cNvGrpSpPr/>
            <p:nvPr/>
          </p:nvGrpSpPr>
          <p:grpSpPr>
            <a:xfrm>
              <a:off x="1656" y="2887"/>
              <a:ext cx="528" cy="96"/>
              <a:chOff x="0" y="0"/>
              <a:chExt cx="20000" cy="20000"/>
            </a:xfrm>
          </p:grpSpPr>
          <p:sp>
            <p:nvSpPr>
              <p:cNvPr id="266" name="Google Shape;266;p16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85" y="0"/>
                    </a:moveTo>
                    <a:lnTo>
                      <a:pt x="19985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7" name="Google Shape;267;p16"/>
              <p:cNvSpPr/>
              <p:nvPr/>
            </p:nvSpPr>
            <p:spPr>
              <a:xfrm>
                <a:off x="1258" y="4583"/>
                <a:ext cx="17469" cy="14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print “Passed”</a:t>
                </a:r>
                <a:endParaRPr sz="14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268" name="Google Shape;268;p16"/>
          <p:cNvSpPr/>
          <p:nvPr/>
        </p:nvSpPr>
        <p:spPr>
          <a:xfrm>
            <a:off x="0" y="1546225"/>
            <a:ext cx="5486400" cy="157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0" y="3724275"/>
            <a:ext cx="548640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5867400" y="2955925"/>
            <a:ext cx="2667000" cy="2301875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decision can be made on any expression.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zero - 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false</a:t>
            </a: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nonzero - 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true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3 - 4</a:t>
            </a: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is</a:t>
            </a:r>
            <a:r>
              <a:rPr lang="en-US" sz="18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true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77" name="Google Shape;27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if statement</a:t>
            </a:r>
            <a:endParaRPr/>
          </a:p>
        </p:txBody>
      </p:sp>
      <p:sp>
        <p:nvSpPr>
          <p:cNvPr id="278" name="Google Shape;278;p17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Example: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if(10&gt;9)</a:t>
            </a:r>
            <a:endParaRPr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lang="en-US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printf(“true”);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if(5&gt;9)</a:t>
            </a:r>
            <a:endParaRPr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lang="en-US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printf(“this will not print”);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if(1)</a:t>
            </a:r>
            <a:endParaRPr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lang="en-US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printf(“not zero!”);</a:t>
            </a:r>
            <a:endParaRPr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/>
              <a:t>What will be the output?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if else statement</a:t>
            </a:r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Using the </a:t>
            </a:r>
            <a:r>
              <a:rPr lang="en-US" sz="2800">
                <a:solidFill>
                  <a:srgbClr val="000099"/>
                </a:solidFill>
              </a:rPr>
              <a:t>if else </a:t>
            </a:r>
            <a:r>
              <a:rPr lang="en-US" sz="2800"/>
              <a:t>statement, if the expression is </a:t>
            </a:r>
            <a:r>
              <a:rPr lang="en-US" sz="2800" b="1">
                <a:solidFill>
                  <a:srgbClr val="00B050"/>
                </a:solidFill>
              </a:rPr>
              <a:t>true</a:t>
            </a:r>
            <a:r>
              <a:rPr lang="en-US" sz="2800"/>
              <a:t>, then the statements under </a:t>
            </a:r>
            <a:r>
              <a:rPr lang="en-US" sz="2800">
                <a:solidFill>
                  <a:srgbClr val="000099"/>
                </a:solidFill>
              </a:rPr>
              <a:t>if</a:t>
            </a:r>
            <a:r>
              <a:rPr lang="en-US" sz="2800"/>
              <a:t> will execute, and the </a:t>
            </a:r>
            <a:r>
              <a:rPr lang="en-US" sz="2800">
                <a:solidFill>
                  <a:srgbClr val="000099"/>
                </a:solidFill>
              </a:rPr>
              <a:t>else</a:t>
            </a:r>
            <a:r>
              <a:rPr lang="en-US" sz="2800"/>
              <a:t> portion will be skipped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If the statement is </a:t>
            </a:r>
            <a:r>
              <a:rPr lang="en-US" sz="2800" b="1">
                <a:solidFill>
                  <a:srgbClr val="00B050"/>
                </a:solidFill>
              </a:rPr>
              <a:t>false</a:t>
            </a:r>
            <a:r>
              <a:rPr lang="en-US" sz="2800"/>
              <a:t>, then the target of the </a:t>
            </a:r>
            <a:r>
              <a:rPr lang="en-US" sz="2800">
                <a:solidFill>
                  <a:srgbClr val="000099"/>
                </a:solidFill>
              </a:rPr>
              <a:t>if </a:t>
            </a:r>
            <a:r>
              <a:rPr lang="en-US" sz="2800"/>
              <a:t>is bypassed and the target of the </a:t>
            </a:r>
            <a:r>
              <a:rPr lang="en-US" sz="2800">
                <a:solidFill>
                  <a:srgbClr val="000099"/>
                </a:solidFill>
              </a:rPr>
              <a:t>else</a:t>
            </a:r>
            <a:r>
              <a:rPr lang="en-US" sz="2800"/>
              <a:t> is executed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rgbClr val="FF0000"/>
                </a:solidFill>
              </a:rPr>
              <a:t>Under no circumstance, both statements will execute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if else statement</a:t>
            </a:r>
            <a:endParaRPr/>
          </a:p>
        </p:txBody>
      </p:sp>
      <p:sp>
        <p:nvSpPr>
          <p:cNvPr id="294" name="Google Shape;294;p19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General form: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Char char="–"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if(Boolean expression)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statement;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else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statement;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 b="1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Char char="–"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if(Boolean expression) {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 block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} 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else {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 block</a:t>
            </a:r>
            <a:endParaRPr/>
          </a:p>
          <a:p>
            <a:pPr marL="742950" lvl="1" indent="-285750" algn="l" rtl="0"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The </a:t>
            </a:r>
            <a:r>
              <a:rPr lang="en-US">
                <a:latin typeface="Droid Sans Mono"/>
                <a:ea typeface="Droid Sans Mono"/>
                <a:cs typeface="Droid Sans Mono"/>
                <a:sym typeface="Droid Sans Mono"/>
              </a:rPr>
              <a:t>if</a:t>
            </a:r>
            <a:r>
              <a:rPr lang="en-US"/>
              <a:t>…</a:t>
            </a:r>
            <a:r>
              <a:rPr lang="en-US">
                <a:latin typeface="Droid Sans Mono"/>
                <a:ea typeface="Droid Sans Mono"/>
                <a:cs typeface="Droid Sans Mono"/>
                <a:sym typeface="Droid Sans Mono"/>
              </a:rPr>
              <a:t>else</a:t>
            </a:r>
            <a:r>
              <a:rPr lang="en-US"/>
              <a:t> Selection Statement</a:t>
            </a:r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Flowchart of the </a:t>
            </a:r>
            <a:r>
              <a:rPr lang="en-US" sz="2600">
                <a:latin typeface="Droid Sans Mono"/>
                <a:ea typeface="Droid Sans Mono"/>
                <a:cs typeface="Droid Sans Mono"/>
                <a:sym typeface="Droid Sans Mono"/>
              </a:rPr>
              <a:t>if</a:t>
            </a:r>
            <a:r>
              <a:rPr lang="en-US"/>
              <a:t>…</a:t>
            </a:r>
            <a:r>
              <a:rPr lang="en-US" sz="2600">
                <a:latin typeface="Droid Sans Mono"/>
                <a:ea typeface="Droid Sans Mono"/>
                <a:cs typeface="Droid Sans Mono"/>
                <a:sym typeface="Droid Sans Mono"/>
              </a:rPr>
              <a:t>else</a:t>
            </a:r>
            <a:r>
              <a:rPr lang="en-US"/>
              <a:t> selection statement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grpSp>
        <p:nvGrpSpPr>
          <p:cNvPr id="301" name="Google Shape;301;p20"/>
          <p:cNvGrpSpPr/>
          <p:nvPr/>
        </p:nvGrpSpPr>
        <p:grpSpPr>
          <a:xfrm>
            <a:off x="304800" y="2133600"/>
            <a:ext cx="8458200" cy="2438400"/>
            <a:chOff x="312" y="2345"/>
            <a:chExt cx="2256" cy="954"/>
          </a:xfrm>
        </p:grpSpPr>
        <p:sp>
          <p:nvSpPr>
            <p:cNvPr id="302" name="Google Shape;302;p20"/>
            <p:cNvSpPr/>
            <p:nvPr/>
          </p:nvSpPr>
          <p:spPr>
            <a:xfrm>
              <a:off x="1471" y="3072"/>
              <a:ext cx="836" cy="0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1999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841" y="2630"/>
              <a:ext cx="170" cy="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580" y="3072"/>
              <a:ext cx="843" cy="0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1999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578" y="2954"/>
              <a:ext cx="0" cy="117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0"/>
                  </a:moveTo>
                  <a:lnTo>
                    <a:pt x="0" y="199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891" y="2630"/>
              <a:ext cx="208" cy="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2304" y="2717"/>
              <a:ext cx="0" cy="141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1994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576" y="2717"/>
              <a:ext cx="0" cy="141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1994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2306" y="2954"/>
              <a:ext cx="0" cy="117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0" y="0"/>
                  </a:moveTo>
                  <a:lnTo>
                    <a:pt x="0" y="199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310" name="Google Shape;310;p20"/>
            <p:cNvGrpSpPr/>
            <p:nvPr/>
          </p:nvGrpSpPr>
          <p:grpSpPr>
            <a:xfrm>
              <a:off x="312" y="2859"/>
              <a:ext cx="528" cy="96"/>
              <a:chOff x="0" y="0"/>
              <a:chExt cx="20000" cy="20000"/>
            </a:xfrm>
          </p:grpSpPr>
          <p:sp>
            <p:nvSpPr>
              <p:cNvPr id="311" name="Google Shape;311;p20"/>
              <p:cNvSpPr/>
              <p:nvPr/>
            </p:nvSpPr>
            <p:spPr>
              <a:xfrm>
                <a:off x="1985" y="4583"/>
                <a:ext cx="16000" cy="14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 “Failed”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85" y="0"/>
                    </a:moveTo>
                    <a:lnTo>
                      <a:pt x="19985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sp>
          <p:nvSpPr>
            <p:cNvPr id="313" name="Google Shape;313;p20"/>
            <p:cNvSpPr/>
            <p:nvPr/>
          </p:nvSpPr>
          <p:spPr>
            <a:xfrm>
              <a:off x="2090" y="2881"/>
              <a:ext cx="432" cy="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 “Passed”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2040" y="2859"/>
              <a:ext cx="528" cy="96"/>
            </a:xfrm>
            <a:custGeom>
              <a:avLst/>
              <a:gdLst/>
              <a:ahLst/>
              <a:cxnLst/>
              <a:rect l="l" t="t" r="r" b="b"/>
              <a:pathLst>
                <a:path w="20000" h="20000" extrusionOk="0">
                  <a:moveTo>
                    <a:pt x="19985" y="0"/>
                  </a:moveTo>
                  <a:lnTo>
                    <a:pt x="19985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8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315" name="Google Shape;315;p20"/>
            <p:cNvGrpSpPr/>
            <p:nvPr/>
          </p:nvGrpSpPr>
          <p:grpSpPr>
            <a:xfrm>
              <a:off x="1422" y="3050"/>
              <a:ext cx="49" cy="249"/>
              <a:chOff x="-25" y="0"/>
              <a:chExt cx="20049" cy="20000"/>
            </a:xfrm>
          </p:grpSpPr>
          <p:sp>
            <p:nvSpPr>
              <p:cNvPr id="316" name="Google Shape;316;p20"/>
              <p:cNvSpPr/>
              <p:nvPr/>
            </p:nvSpPr>
            <p:spPr>
              <a:xfrm>
                <a:off x="10081" y="3981"/>
                <a:ext cx="163" cy="1213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0" y="1994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-25" y="16116"/>
                <a:ext cx="19723" cy="3884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8" name="Google Shape;318;p20"/>
              <p:cNvSpPr/>
              <p:nvPr/>
            </p:nvSpPr>
            <p:spPr>
              <a:xfrm>
                <a:off x="301" y="0"/>
                <a:ext cx="19723" cy="3885"/>
              </a:xfrm>
              <a:prstGeom prst="ellipse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19" name="Google Shape;319;p20"/>
            <p:cNvGrpSpPr/>
            <p:nvPr/>
          </p:nvGrpSpPr>
          <p:grpSpPr>
            <a:xfrm>
              <a:off x="576" y="2345"/>
              <a:ext cx="1728" cy="542"/>
              <a:chOff x="1363" y="0"/>
              <a:chExt cx="17280" cy="20001"/>
            </a:xfrm>
          </p:grpSpPr>
          <p:grpSp>
            <p:nvGrpSpPr>
              <p:cNvPr id="320" name="Google Shape;320;p20"/>
              <p:cNvGrpSpPr/>
              <p:nvPr/>
            </p:nvGrpSpPr>
            <p:grpSpPr>
              <a:xfrm>
                <a:off x="9779" y="0"/>
                <a:ext cx="484" cy="7257"/>
                <a:chOff x="1409" y="0"/>
                <a:chExt cx="17182" cy="20000"/>
              </a:xfrm>
            </p:grpSpPr>
            <p:sp>
              <p:nvSpPr>
                <p:cNvPr id="321" name="Google Shape;321;p20"/>
                <p:cNvSpPr/>
                <p:nvPr/>
              </p:nvSpPr>
              <p:spPr>
                <a:xfrm>
                  <a:off x="9929" y="5041"/>
                  <a:ext cx="142" cy="14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0" h="20000" extrusionOk="0">
                      <a:moveTo>
                        <a:pt x="0" y="1994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endParaRPr>
                </a:p>
              </p:txBody>
            </p:sp>
            <p:sp>
              <p:nvSpPr>
                <p:cNvPr id="322" name="Google Shape;322;p20"/>
                <p:cNvSpPr/>
                <p:nvPr/>
              </p:nvSpPr>
              <p:spPr>
                <a:xfrm>
                  <a:off x="1409" y="0"/>
                  <a:ext cx="17182" cy="492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endParaRPr>
                </a:p>
              </p:txBody>
            </p:sp>
          </p:grpSp>
          <p:grpSp>
            <p:nvGrpSpPr>
              <p:cNvPr id="323" name="Google Shape;323;p20"/>
              <p:cNvGrpSpPr/>
              <p:nvPr/>
            </p:nvGrpSpPr>
            <p:grpSpPr>
              <a:xfrm>
                <a:off x="1363" y="7257"/>
                <a:ext cx="17280" cy="12744"/>
                <a:chOff x="-2" y="-195"/>
                <a:chExt cx="20002" cy="20390"/>
              </a:xfrm>
            </p:grpSpPr>
            <p:sp>
              <p:nvSpPr>
                <p:cNvPr id="324" name="Google Shape;324;p20"/>
                <p:cNvSpPr/>
                <p:nvPr/>
              </p:nvSpPr>
              <p:spPr>
                <a:xfrm>
                  <a:off x="14444" y="10000"/>
                  <a:ext cx="5556" cy="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0" h="20000" extrusionOk="0">
                      <a:moveTo>
                        <a:pt x="1998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endParaRPr>
                </a:p>
              </p:txBody>
            </p:sp>
            <p:sp>
              <p:nvSpPr>
                <p:cNvPr id="325" name="Google Shape;325;p20"/>
                <p:cNvSpPr/>
                <p:nvPr/>
              </p:nvSpPr>
              <p:spPr>
                <a:xfrm>
                  <a:off x="-2" y="10000"/>
                  <a:ext cx="5556" cy="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0" h="20000" extrusionOk="0">
                      <a:moveTo>
                        <a:pt x="1998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endParaRPr>
                </a:p>
              </p:txBody>
            </p:sp>
            <p:grpSp>
              <p:nvGrpSpPr>
                <p:cNvPr id="326" name="Google Shape;326;p20"/>
                <p:cNvGrpSpPr/>
                <p:nvPr/>
              </p:nvGrpSpPr>
              <p:grpSpPr>
                <a:xfrm>
                  <a:off x="5536" y="-195"/>
                  <a:ext cx="8889" cy="20390"/>
                  <a:chOff x="0" y="0"/>
                  <a:chExt cx="20000" cy="20000"/>
                </a:xfrm>
              </p:grpSpPr>
              <p:sp>
                <p:nvSpPr>
                  <p:cNvPr id="327" name="Google Shape;327;p20"/>
                  <p:cNvSpPr/>
                  <p:nvPr/>
                </p:nvSpPr>
                <p:spPr>
                  <a:xfrm>
                    <a:off x="0" y="0"/>
                    <a:ext cx="20000" cy="20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0" h="20000" extrusionOk="0">
                        <a:moveTo>
                          <a:pt x="19990" y="10000"/>
                        </a:moveTo>
                        <a:lnTo>
                          <a:pt x="9990" y="19977"/>
                        </a:lnTo>
                        <a:lnTo>
                          <a:pt x="0" y="10000"/>
                        </a:lnTo>
                        <a:lnTo>
                          <a:pt x="9990" y="0"/>
                        </a:lnTo>
                        <a:lnTo>
                          <a:pt x="19990" y="100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Twentieth Century"/>
                      <a:ea typeface="Twentieth Century"/>
                      <a:cs typeface="Twentieth Century"/>
                      <a:sym typeface="Twentieth Century"/>
                    </a:endParaRPr>
                  </a:p>
                </p:txBody>
              </p:sp>
              <p:sp>
                <p:nvSpPr>
                  <p:cNvPr id="328" name="Google Shape;328;p20"/>
                  <p:cNvSpPr/>
                  <p:nvPr/>
                </p:nvSpPr>
                <p:spPr>
                  <a:xfrm>
                    <a:off x="4365" y="8287"/>
                    <a:ext cx="11261" cy="4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grade &gt;= 60</a:t>
                    </a:r>
                    <a:endParaRPr/>
                  </a:p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</p:grpSp>
        </p:grpSp>
      </p:grp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The </a:t>
            </a:r>
            <a:r>
              <a:rPr lang="en-US">
                <a:latin typeface="Droid Sans Mono"/>
                <a:ea typeface="Droid Sans Mono"/>
                <a:cs typeface="Droid Sans Mono"/>
                <a:sym typeface="Droid Sans Mono"/>
              </a:rPr>
              <a:t>if</a:t>
            </a:r>
            <a:r>
              <a:rPr lang="en-US"/>
              <a:t>…</a:t>
            </a:r>
            <a:r>
              <a:rPr lang="en-US">
                <a:latin typeface="Droid Sans Mono"/>
                <a:ea typeface="Droid Sans Mono"/>
                <a:cs typeface="Droid Sans Mono"/>
                <a:sym typeface="Droid Sans Mono"/>
              </a:rPr>
              <a:t>else</a:t>
            </a:r>
            <a:r>
              <a:rPr lang="en-US"/>
              <a:t> selection statement</a:t>
            </a:r>
            <a:endParaRPr/>
          </a:p>
        </p:txBody>
      </p:sp>
      <p:sp>
        <p:nvSpPr>
          <p:cNvPr id="334" name="Google Shape;334;p21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 ( grade &gt;= 60 )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 "Passed\n");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 "Failed\n"); 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41" name="Google Shape;3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if else statement</a:t>
            </a:r>
            <a:endParaRPr/>
          </a:p>
        </p:txBody>
      </p:sp>
      <p:sp>
        <p:nvSpPr>
          <p:cNvPr id="342" name="Google Shape;342;p22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What does the following program do?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Assume that x, y, temp are declared.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en-US" sz="3600"/>
              <a:t>	</a:t>
            </a: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x=10, y=20, temp;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if (x &gt; y)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	 temp = x;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else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  temp = y;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Compound Statements</a:t>
            </a:r>
            <a:endParaRPr/>
          </a:p>
        </p:txBody>
      </p:sp>
      <p:sp>
        <p:nvSpPr>
          <p:cNvPr id="348" name="Google Shape;348;p23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To make an </a:t>
            </a: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800"/>
              <a:t> statement control two or more statements, use a </a:t>
            </a:r>
            <a:r>
              <a:rPr lang="en-US" sz="2800" b="1" i="1">
                <a:solidFill>
                  <a:srgbClr val="000099"/>
                </a:solidFill>
              </a:rPr>
              <a:t>compound statement ( statement block)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compound statement has the form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/>
              <a:t>	</a:t>
            </a: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US" sz="2800" i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statements</a:t>
            </a:r>
            <a:r>
              <a:rPr lang="en-US" sz="28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Putting braces around a group of statements forces the compiler to treat it as a single statement.</a:t>
            </a:r>
            <a:endParaRPr/>
          </a:p>
          <a:p>
            <a:pPr marL="342900" lvl="0" indent="-139700" algn="l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Compound Statements</a:t>
            </a:r>
            <a:endParaRPr/>
          </a:p>
        </p:txBody>
      </p:sp>
      <p:sp>
        <p:nvSpPr>
          <p:cNvPr id="354" name="Google Shape;354;p24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compound statement is usually put on multiple lines, with one statement per line: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{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line_num = 0;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page_num++;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ourier New"/>
              <a:buNone/>
            </a:pPr>
            <a:r>
              <a:rPr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Each inner statement still ends with a semicolon, but the compound statement itself does not.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</a:pPr>
            <a:r>
              <a:rPr lang="en-US">
                <a:solidFill>
                  <a:srgbClr val="17365D"/>
                </a:solidFill>
              </a:rPr>
              <a:t>Example</a:t>
            </a:r>
            <a:endParaRPr>
              <a:solidFill>
                <a:srgbClr val="17365D"/>
              </a:solidFill>
            </a:endParaRPr>
          </a:p>
        </p:txBody>
      </p:sp>
      <p:sp>
        <p:nvSpPr>
          <p:cNvPr id="360" name="Google Shape;360;p25"/>
          <p:cNvSpPr txBox="1"/>
          <p:nvPr/>
        </p:nvSpPr>
        <p:spPr>
          <a:xfrm>
            <a:off x="457200" y="1416050"/>
            <a:ext cx="698139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if(value &gt; 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result = 1.0 / value;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printf("Result = %f\n", result);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5486400" y="3124200"/>
            <a:ext cx="3200400" cy="1200329"/>
          </a:xfrm>
          <a:prstGeom prst="rect">
            <a:avLst/>
          </a:prstGeom>
          <a:solidFill>
            <a:srgbClr val="92CCD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these two sections of code work differently?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381000" y="3937000"/>
            <a:ext cx="698139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if(value &gt; 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result = 1.0 / value;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printf("Result = %f\n", result);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</a:pPr>
            <a:r>
              <a:rPr lang="en-US">
                <a:solidFill>
                  <a:srgbClr val="17365D"/>
                </a:solidFill>
              </a:rPr>
              <a:t>Example</a:t>
            </a:r>
            <a:endParaRPr>
              <a:solidFill>
                <a:srgbClr val="17365D"/>
              </a:solidFill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457200" y="1413808"/>
            <a:ext cx="698139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if(value &gt; 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result = 1.0 / value;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printf("Result = %f\n", result);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5715000" y="1219200"/>
            <a:ext cx="3200400" cy="461665"/>
          </a:xfrm>
          <a:prstGeom prst="rect">
            <a:avLst/>
          </a:prstGeom>
          <a:solidFill>
            <a:srgbClr val="92CCD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Yes!</a:t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381000" y="3905071"/>
            <a:ext cx="698139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if(value &gt; 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result = 1.0 / value;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printf("Result = %f\n", result);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5715000" y="3505200"/>
            <a:ext cx="3200400" cy="461665"/>
          </a:xfrm>
          <a:prstGeom prst="rect">
            <a:avLst/>
          </a:prstGeom>
          <a:solidFill>
            <a:srgbClr val="92CCD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always execute!</a:t>
            </a:r>
            <a:endParaRPr/>
          </a:p>
        </p:txBody>
      </p:sp>
      <p:cxnSp>
        <p:nvCxnSpPr>
          <p:cNvPr id="372" name="Google Shape;372;p26"/>
          <p:cNvCxnSpPr/>
          <p:nvPr/>
        </p:nvCxnSpPr>
        <p:spPr>
          <a:xfrm rot="5400000">
            <a:off x="6134100" y="4076700"/>
            <a:ext cx="762000" cy="533400"/>
          </a:xfrm>
          <a:prstGeom prst="straightConnector1">
            <a:avLst/>
          </a:prstGeom>
          <a:noFill/>
          <a:ln w="57150" cap="flat" cmpd="sng">
            <a:solidFill>
              <a:srgbClr val="538CD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Nested if statement</a:t>
            </a:r>
            <a:endParaRPr/>
          </a:p>
        </p:txBody>
      </p:sp>
      <p:sp>
        <p:nvSpPr>
          <p:cNvPr id="378" name="Google Shape;378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an if statement is the target of another if or else, it is said to be nested within the outer if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if(count&gt;max) /*outer if*/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if(error)printf(“error, try again.”); 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/* nested if*/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Here, the printf() statement will execute only if count is greater than max and error is nonzero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Nested if statement</a:t>
            </a:r>
            <a:endParaRPr/>
          </a:p>
        </p:txBody>
      </p:sp>
      <p:sp>
        <p:nvSpPr>
          <p:cNvPr id="384" name="Google Shape;384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Another example: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if(p)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	  if(q)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printf(“a and b are true”);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/>
          </a:p>
          <a:p>
            <a:pPr marL="1143000" lvl="2" indent="-228600" algn="l" rtl="0"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Printf(“to which statement does this else apply?”);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 </a:t>
            </a:r>
            <a:r>
              <a:rPr lang="en-US">
                <a:solidFill>
                  <a:srgbClr val="000099"/>
                </a:solidFill>
              </a:rPr>
              <a:t>else</a:t>
            </a:r>
            <a:r>
              <a:rPr lang="en-US"/>
              <a:t> always associates with the nearest </a:t>
            </a:r>
            <a:r>
              <a:rPr lang="en-US">
                <a:solidFill>
                  <a:srgbClr val="000099"/>
                </a:solidFill>
              </a:rPr>
              <a:t>if</a:t>
            </a:r>
            <a:r>
              <a:rPr lang="en-US"/>
              <a:t> in the same block, which does not already have and else associated with it</a:t>
            </a:r>
            <a:endParaRPr/>
          </a:p>
          <a:p>
            <a:pPr marL="1143000" lvl="2" indent="-876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1143000" lvl="2" indent="-876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Indentation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1219200" y="2057400"/>
            <a:ext cx="2819400" cy="445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 a = 750;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if (a&gt;0)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if (a &gt;= 1000)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    a =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    if (a &lt;500)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        a *= 2;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    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        a *= 10;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 a += 3;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4800600" y="2057400"/>
            <a:ext cx="2819400" cy="445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 a = 750;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if (a&gt;0)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if (a &gt;= 1000)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=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if (a &lt;500)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*= 2;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*= 10;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+= 3;</a:t>
            </a:r>
            <a:endParaRPr/>
          </a:p>
        </p:txBody>
      </p:sp>
      <p:sp>
        <p:nvSpPr>
          <p:cNvPr id="394" name="Google Shape;394;p29"/>
          <p:cNvSpPr/>
          <p:nvPr/>
        </p:nvSpPr>
        <p:spPr>
          <a:xfrm>
            <a:off x="6019800" y="4495800"/>
            <a:ext cx="2133600" cy="1905000"/>
          </a:xfrm>
          <a:prstGeom prst="irregularSeal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Not good</a:t>
            </a:r>
            <a:endParaRPr/>
          </a:p>
        </p:txBody>
      </p:sp>
      <p:sp>
        <p:nvSpPr>
          <p:cNvPr id="395" name="Google Shape;395;p29"/>
          <p:cNvSpPr/>
          <p:nvPr/>
        </p:nvSpPr>
        <p:spPr>
          <a:xfrm>
            <a:off x="152400" y="3810000"/>
            <a:ext cx="2133600" cy="1905000"/>
          </a:xfrm>
          <a:prstGeom prst="irregularSeal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Good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If else if ladder</a:t>
            </a:r>
            <a:endParaRPr/>
          </a:p>
        </p:txBody>
      </p:sp>
      <p:sp>
        <p:nvSpPr>
          <p:cNvPr id="401" name="Google Shape;401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General form: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if(expression)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statement;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 if (expression)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statement;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 if (expression)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statement;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…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statement;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If else if ladder</a:t>
            </a:r>
            <a:endParaRPr/>
          </a:p>
        </p:txBody>
      </p:sp>
      <p:sp>
        <p:nvSpPr>
          <p:cNvPr id="407" name="Google Shape;407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expressions are evaluated from the top downward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As soon as a true condition is found, the statement associated with it is executed, and the rest of the ladder is bypassed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none of the expressions are true, the final else will be executed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200"/>
              <a:t>Write a program that takes a number as input, and prints whether the number is positive, negative or 0;</a:t>
            </a:r>
            <a:endParaRPr/>
          </a:p>
          <a:p>
            <a:pPr marL="342900" lvl="0" indent="-24638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val;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scanf(“%d”,&amp;val);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if(val &lt; 0)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printf(“Negative value”);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 if(val == 0)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printf(“A value of zero”);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printf(“positive value”);</a:t>
            </a:r>
            <a:endParaRPr/>
          </a:p>
          <a:p>
            <a:pPr marL="742950" lvl="1" indent="-28575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0;}</a:t>
            </a:r>
            <a:endParaRPr/>
          </a:p>
          <a:p>
            <a:pPr marL="342900" lvl="0" indent="-342900" algn="l" rtl="0">
              <a:spcBef>
                <a:spcPts val="399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lang="en-US" sz="4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342900" lvl="0" indent="-34290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246380" algn="l" rtl="0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1143000" lvl="2" indent="-156210" algn="l" rtl="0">
              <a:spcBef>
                <a:spcPts val="22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Switch statement</a:t>
            </a:r>
            <a:endParaRPr/>
          </a:p>
        </p:txBody>
      </p:sp>
      <p:sp>
        <p:nvSpPr>
          <p:cNvPr id="419" name="Google Shape;419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switch statement is the C’s multiple selection statement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It is used to select one of several alternative paths in program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expression is matched against a list of constants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When a match is found, the statement associated with that match is executed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Switch statement</a:t>
            </a:r>
            <a:endParaRPr/>
          </a:p>
        </p:txBody>
      </p:sp>
      <p:sp>
        <p:nvSpPr>
          <p:cNvPr id="425" name="Google Shape;425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General form: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switch(int expression) {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case constant1 :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statement(s);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break;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case constant2 :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statement(s); break;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	/* you can have any number of case statements */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default : /* Optional */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lang="en-US" sz="24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statement(s); }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31" name="Google Shape;431;p35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3886200" cy="46783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#include &lt;stdio.h&gt;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void main()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{  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int gender;    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printf("Enter your gender (male=1, female=2): ");                    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scanf("%d",&amp;gender); 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143000" lvl="2" indent="-1143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sp>
        <p:nvSpPr>
          <p:cNvPr id="432" name="Google Shape;432;p35"/>
          <p:cNvSpPr txBox="1"/>
          <p:nvPr/>
        </p:nvSpPr>
        <p:spPr>
          <a:xfrm>
            <a:off x="4724400" y="1447801"/>
            <a:ext cx="4038600" cy="4724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switch(gender) {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case 1: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printf("You are male\n");           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break;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case 2: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printf("you are female\n");            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break;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default: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printf(" invalid input\n");                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break;}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127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438" name="Google Shape;438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		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		Thank you</a:t>
            </a: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Farhana Akter Suci, Lecturer, Dept. of CSE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2152</Words>
  <Application>Microsoft Office PowerPoint</Application>
  <PresentationFormat>On-screen Show (4:3)</PresentationFormat>
  <Paragraphs>441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Georgia</vt:lpstr>
      <vt:lpstr>Times</vt:lpstr>
      <vt:lpstr>Twentieth Century</vt:lpstr>
      <vt:lpstr>Tahoma</vt:lpstr>
      <vt:lpstr>Courier New</vt:lpstr>
      <vt:lpstr>Times New Roman</vt:lpstr>
      <vt:lpstr>Consolas</vt:lpstr>
      <vt:lpstr>Droid Sans Mono</vt:lpstr>
      <vt:lpstr>Calibri</vt:lpstr>
      <vt:lpstr>Noto Sans Symbols</vt:lpstr>
      <vt:lpstr>Arial</vt:lpstr>
      <vt:lpstr>Office Theme</vt:lpstr>
      <vt:lpstr>Lecture 6</vt:lpstr>
      <vt:lpstr>Pseudo-code Notation and Flowchart Symbols</vt:lpstr>
      <vt:lpstr>Structured Programming</vt:lpstr>
      <vt:lpstr>Sequence</vt:lpstr>
      <vt:lpstr>Selection</vt:lpstr>
      <vt:lpstr>Conditional Statement</vt:lpstr>
      <vt:lpstr>Relational Operators</vt:lpstr>
      <vt:lpstr>Examples</vt:lpstr>
      <vt:lpstr>Logical Operators</vt:lpstr>
      <vt:lpstr>Examples</vt:lpstr>
      <vt:lpstr>Precedence for Arithmetic, Relational, and Logical Operators</vt:lpstr>
      <vt:lpstr>Exercise</vt:lpstr>
      <vt:lpstr>Selection Statements</vt:lpstr>
      <vt:lpstr>if statement</vt:lpstr>
      <vt:lpstr>if statement</vt:lpstr>
      <vt:lpstr>The if Selection Flowchart</vt:lpstr>
      <vt:lpstr>if statement</vt:lpstr>
      <vt:lpstr>if else statement</vt:lpstr>
      <vt:lpstr>if else statement</vt:lpstr>
      <vt:lpstr>The if…else Selection Statement</vt:lpstr>
      <vt:lpstr>The if…else selection statement</vt:lpstr>
      <vt:lpstr>if else statement</vt:lpstr>
      <vt:lpstr>Compound Statements</vt:lpstr>
      <vt:lpstr>Compound Statements</vt:lpstr>
      <vt:lpstr>Example</vt:lpstr>
      <vt:lpstr>Example</vt:lpstr>
      <vt:lpstr>Nested if statement</vt:lpstr>
      <vt:lpstr>Nested if statement</vt:lpstr>
      <vt:lpstr>Indentation</vt:lpstr>
      <vt:lpstr>If else if ladder</vt:lpstr>
      <vt:lpstr>If else if ladder</vt:lpstr>
      <vt:lpstr>Example</vt:lpstr>
      <vt:lpstr>Switch statement</vt:lpstr>
      <vt:lpstr>Switch statement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</dc:title>
  <dc:creator>Naila</dc:creator>
  <cp:lastModifiedBy>Farhana Akter Suci</cp:lastModifiedBy>
  <cp:revision>5</cp:revision>
  <cp:lastPrinted>2023-08-17T04:13:16Z</cp:lastPrinted>
  <dcterms:created xsi:type="dcterms:W3CDTF">2006-08-16T00:00:00Z</dcterms:created>
  <dcterms:modified xsi:type="dcterms:W3CDTF">2026-07-21T03:37:25Z</dcterms:modified>
</cp:coreProperties>
</file>