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39" r:id="rId3"/>
    <p:sldId id="340" r:id="rId4"/>
    <p:sldId id="341" r:id="rId5"/>
    <p:sldId id="330" r:id="rId6"/>
    <p:sldId id="331" r:id="rId7"/>
    <p:sldId id="332" r:id="rId8"/>
    <p:sldId id="342" r:id="rId9"/>
    <p:sldId id="352" r:id="rId10"/>
    <p:sldId id="353" r:id="rId11"/>
    <p:sldId id="343" r:id="rId12"/>
    <p:sldId id="344" r:id="rId13"/>
    <p:sldId id="350" r:id="rId14"/>
    <p:sldId id="351" r:id="rId15"/>
    <p:sldId id="345" r:id="rId16"/>
    <p:sldId id="346" r:id="rId17"/>
    <p:sldId id="347" r:id="rId18"/>
    <p:sldId id="348" r:id="rId19"/>
    <p:sldId id="349" r:id="rId20"/>
    <p:sldId id="354" r:id="rId21"/>
    <p:sldId id="355" r:id="rId22"/>
    <p:sldId id="356" r:id="rId23"/>
    <p:sldId id="25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>
      <p:cViewPr varScale="1">
        <p:scale>
          <a:sx n="69" d="100"/>
          <a:sy n="69" d="100"/>
        </p:scale>
        <p:origin x="14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5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9AB75-8EDB-4CAE-85F0-8A7931A11019}" type="datetimeFigureOut">
              <a:rPr lang="en-US" smtClean="0"/>
              <a:pPr/>
              <a:t>29-Aug-23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240EE-7B76-4F52-8784-8639329E8F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8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4F69BD-D067-4EB2-82FE-908708F9038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07604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97758C-0C23-4645-96EB-ACE0C09C202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89968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069CB7-2048-4492-9D87-3CCFB3CDD51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6927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6EB612-146D-4363-AD81-EB89F8A80AA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8821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918B66-1A67-4BC9-BF24-57DC950A8E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53916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918B66-1A67-4BC9-BF24-57DC950A8E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35755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918B66-1A67-4BC9-BF24-57DC950A8E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04212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58F669-5620-4A87-8916-A1D34897567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215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BEFD03-5583-4D46-BCED-1BFC4CDD0DF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3742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F95E72-7D73-4C29-85F3-04D51B85851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14412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9295AA-B687-4C8E-9209-C799D358901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72191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E1D8F2-A332-4E7F-92B2-342F2796578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81018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9305AE-8C8F-4507-89C5-767499E5F30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46570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65B478-1825-4D08-9688-CD6F827E9E3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952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DA17-7104-44EC-A37B-AAB226B4AA32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AEE32-BF38-425D-9C34-1E1D0760920C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CE566-2374-43D0-ABA0-573B770D79D2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2FF14-0483-4CFD-AAEB-D33E61CE29CC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23DF-9985-40AD-9BE7-9B6600B8A40D}" type="datetime1">
              <a:rPr lang="en-US" smtClean="0"/>
              <a:t>29-Aug-23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2A47-FDED-4A68-B3DE-C74A75FCD614}" type="datetime1">
              <a:rPr lang="en-US" smtClean="0"/>
              <a:t>29-Aug-23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E414-81C7-40D3-9E0C-C165ABD61588}" type="datetime1">
              <a:rPr lang="en-US" smtClean="0"/>
              <a:t>29-Aug-23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C4F9-157C-4303-93C5-ED0CD556B805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DD89C-F13E-4057-AE99-D5F0F49C9B2E}" type="datetime1">
              <a:rPr lang="en-US" smtClean="0"/>
              <a:t>29-Aug-23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A51A2-7C5E-4FC4-8B99-7AF797B783E4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63798-12C6-4761-A3CC-22ACBEC9DE88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50BA7-4746-46C6-A378-DE096F92BF86}" type="datetime1">
              <a:rPr lang="en-US" smtClean="0"/>
              <a:t>29-Aug-23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 w="19050">
            <a:solidFill>
              <a:srgbClr val="0070C0"/>
            </a:solidFill>
          </a:ln>
        </p:spPr>
        <p:txBody>
          <a:bodyPr/>
          <a:lstStyle/>
          <a:p>
            <a:r>
              <a:rPr lang="en-US" dirty="0" smtClean="0"/>
              <a:t>Lecture 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CSE0613101: </a:t>
            </a:r>
            <a:r>
              <a:rPr lang="en-US" dirty="0" smtClean="0"/>
              <a:t>Structured Programming Language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7" y="377513"/>
            <a:ext cx="3082273" cy="146716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955DF3-241F-4E02-BA4F-4A01D3A27591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statement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391400" cy="4303713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30000"/>
              </a:spcBef>
            </a:pPr>
            <a:r>
              <a:rPr lang="en-US" sz="2800" dirty="0" smtClean="0"/>
              <a:t>General form:</a:t>
            </a:r>
          </a:p>
          <a:p>
            <a:pPr lvl="1">
              <a:spcBef>
                <a:spcPct val="30000"/>
              </a:spcBef>
            </a:pPr>
            <a:r>
              <a:rPr lang="en-US" sz="2400" b="1" dirty="0" smtClean="0">
                <a:solidFill>
                  <a:srgbClr val="000099"/>
                </a:solidFill>
              </a:rPr>
              <a:t>while(</a:t>
            </a:r>
            <a:r>
              <a:rPr lang="en-US" sz="2400" b="1" i="1" dirty="0" smtClean="0">
                <a:solidFill>
                  <a:srgbClr val="000099"/>
                </a:solidFill>
              </a:rPr>
              <a:t>expression</a:t>
            </a:r>
            <a:r>
              <a:rPr lang="en-US" sz="2400" b="1" dirty="0" smtClean="0">
                <a:solidFill>
                  <a:srgbClr val="000099"/>
                </a:solidFill>
              </a:rPr>
              <a:t>)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</a:rPr>
              <a:t>		statement;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endParaRPr lang="en-US" sz="2400" b="1" dirty="0" smtClean="0">
              <a:solidFill>
                <a:srgbClr val="000099"/>
              </a:solidFill>
            </a:endParaRPr>
          </a:p>
          <a:p>
            <a:pPr lvl="1">
              <a:spcBef>
                <a:spcPct val="30000"/>
              </a:spcBef>
            </a:pPr>
            <a:r>
              <a:rPr lang="en-US" sz="2400" b="1" dirty="0" smtClean="0">
                <a:solidFill>
                  <a:srgbClr val="000099"/>
                </a:solidFill>
              </a:rPr>
              <a:t>while(</a:t>
            </a:r>
            <a:r>
              <a:rPr lang="en-US" sz="2400" b="1" i="1" dirty="0" smtClean="0">
                <a:solidFill>
                  <a:srgbClr val="000099"/>
                </a:solidFill>
              </a:rPr>
              <a:t>expression</a:t>
            </a:r>
            <a:r>
              <a:rPr lang="en-US" sz="2400" b="1" dirty="0" smtClean="0">
                <a:solidFill>
                  <a:srgbClr val="000099"/>
                </a:solidFill>
              </a:rPr>
              <a:t>) { 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</a:rPr>
              <a:t>		statement;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</a:rPr>
              <a:t>		statement;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</a:rPr>
              <a:t>		…</a:t>
            </a:r>
          </a:p>
          <a:p>
            <a:pPr lvl="1">
              <a:spcBef>
                <a:spcPct val="30000"/>
              </a:spcBef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</a:rPr>
              <a:t>	}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endParaRPr lang="en-US" sz="28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91200" y="6405563"/>
            <a:ext cx="3044825" cy="365125"/>
          </a:xfrm>
        </p:spPr>
        <p:txBody>
          <a:bodyPr/>
          <a:lstStyle/>
          <a:p>
            <a:pPr algn="r">
              <a:defRPr/>
            </a:pPr>
            <a:fld id="{4072B3B3-833B-4919-96A9-44438E8ED4BC}" type="slidenum">
              <a:rPr lang="ko-KR" altLang="en-US" sz="1400" smtClean="0">
                <a:solidFill>
                  <a:srgbClr val="FFFFFF"/>
                </a:solidFill>
              </a:rPr>
              <a:pPr algn="r">
                <a:defRPr/>
              </a:pPr>
              <a:t>3</a:t>
            </a:fld>
            <a:endParaRPr lang="en-US" altLang="ko-KR" sz="1400" smtClean="0">
              <a:solidFill>
                <a:srgbClr val="FFFFFF"/>
              </a:solidFill>
            </a:endParaRPr>
          </a:p>
        </p:txBody>
      </p:sp>
      <p:sp>
        <p:nvSpPr>
          <p:cNvPr id="67605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noProof="1" smtClean="0"/>
              <a:t>The </a:t>
            </a:r>
            <a:r>
              <a:rPr lang="en-US" noProof="1">
                <a:latin typeface="Lucida Console" pitchFamily="49" charset="0"/>
              </a:rPr>
              <a:t>while</a:t>
            </a:r>
            <a:r>
              <a:rPr lang="en-US" noProof="1"/>
              <a:t> </a:t>
            </a:r>
            <a:r>
              <a:rPr lang="en-US" altLang="ko-KR" dirty="0">
                <a:ea typeface="Gulim" pitchFamily="34" charset="-127"/>
              </a:rPr>
              <a:t>Control Structure</a:t>
            </a:r>
          </a:p>
        </p:txBody>
      </p:sp>
      <p:sp>
        <p:nvSpPr>
          <p:cNvPr id="69636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533399" y="1527175"/>
            <a:ext cx="8272463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 smtClean="0">
                <a:ea typeface="Gulim" pitchFamily="34" charset="-127"/>
              </a:rPr>
              <a:t>Example:  </a:t>
            </a:r>
          </a:p>
          <a:p>
            <a:pPr eaLnBrk="1" hangingPunct="1">
              <a:buFontTx/>
              <a:buNone/>
            </a:pP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x = 1; </a:t>
            </a:r>
            <a:r>
              <a:rPr lang="en-US" altLang="ko-KR" sz="2000" b="1" dirty="0" err="1" smtClean="0">
                <a:latin typeface="Lucida Console" pitchFamily="49" charset="0"/>
                <a:ea typeface="Gulim" pitchFamily="34" charset="-127"/>
              </a:rPr>
              <a:t>i</a:t>
            </a: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 = 2;	</a:t>
            </a:r>
          </a:p>
          <a:p>
            <a:pPr eaLnBrk="1" hangingPunct="1">
              <a:buFontTx/>
              <a:buNone/>
            </a:pP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while (</a:t>
            </a:r>
            <a:r>
              <a:rPr lang="en-US" altLang="ko-KR" sz="2000" b="1" dirty="0" err="1" smtClean="0">
                <a:solidFill>
                  <a:srgbClr val="FF3300"/>
                </a:solidFill>
                <a:latin typeface="Lucida Console" pitchFamily="49" charset="0"/>
                <a:ea typeface="Gulim" pitchFamily="34" charset="-127"/>
              </a:rPr>
              <a:t>i</a:t>
            </a:r>
            <a:r>
              <a:rPr lang="en-US" altLang="ko-KR" sz="2000" b="1" dirty="0" smtClean="0">
                <a:solidFill>
                  <a:srgbClr val="FF3300"/>
                </a:solidFill>
                <a:latin typeface="Lucida Console" pitchFamily="49" charset="0"/>
                <a:ea typeface="Gulim" pitchFamily="34" charset="-127"/>
              </a:rPr>
              <a:t> &lt;= 9</a:t>
            </a: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) {</a:t>
            </a:r>
          </a:p>
          <a:p>
            <a:pPr eaLnBrk="1" hangingPunct="1">
              <a:buFontTx/>
              <a:buNone/>
            </a:pP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	x = x * </a:t>
            </a:r>
            <a:r>
              <a:rPr lang="en-US" altLang="ko-KR" sz="2000" b="1" dirty="0" err="1" smtClean="0">
                <a:latin typeface="Lucida Console" pitchFamily="49" charset="0"/>
                <a:ea typeface="Gulim" pitchFamily="34" charset="-127"/>
              </a:rPr>
              <a:t>i</a:t>
            </a: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;	</a:t>
            </a:r>
          </a:p>
          <a:p>
            <a:pPr eaLnBrk="1" hangingPunct="1">
              <a:buFontTx/>
              <a:buNone/>
            </a:pP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	</a:t>
            </a:r>
            <a:r>
              <a:rPr lang="en-US" altLang="ko-KR" sz="2000" b="1" dirty="0" err="1" smtClean="0">
                <a:latin typeface="Lucida Console" pitchFamily="49" charset="0"/>
                <a:ea typeface="Gulim" pitchFamily="34" charset="-127"/>
              </a:rPr>
              <a:t>i</a:t>
            </a: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 = </a:t>
            </a:r>
            <a:r>
              <a:rPr lang="en-US" altLang="ko-KR" sz="2000" b="1" dirty="0" err="1" smtClean="0">
                <a:latin typeface="Lucida Console" pitchFamily="49" charset="0"/>
                <a:ea typeface="Gulim" pitchFamily="34" charset="-127"/>
              </a:rPr>
              <a:t>i</a:t>
            </a: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 + 1;	</a:t>
            </a:r>
          </a:p>
          <a:p>
            <a:pPr eaLnBrk="1" hangingPunct="1">
              <a:buFontTx/>
              <a:buNone/>
            </a:pPr>
            <a:r>
              <a:rPr lang="en-US" altLang="ko-KR" sz="2000" b="1" dirty="0" smtClean="0">
                <a:latin typeface="Lucida Console" pitchFamily="49" charset="0"/>
                <a:ea typeface="Gulim" pitchFamily="34" charset="-127"/>
              </a:rPr>
              <a:t>}	</a:t>
            </a:r>
            <a:r>
              <a:rPr lang="en-US" altLang="ko-KR" sz="1600" dirty="0" smtClean="0">
                <a:latin typeface="Lucida Console" pitchFamily="49" charset="0"/>
                <a:ea typeface="Gulim" pitchFamily="34" charset="-127"/>
              </a:rPr>
              <a:t>		</a:t>
            </a:r>
            <a:r>
              <a:rPr lang="en-US" altLang="ko-KR" sz="1200" dirty="0" smtClean="0">
                <a:latin typeface="Lucida Console" pitchFamily="49" charset="0"/>
                <a:ea typeface="Gulim" pitchFamily="34" charset="-127"/>
              </a:rPr>
              <a:t>	</a:t>
            </a:r>
            <a:endParaRPr lang="ko-KR" altLang="en-US" sz="1800" dirty="0" smtClean="0">
              <a:latin typeface="Lucida Console" pitchFamily="49" charset="0"/>
              <a:ea typeface="Gulim" pitchFamily="34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76400" y="3505200"/>
            <a:ext cx="6781800" cy="2514600"/>
            <a:chOff x="545" y="2231"/>
            <a:chExt cx="1791" cy="714"/>
          </a:xfrm>
        </p:grpSpPr>
        <p:sp>
          <p:nvSpPr>
            <p:cNvPr id="69640" name="Freeform 5"/>
            <p:cNvSpPr>
              <a:spLocks/>
            </p:cNvSpPr>
            <p:nvPr/>
          </p:nvSpPr>
          <p:spPr bwMode="auto">
            <a:xfrm>
              <a:off x="545" y="2424"/>
              <a:ext cx="768" cy="349"/>
            </a:xfrm>
            <a:custGeom>
              <a:avLst/>
              <a:gdLst>
                <a:gd name="T0" fmla="*/ 19990 w 20000"/>
                <a:gd name="T1" fmla="*/ 9989 h 20000"/>
                <a:gd name="T2" fmla="*/ 9990 w 20000"/>
                <a:gd name="T3" fmla="*/ 19977 h 20000"/>
                <a:gd name="T4" fmla="*/ 0 w 20000"/>
                <a:gd name="T5" fmla="*/ 9989 h 20000"/>
                <a:gd name="T6" fmla="*/ 9990 w 20000"/>
                <a:gd name="T7" fmla="*/ 0 h 20000"/>
                <a:gd name="T8" fmla="*/ 19990 w 20000"/>
                <a:gd name="T9" fmla="*/ 9989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9989"/>
                  </a:moveTo>
                  <a:lnTo>
                    <a:pt x="9990" y="19977"/>
                  </a:lnTo>
                  <a:lnTo>
                    <a:pt x="0" y="9989"/>
                  </a:lnTo>
                  <a:lnTo>
                    <a:pt x="9990" y="0"/>
                  </a:lnTo>
                  <a:lnTo>
                    <a:pt x="19990" y="998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1" name="Rectangle 6"/>
            <p:cNvSpPr>
              <a:spLocks noChangeArrowheads="1"/>
            </p:cNvSpPr>
            <p:nvPr/>
          </p:nvSpPr>
          <p:spPr bwMode="auto">
            <a:xfrm>
              <a:off x="637" y="2569"/>
              <a:ext cx="583" cy="76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altLang="ko-KR" sz="1600" b="1">
                  <a:solidFill>
                    <a:srgbClr val="FF3300"/>
                  </a:solidFill>
                  <a:latin typeface="Courier New" pitchFamily="49" charset="0"/>
                  <a:ea typeface="Gulim" pitchFamily="34" charset="-127"/>
                </a:rPr>
                <a:t>i &lt;= 9</a:t>
              </a:r>
            </a:p>
            <a:p>
              <a:endParaRPr lang="ko-KR" altLang="en-US" sz="1600" b="1">
                <a:solidFill>
                  <a:srgbClr val="FF3300"/>
                </a:solidFill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69642" name="Freeform 7"/>
            <p:cNvSpPr>
              <a:spLocks/>
            </p:cNvSpPr>
            <p:nvPr/>
          </p:nvSpPr>
          <p:spPr bwMode="auto">
            <a:xfrm>
              <a:off x="928" y="2280"/>
              <a:ext cx="0" cy="146"/>
            </a:xfrm>
            <a:custGeom>
              <a:avLst/>
              <a:gdLst>
                <a:gd name="T0" fmla="*/ 0 w 20000"/>
                <a:gd name="T1" fmla="*/ 19945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4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3" name="Freeform 8"/>
            <p:cNvSpPr>
              <a:spLocks/>
            </p:cNvSpPr>
            <p:nvPr/>
          </p:nvSpPr>
          <p:spPr bwMode="auto">
            <a:xfrm>
              <a:off x="928" y="2773"/>
              <a:ext cx="0" cy="123"/>
            </a:xfrm>
            <a:custGeom>
              <a:avLst/>
              <a:gdLst>
                <a:gd name="T0" fmla="*/ 0 w 20000"/>
                <a:gd name="T1" fmla="*/ 19935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35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Oval 9"/>
            <p:cNvSpPr>
              <a:spLocks noChangeArrowheads="1"/>
            </p:cNvSpPr>
            <p:nvPr/>
          </p:nvSpPr>
          <p:spPr bwMode="auto">
            <a:xfrm>
              <a:off x="904" y="2231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5" name="Oval 10"/>
            <p:cNvSpPr>
              <a:spLocks noChangeArrowheads="1"/>
            </p:cNvSpPr>
            <p:nvPr/>
          </p:nvSpPr>
          <p:spPr bwMode="auto">
            <a:xfrm>
              <a:off x="904" y="2897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6" name="Freeform 11"/>
            <p:cNvSpPr>
              <a:spLocks/>
            </p:cNvSpPr>
            <p:nvPr/>
          </p:nvSpPr>
          <p:spPr bwMode="auto">
            <a:xfrm>
              <a:off x="1313" y="2601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7" name="Rectangle 12"/>
            <p:cNvSpPr>
              <a:spLocks noChangeArrowheads="1"/>
            </p:cNvSpPr>
            <p:nvPr/>
          </p:nvSpPr>
          <p:spPr bwMode="auto">
            <a:xfrm>
              <a:off x="1520" y="2570"/>
              <a:ext cx="800" cy="80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altLang="ko-KR" sz="1600" b="1">
                  <a:latin typeface="Courier New" pitchFamily="49" charset="0"/>
                  <a:ea typeface="Gulim" pitchFamily="34" charset="-127"/>
                </a:rPr>
                <a:t>x = x * i; i = i + 1;</a:t>
              </a:r>
            </a:p>
            <a:p>
              <a:endParaRPr lang="ko-KR" altLang="en-US" sz="1600" b="1"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69648" name="Freeform 13"/>
            <p:cNvSpPr>
              <a:spLocks/>
            </p:cNvSpPr>
            <p:nvPr/>
          </p:nvSpPr>
          <p:spPr bwMode="auto">
            <a:xfrm>
              <a:off x="1505" y="2548"/>
              <a:ext cx="831" cy="106"/>
            </a:xfrm>
            <a:custGeom>
              <a:avLst/>
              <a:gdLst>
                <a:gd name="T0" fmla="*/ 19990 w 20000"/>
                <a:gd name="T1" fmla="*/ 0 h 20000"/>
                <a:gd name="T2" fmla="*/ 19990 w 20000"/>
                <a:gd name="T3" fmla="*/ 19925 h 20000"/>
                <a:gd name="T4" fmla="*/ 0 w 20000"/>
                <a:gd name="T5" fmla="*/ 19925 h 20000"/>
                <a:gd name="T6" fmla="*/ 0 w 20000"/>
                <a:gd name="T7" fmla="*/ 0 h 20000"/>
                <a:gd name="T8" fmla="*/ 1999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0"/>
                  </a:moveTo>
                  <a:lnTo>
                    <a:pt x="19990" y="19925"/>
                  </a:lnTo>
                  <a:lnTo>
                    <a:pt x="0" y="19925"/>
                  </a:lnTo>
                  <a:lnTo>
                    <a:pt x="0" y="0"/>
                  </a:lnTo>
                  <a:lnTo>
                    <a:pt x="1999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49" name="Rectangle 14"/>
            <p:cNvSpPr>
              <a:spLocks noChangeArrowheads="1"/>
            </p:cNvSpPr>
            <p:nvPr/>
          </p:nvSpPr>
          <p:spPr bwMode="auto">
            <a:xfrm>
              <a:off x="1320" y="2510"/>
              <a:ext cx="170" cy="96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1600" b="1">
                  <a:latin typeface="Courier New" pitchFamily="49" charset="0"/>
                  <a:ea typeface="Gulim" pitchFamily="34" charset="-127"/>
                </a:rPr>
                <a:t>true</a:t>
              </a:r>
            </a:p>
            <a:p>
              <a:endParaRPr lang="ko-KR" altLang="en-US" sz="1600" b="1"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69650" name="Rectangle 15"/>
            <p:cNvSpPr>
              <a:spLocks noChangeArrowheads="1"/>
            </p:cNvSpPr>
            <p:nvPr/>
          </p:nvSpPr>
          <p:spPr bwMode="auto">
            <a:xfrm>
              <a:off x="976" y="2775"/>
              <a:ext cx="208" cy="96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1600" b="1">
                  <a:latin typeface="Courier New" pitchFamily="49" charset="0"/>
                  <a:ea typeface="Gulim" pitchFamily="34" charset="-127"/>
                </a:rPr>
                <a:t>false</a:t>
              </a:r>
            </a:p>
            <a:p>
              <a:endParaRPr lang="ko-KR" altLang="en-US" sz="1600" b="1"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69651" name="Freeform 16"/>
            <p:cNvSpPr>
              <a:spLocks/>
            </p:cNvSpPr>
            <p:nvPr/>
          </p:nvSpPr>
          <p:spPr bwMode="auto">
            <a:xfrm>
              <a:off x="934" y="2336"/>
              <a:ext cx="991" cy="0"/>
            </a:xfrm>
            <a:custGeom>
              <a:avLst/>
              <a:gdLst>
                <a:gd name="T0" fmla="*/ 19992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92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 type="triangle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2" name="Freeform 17"/>
            <p:cNvSpPr>
              <a:spLocks/>
            </p:cNvSpPr>
            <p:nvPr/>
          </p:nvSpPr>
          <p:spPr bwMode="auto">
            <a:xfrm>
              <a:off x="1922" y="2336"/>
              <a:ext cx="0" cy="2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62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8" name="Rectangle 18"/>
          <p:cNvSpPr>
            <a:spLocks noChangeArrowheads="1"/>
          </p:cNvSpPr>
          <p:nvPr/>
        </p:nvSpPr>
        <p:spPr bwMode="auto">
          <a:xfrm>
            <a:off x="0" y="2184400"/>
            <a:ext cx="5486400" cy="138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9639" name="Rectangle 20"/>
          <p:cNvSpPr>
            <a:spLocks noChangeArrowheads="1"/>
          </p:cNvSpPr>
          <p:nvPr/>
        </p:nvSpPr>
        <p:spPr bwMode="auto">
          <a:xfrm>
            <a:off x="0" y="3567113"/>
            <a:ext cx="91440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400">
                <a:ea typeface="Gulim" pitchFamily="34" charset="-127"/>
              </a:rPr>
              <a:t/>
            </a:r>
            <a:br>
              <a:rPr lang="ko-KR" altLang="en-US" sz="1400">
                <a:ea typeface="Gulim" pitchFamily="34" charset="-127"/>
              </a:rPr>
            </a:br>
            <a:endParaRPr lang="ko-KR" altLang="en-US" sz="2400">
              <a:ea typeface="Gulim" pitchFamily="34" charset="-127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303BCC-8914-4614-AF6D-BDC4F3410557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696200" cy="51816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#include &lt;</a:t>
            </a:r>
            <a:r>
              <a:rPr lang="en-US" sz="2000" b="1" dirty="0" err="1" smtClean="0">
                <a:solidFill>
                  <a:srgbClr val="000099"/>
                </a:solidFill>
              </a:rPr>
              <a:t>stdio.h</a:t>
            </a:r>
            <a:r>
              <a:rPr lang="en-US" sz="2000" b="1" dirty="0" smtClean="0">
                <a:solidFill>
                  <a:srgbClr val="000099"/>
                </a:solidFill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#define PI 3.141593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>
              <a:solidFill>
                <a:srgbClr val="000099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err="1" smtClean="0">
                <a:solidFill>
                  <a:srgbClr val="000099"/>
                </a:solidFill>
              </a:rPr>
              <a:t>int</a:t>
            </a:r>
            <a:r>
              <a:rPr lang="en-US" sz="2000" b="1" dirty="0" smtClean="0">
                <a:solidFill>
                  <a:srgbClr val="000099"/>
                </a:solidFill>
              </a:rPr>
              <a:t> main(void)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</a:t>
            </a:r>
            <a:r>
              <a:rPr lang="en-US" sz="2000" b="1" dirty="0" err="1" smtClean="0">
                <a:solidFill>
                  <a:srgbClr val="000099"/>
                </a:solidFill>
              </a:rPr>
              <a:t>int</a:t>
            </a:r>
            <a:r>
              <a:rPr lang="en-US" sz="2000" b="1" dirty="0" smtClean="0">
                <a:solidFill>
                  <a:srgbClr val="000099"/>
                </a:solidFill>
              </a:rPr>
              <a:t> degrees=0;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double radians;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>
              <a:solidFill>
                <a:srgbClr val="000099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</a:t>
            </a:r>
            <a:r>
              <a:rPr lang="en-US" sz="2000" b="1" dirty="0" err="1" smtClean="0">
                <a:solidFill>
                  <a:srgbClr val="000099"/>
                </a:solidFill>
              </a:rPr>
              <a:t>printf</a:t>
            </a:r>
            <a:r>
              <a:rPr lang="en-US" sz="2000" b="1" dirty="0" smtClean="0">
                <a:solidFill>
                  <a:srgbClr val="000099"/>
                </a:solidFill>
              </a:rPr>
              <a:t>("Degrees to Radians \n");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while (degrees &lt;= 360)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   radians = degrees*PI/180;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   </a:t>
            </a:r>
            <a:r>
              <a:rPr lang="en-US" sz="2000" b="1" dirty="0" err="1" smtClean="0">
                <a:solidFill>
                  <a:srgbClr val="000099"/>
                </a:solidFill>
              </a:rPr>
              <a:t>printf</a:t>
            </a:r>
            <a:r>
              <a:rPr lang="en-US" sz="2000" b="1" dirty="0" smtClean="0">
                <a:solidFill>
                  <a:srgbClr val="000099"/>
                </a:solidFill>
              </a:rPr>
              <a:t>("%</a:t>
            </a:r>
            <a:r>
              <a:rPr lang="en-US" sz="2000" b="1" dirty="0">
                <a:solidFill>
                  <a:srgbClr val="000099"/>
                </a:solidFill>
              </a:rPr>
              <a:t>d</a:t>
            </a:r>
            <a:r>
              <a:rPr lang="en-US" sz="2000" b="1" dirty="0" smtClean="0">
                <a:solidFill>
                  <a:srgbClr val="000099"/>
                </a:solidFill>
              </a:rPr>
              <a:t> %</a:t>
            </a:r>
            <a:r>
              <a:rPr lang="en-US" sz="2000" b="1" dirty="0">
                <a:solidFill>
                  <a:srgbClr val="000099"/>
                </a:solidFill>
              </a:rPr>
              <a:t>l</a:t>
            </a:r>
            <a:r>
              <a:rPr lang="en-US" sz="2000" b="1" dirty="0" smtClean="0">
                <a:solidFill>
                  <a:srgbClr val="000099"/>
                </a:solidFill>
              </a:rPr>
              <a:t>f \n", degrees, radians);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   degrees += 10;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6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07E795-B8A9-4147-A206-A4CC1089B0EF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do while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399" y="1371600"/>
            <a:ext cx="8272463" cy="4876799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sz="3600" dirty="0" smtClean="0"/>
              <a:t>General form:</a:t>
            </a:r>
          </a:p>
          <a:p>
            <a:pPr lvl="1"/>
            <a:r>
              <a:rPr lang="en-US" sz="3100" b="1" dirty="0" smtClean="0">
                <a:solidFill>
                  <a:srgbClr val="000099"/>
                </a:solidFill>
              </a:rPr>
              <a:t>do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	  statement;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while(expression);</a:t>
            </a:r>
          </a:p>
          <a:p>
            <a:pPr lvl="1">
              <a:buFont typeface="Wingdings" pitchFamily="2" charset="2"/>
              <a:buNone/>
            </a:pPr>
            <a:endParaRPr lang="en-US" sz="3100" b="1" dirty="0" smtClean="0">
              <a:solidFill>
                <a:srgbClr val="000099"/>
              </a:solidFill>
            </a:endParaRPr>
          </a:p>
          <a:p>
            <a:pPr lvl="1"/>
            <a:r>
              <a:rPr lang="en-US" sz="3100" b="1" dirty="0" smtClean="0">
                <a:solidFill>
                  <a:srgbClr val="000099"/>
                </a:solidFill>
              </a:rPr>
              <a:t>do {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	  statement1;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	  statement2;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		.</a:t>
            </a:r>
          </a:p>
          <a:p>
            <a:pPr lvl="1">
              <a:buFont typeface="Wingdings" pitchFamily="2" charset="2"/>
              <a:buNone/>
            </a:pPr>
            <a:r>
              <a:rPr lang="en-US" sz="3100" b="1" dirty="0" smtClean="0">
                <a:solidFill>
                  <a:srgbClr val="000099"/>
                </a:solidFill>
              </a:rPr>
              <a:t>	} while(expression);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/>
          </a:p>
          <a:p>
            <a:r>
              <a:rPr lang="en-US" sz="3100" dirty="0" smtClean="0"/>
              <a:t>note - the expression is tested </a:t>
            </a:r>
            <a:r>
              <a:rPr lang="en-US" sz="3100" i="1" dirty="0" smtClean="0"/>
              <a:t>after</a:t>
            </a:r>
            <a:r>
              <a:rPr lang="en-US" sz="3100" dirty="0" smtClean="0"/>
              <a:t> the statement(s) are executed, so statements are executed </a:t>
            </a:r>
            <a:r>
              <a:rPr lang="en-US" sz="3100" b="1" i="1" dirty="0" smtClean="0">
                <a:solidFill>
                  <a:srgbClr val="000099"/>
                </a:solidFill>
              </a:rPr>
              <a:t>at</a:t>
            </a:r>
            <a:r>
              <a:rPr lang="en-US" sz="3100" b="1" dirty="0" smtClean="0">
                <a:solidFill>
                  <a:srgbClr val="000099"/>
                </a:solidFill>
              </a:rPr>
              <a:t> </a:t>
            </a:r>
            <a:r>
              <a:rPr lang="en-US" sz="3100" b="1" i="1" dirty="0" smtClean="0">
                <a:solidFill>
                  <a:srgbClr val="000099"/>
                </a:solidFill>
              </a:rPr>
              <a:t>least once</a:t>
            </a:r>
            <a:r>
              <a:rPr lang="en-US" sz="3100" b="1" dirty="0" smtClean="0">
                <a:solidFill>
                  <a:srgbClr val="000099"/>
                </a:solidFill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91200" y="6405563"/>
            <a:ext cx="3044825" cy="365125"/>
          </a:xfrm>
        </p:spPr>
        <p:txBody>
          <a:bodyPr/>
          <a:lstStyle/>
          <a:p>
            <a:pPr algn="r">
              <a:defRPr/>
            </a:pPr>
            <a:fld id="{774EB8A5-78CC-4313-8869-9D47F041A5DC}" type="slidenum">
              <a:rPr lang="ko-KR" altLang="en-US" sz="1400" smtClean="0">
                <a:solidFill>
                  <a:srgbClr val="FFFFFF"/>
                </a:solidFill>
              </a:rPr>
              <a:pPr algn="r">
                <a:defRPr/>
              </a:pPr>
              <a:t>6</a:t>
            </a:fld>
            <a:endParaRPr lang="en-US" altLang="ko-KR" sz="1400" smtClean="0">
              <a:solidFill>
                <a:srgbClr val="FFFFFF"/>
              </a:solidFill>
            </a:endParaRPr>
          </a:p>
        </p:txBody>
      </p:sp>
      <p:sp>
        <p:nvSpPr>
          <p:cNvPr id="60437" name="Rectangle 2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noProof="1" smtClean="0"/>
              <a:t>The </a:t>
            </a:r>
            <a:r>
              <a:rPr lang="en-US" noProof="1">
                <a:latin typeface="Lucida Console" pitchFamily="49" charset="0"/>
              </a:rPr>
              <a:t>do</a:t>
            </a:r>
            <a:r>
              <a:rPr lang="en-US" altLang="ko-KR" dirty="0">
                <a:ea typeface="Gulim" pitchFamily="34" charset="-127"/>
              </a:rPr>
              <a:t>…</a:t>
            </a:r>
            <a:r>
              <a:rPr lang="en-US" noProof="1">
                <a:latin typeface="Lucida Console" pitchFamily="49" charset="0"/>
              </a:rPr>
              <a:t>while</a:t>
            </a:r>
            <a:r>
              <a:rPr lang="en-US" noProof="1"/>
              <a:t> Repetition </a:t>
            </a:r>
            <a:r>
              <a:rPr lang="en-US" altLang="ko-KR" dirty="0">
                <a:ea typeface="Gulim" pitchFamily="34" charset="-127"/>
              </a:rPr>
              <a:t>Statement</a:t>
            </a:r>
          </a:p>
        </p:txBody>
      </p:sp>
      <p:sp>
        <p:nvSpPr>
          <p:cNvPr id="72708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eaLnBrk="1" hangingPunct="1"/>
            <a:r>
              <a:rPr lang="en-US" altLang="ko-KR" dirty="0" smtClean="0">
                <a:ea typeface="Gulim" pitchFamily="34" charset="-127"/>
              </a:rPr>
              <a:t>Flowchart of the </a:t>
            </a:r>
            <a:r>
              <a:rPr lang="en-US" altLang="ko-KR" sz="2600" dirty="0" smtClean="0">
                <a:latin typeface="Lucida Console" pitchFamily="49" charset="0"/>
                <a:ea typeface="Gulim" pitchFamily="34" charset="-127"/>
              </a:rPr>
              <a:t>do</a:t>
            </a:r>
            <a:r>
              <a:rPr lang="en-US" altLang="ko-KR" dirty="0" smtClean="0">
                <a:ea typeface="Gulim" pitchFamily="34" charset="-127"/>
              </a:rPr>
              <a:t>…</a:t>
            </a:r>
            <a:r>
              <a:rPr lang="en-US" altLang="ko-KR" sz="2600" dirty="0" smtClean="0">
                <a:latin typeface="Lucida Console" pitchFamily="49" charset="0"/>
                <a:ea typeface="Gulim" pitchFamily="34" charset="-127"/>
              </a:rPr>
              <a:t>while</a:t>
            </a:r>
            <a:r>
              <a:rPr lang="en-US" altLang="ko-KR" dirty="0" smtClean="0">
                <a:ea typeface="Gulim" pitchFamily="34" charset="-127"/>
              </a:rPr>
              <a:t> repetition statement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62200" y="2057400"/>
            <a:ext cx="4419600" cy="4419600"/>
            <a:chOff x="48" y="2269"/>
            <a:chExt cx="772" cy="950"/>
          </a:xfrm>
        </p:grpSpPr>
        <p:sp>
          <p:nvSpPr>
            <p:cNvPr id="72710" name="Freeform 4"/>
            <p:cNvSpPr>
              <a:spLocks/>
            </p:cNvSpPr>
            <p:nvPr/>
          </p:nvSpPr>
          <p:spPr bwMode="auto">
            <a:xfrm>
              <a:off x="336" y="2317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1" name="Oval 5"/>
            <p:cNvSpPr>
              <a:spLocks noChangeArrowheads="1"/>
            </p:cNvSpPr>
            <p:nvPr/>
          </p:nvSpPr>
          <p:spPr bwMode="auto">
            <a:xfrm>
              <a:off x="312" y="2269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2" name="Rectangle 6"/>
            <p:cNvSpPr>
              <a:spLocks noChangeArrowheads="1"/>
            </p:cNvSpPr>
            <p:nvPr/>
          </p:nvSpPr>
          <p:spPr bwMode="auto">
            <a:xfrm>
              <a:off x="628" y="2789"/>
              <a:ext cx="170" cy="96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1400" b="1">
                  <a:latin typeface="Courier New" pitchFamily="49" charset="0"/>
                  <a:ea typeface="Gulim" pitchFamily="34" charset="-127"/>
                </a:rPr>
                <a:t>true</a:t>
              </a:r>
            </a:p>
            <a:p>
              <a:endParaRPr lang="ko-KR" altLang="en-US" sz="1400" b="1"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72713" name="Freeform 7"/>
            <p:cNvSpPr>
              <a:spLocks/>
            </p:cNvSpPr>
            <p:nvPr/>
          </p:nvSpPr>
          <p:spPr bwMode="auto">
            <a:xfrm>
              <a:off x="336" y="2979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4" name="Freeform 8"/>
            <p:cNvSpPr>
              <a:spLocks/>
            </p:cNvSpPr>
            <p:nvPr/>
          </p:nvSpPr>
          <p:spPr bwMode="auto">
            <a:xfrm>
              <a:off x="336" y="2589"/>
              <a:ext cx="0" cy="192"/>
            </a:xfrm>
            <a:custGeom>
              <a:avLst/>
              <a:gdLst>
                <a:gd name="T0" fmla="*/ 0 w 20000"/>
                <a:gd name="T1" fmla="*/ 19958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19958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5" name="Oval 9"/>
            <p:cNvSpPr>
              <a:spLocks noChangeArrowheads="1"/>
            </p:cNvSpPr>
            <p:nvPr/>
          </p:nvSpPr>
          <p:spPr bwMode="auto">
            <a:xfrm>
              <a:off x="312" y="3171"/>
              <a:ext cx="48" cy="48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6" name="Rectangle 10"/>
            <p:cNvSpPr>
              <a:spLocks noChangeArrowheads="1"/>
            </p:cNvSpPr>
            <p:nvPr/>
          </p:nvSpPr>
          <p:spPr bwMode="auto">
            <a:xfrm>
              <a:off x="356" y="2981"/>
              <a:ext cx="208" cy="96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1400" b="1">
                  <a:latin typeface="Courier New" pitchFamily="49" charset="0"/>
                  <a:ea typeface="Gulim" pitchFamily="34" charset="-127"/>
                </a:rPr>
                <a:t>false</a:t>
              </a:r>
            </a:p>
            <a:p>
              <a:endParaRPr lang="ko-KR" altLang="en-US" sz="1400" b="1">
                <a:latin typeface="Courier New" pitchFamily="49" charset="0"/>
                <a:ea typeface="Gulim" pitchFamily="34" charset="-127"/>
              </a:endParaRPr>
            </a:p>
          </p:txBody>
        </p:sp>
        <p:sp>
          <p:nvSpPr>
            <p:cNvPr id="72717" name="Freeform 11"/>
            <p:cNvSpPr>
              <a:spLocks/>
            </p:cNvSpPr>
            <p:nvPr/>
          </p:nvSpPr>
          <p:spPr bwMode="auto">
            <a:xfrm>
              <a:off x="628" y="2880"/>
              <a:ext cx="192" cy="0"/>
            </a:xfrm>
            <a:custGeom>
              <a:avLst/>
              <a:gdLst>
                <a:gd name="T0" fmla="*/ 19958 w 20000"/>
                <a:gd name="T1" fmla="*/ 0 h 20000"/>
                <a:gd name="T2" fmla="*/ 0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19958" y="0"/>
                  </a:moveTo>
                  <a:lnTo>
                    <a:pt x="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8" name="Freeform 12"/>
            <p:cNvSpPr>
              <a:spLocks/>
            </p:cNvSpPr>
            <p:nvPr/>
          </p:nvSpPr>
          <p:spPr bwMode="auto">
            <a:xfrm>
              <a:off x="820" y="2420"/>
              <a:ext cx="0" cy="4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83 h 20000"/>
                <a:gd name="T4" fmla="*/ 0 60000 65536"/>
                <a:gd name="T5" fmla="*/ 0 60000 65536"/>
                <a:gd name="T6" fmla="*/ 0 w 20000"/>
                <a:gd name="T7" fmla="*/ 0 h 20000"/>
                <a:gd name="T8" fmla="*/ 0 w 20000"/>
                <a:gd name="T9" fmla="*/ 2000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0" y="1998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9" name="Freeform 13"/>
            <p:cNvSpPr>
              <a:spLocks/>
            </p:cNvSpPr>
            <p:nvPr/>
          </p:nvSpPr>
          <p:spPr bwMode="auto">
            <a:xfrm>
              <a:off x="340" y="2420"/>
              <a:ext cx="480" cy="0"/>
            </a:xfrm>
            <a:custGeom>
              <a:avLst/>
              <a:gdLst>
                <a:gd name="T0" fmla="*/ 0 w 20000"/>
                <a:gd name="T1" fmla="*/ 0 h 20000"/>
                <a:gd name="T2" fmla="*/ 19983 w 20000"/>
                <a:gd name="T3" fmla="*/ 0 h 20000"/>
                <a:gd name="T4" fmla="*/ 0 60000 65536"/>
                <a:gd name="T5" fmla="*/ 0 60000 65536"/>
                <a:gd name="T6" fmla="*/ 0 w 20000"/>
                <a:gd name="T7" fmla="*/ 0 h 20000"/>
                <a:gd name="T8" fmla="*/ 20000 w 20000"/>
                <a:gd name="T9" fmla="*/ 0 h 2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00" h="20000">
                  <a:moveTo>
                    <a:pt x="0" y="0"/>
                  </a:moveTo>
                  <a:lnTo>
                    <a:pt x="1998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72" y="2509"/>
              <a:ext cx="528" cy="82"/>
              <a:chOff x="0" y="0"/>
              <a:chExt cx="20000" cy="20000"/>
            </a:xfrm>
          </p:grpSpPr>
          <p:sp>
            <p:nvSpPr>
              <p:cNvPr id="72724" name="Freeform 15"/>
              <p:cNvSpPr>
                <a:spLocks/>
              </p:cNvSpPr>
              <p:nvPr/>
            </p:nvSpPr>
            <p:spPr bwMode="auto">
              <a:xfrm>
                <a:off x="0" y="0"/>
                <a:ext cx="20000" cy="19417"/>
              </a:xfrm>
              <a:custGeom>
                <a:avLst/>
                <a:gdLst>
                  <a:gd name="T0" fmla="*/ 19985 w 20000"/>
                  <a:gd name="T1" fmla="*/ 0 h 20000"/>
                  <a:gd name="T2" fmla="*/ 19985 w 20000"/>
                  <a:gd name="T3" fmla="*/ 19900 h 20000"/>
                  <a:gd name="T4" fmla="*/ 0 w 20000"/>
                  <a:gd name="T5" fmla="*/ 19900 h 20000"/>
                  <a:gd name="T6" fmla="*/ 0 w 20000"/>
                  <a:gd name="T7" fmla="*/ 0 h 20000"/>
                  <a:gd name="T8" fmla="*/ 19985 w 20000"/>
                  <a:gd name="T9" fmla="*/ 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5" y="0"/>
                    </a:moveTo>
                    <a:lnTo>
                      <a:pt x="19985" y="19900"/>
                    </a:lnTo>
                    <a:lnTo>
                      <a:pt x="0" y="19900"/>
                    </a:lnTo>
                    <a:lnTo>
                      <a:pt x="0" y="0"/>
                    </a:lnTo>
                    <a:lnTo>
                      <a:pt x="19985" y="0"/>
                    </a:lnTo>
                    <a:close/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5" name="Rectangle 16"/>
              <p:cNvSpPr>
                <a:spLocks noChangeArrowheads="1"/>
              </p:cNvSpPr>
              <p:nvPr/>
            </p:nvSpPr>
            <p:spPr bwMode="auto">
              <a:xfrm>
                <a:off x="2712" y="3301"/>
                <a:ext cx="14561" cy="16699"/>
              </a:xfrm>
              <a:prstGeom prst="rect">
                <a:avLst/>
              </a:prstGeom>
              <a:noFill/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ko-KR" sz="1400" b="1">
                    <a:latin typeface="Courier New" pitchFamily="49" charset="0"/>
                    <a:ea typeface="Gulim" pitchFamily="34" charset="-127"/>
                  </a:rPr>
                  <a:t>action(s)</a:t>
                </a:r>
              </a:p>
              <a:p>
                <a:endParaRPr lang="ko-KR" altLang="en-US" sz="1400" b="1">
                  <a:latin typeface="Courier New" pitchFamily="49" charset="0"/>
                  <a:ea typeface="Gulim" pitchFamily="34" charset="-127"/>
                </a:endParaRPr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48" y="2781"/>
              <a:ext cx="576" cy="198"/>
              <a:chOff x="0" y="0"/>
              <a:chExt cx="20000" cy="20000"/>
            </a:xfrm>
          </p:grpSpPr>
          <p:sp>
            <p:nvSpPr>
              <p:cNvPr id="72722" name="Freeform 18"/>
              <p:cNvSpPr>
                <a:spLocks/>
              </p:cNvSpPr>
              <p:nvPr/>
            </p:nvSpPr>
            <p:spPr bwMode="auto">
              <a:xfrm>
                <a:off x="0" y="0"/>
                <a:ext cx="20000" cy="20000"/>
              </a:xfrm>
              <a:custGeom>
                <a:avLst/>
                <a:gdLst>
                  <a:gd name="T0" fmla="*/ 19986 w 20000"/>
                  <a:gd name="T1" fmla="*/ 9980 h 20000"/>
                  <a:gd name="T2" fmla="*/ 9986 w 20000"/>
                  <a:gd name="T3" fmla="*/ 19960 h 20000"/>
                  <a:gd name="T4" fmla="*/ 0 w 20000"/>
                  <a:gd name="T5" fmla="*/ 9980 h 20000"/>
                  <a:gd name="T6" fmla="*/ 9986 w 20000"/>
                  <a:gd name="T7" fmla="*/ 0 h 20000"/>
                  <a:gd name="T8" fmla="*/ 19986 w 20000"/>
                  <a:gd name="T9" fmla="*/ 9980 h 2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000"/>
                  <a:gd name="T16" fmla="*/ 0 h 20000"/>
                  <a:gd name="T17" fmla="*/ 20000 w 20000"/>
                  <a:gd name="T18" fmla="*/ 20000 h 2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000" h="20000">
                    <a:moveTo>
                      <a:pt x="19986" y="9980"/>
                    </a:moveTo>
                    <a:lnTo>
                      <a:pt x="9986" y="19960"/>
                    </a:lnTo>
                    <a:lnTo>
                      <a:pt x="0" y="9980"/>
                    </a:lnTo>
                    <a:lnTo>
                      <a:pt x="9986" y="0"/>
                    </a:lnTo>
                    <a:lnTo>
                      <a:pt x="19986" y="9980"/>
                    </a:lnTo>
                    <a:close/>
                  </a:path>
                </a:pathLst>
              </a:custGeom>
              <a:solidFill>
                <a:srgbClr val="FFFFFF"/>
              </a:solidFill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3" name="Rectangle 19"/>
              <p:cNvSpPr>
                <a:spLocks noChangeArrowheads="1"/>
              </p:cNvSpPr>
              <p:nvPr/>
            </p:nvSpPr>
            <p:spPr bwMode="auto">
              <a:xfrm>
                <a:off x="3319" y="7273"/>
                <a:ext cx="13348" cy="7111"/>
              </a:xfrm>
              <a:prstGeom prst="rect">
                <a:avLst/>
              </a:prstGeom>
              <a:noFill/>
              <a:ln w="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ko-KR" sz="1400" b="1">
                    <a:latin typeface="Courier New" pitchFamily="49" charset="0"/>
                    <a:ea typeface="Gulim" pitchFamily="34" charset="-127"/>
                  </a:rPr>
                  <a:t>condition</a:t>
                </a:r>
              </a:p>
              <a:p>
                <a:endParaRPr lang="ko-KR" altLang="en-US" sz="1400" b="1">
                  <a:latin typeface="Courier New" pitchFamily="49" charset="0"/>
                  <a:ea typeface="Gulim" pitchFamily="34" charset="-127"/>
                </a:endParaRPr>
              </a:p>
            </p:txBody>
          </p:sp>
        </p:grp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0521BB-50FB-4A18-A5C5-0366CEF0703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543800" cy="5145088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#include &lt;</a:t>
            </a:r>
            <a:r>
              <a:rPr lang="en-US" sz="2000" b="1" dirty="0" err="1" smtClean="0">
                <a:solidFill>
                  <a:srgbClr val="000099"/>
                </a:solidFill>
              </a:rPr>
              <a:t>stdio.h</a:t>
            </a:r>
            <a:r>
              <a:rPr lang="en-US" sz="2000" b="1" dirty="0" smtClean="0">
                <a:solidFill>
                  <a:srgbClr val="000099"/>
                </a:solidFill>
              </a:rPr>
              <a:t>&gt;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#define PI 3.141593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b="1" dirty="0" smtClean="0">
              <a:solidFill>
                <a:srgbClr val="000099"/>
              </a:solidFill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err="1" smtClean="0">
                <a:solidFill>
                  <a:srgbClr val="000099"/>
                </a:solidFill>
              </a:rPr>
              <a:t>int</a:t>
            </a:r>
            <a:r>
              <a:rPr lang="en-US" sz="2000" b="1" dirty="0" smtClean="0">
                <a:solidFill>
                  <a:srgbClr val="000099"/>
                </a:solidFill>
              </a:rPr>
              <a:t> main(void)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</a:t>
            </a:r>
            <a:r>
              <a:rPr lang="en-US" sz="2000" b="1" dirty="0" err="1" smtClean="0">
                <a:solidFill>
                  <a:srgbClr val="000099"/>
                </a:solidFill>
              </a:rPr>
              <a:t>int</a:t>
            </a:r>
            <a:r>
              <a:rPr lang="en-US" sz="2000" b="1" dirty="0" smtClean="0">
                <a:solidFill>
                  <a:srgbClr val="000099"/>
                </a:solidFill>
              </a:rPr>
              <a:t> degrees=0;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double radians;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b="1" dirty="0" smtClean="0">
              <a:solidFill>
                <a:srgbClr val="000099"/>
              </a:solidFill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</a:t>
            </a:r>
            <a:r>
              <a:rPr lang="en-US" sz="2000" b="1" dirty="0" err="1" smtClean="0">
                <a:solidFill>
                  <a:srgbClr val="000099"/>
                </a:solidFill>
              </a:rPr>
              <a:t>printf</a:t>
            </a:r>
            <a:r>
              <a:rPr lang="en-US" sz="2000" b="1" dirty="0" smtClean="0">
                <a:solidFill>
                  <a:srgbClr val="000099"/>
                </a:solidFill>
              </a:rPr>
              <a:t>("Degrees to Radians \n");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do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{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   radians = degrees*PI/180;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   </a:t>
            </a:r>
            <a:r>
              <a:rPr lang="en-US" sz="2000" b="1" dirty="0" err="1" smtClean="0">
                <a:solidFill>
                  <a:srgbClr val="000099"/>
                </a:solidFill>
              </a:rPr>
              <a:t>printf</a:t>
            </a:r>
            <a:r>
              <a:rPr lang="en-US" sz="2000" b="1" dirty="0" smtClean="0">
                <a:solidFill>
                  <a:srgbClr val="000099"/>
                </a:solidFill>
              </a:rPr>
              <a:t>("%</a:t>
            </a:r>
            <a:r>
              <a:rPr lang="en-US" sz="2000" b="1" dirty="0">
                <a:solidFill>
                  <a:srgbClr val="000099"/>
                </a:solidFill>
              </a:rPr>
              <a:t>d</a:t>
            </a:r>
            <a:r>
              <a:rPr lang="en-US" sz="2000" b="1" dirty="0" smtClean="0">
                <a:solidFill>
                  <a:srgbClr val="000099"/>
                </a:solidFill>
              </a:rPr>
              <a:t> %lf \n",</a:t>
            </a:r>
            <a:r>
              <a:rPr lang="en-US" sz="2000" b="1" dirty="0" err="1" smtClean="0">
                <a:solidFill>
                  <a:srgbClr val="000099"/>
                </a:solidFill>
              </a:rPr>
              <a:t>degrees,radians</a:t>
            </a:r>
            <a:r>
              <a:rPr lang="en-US" sz="2000" b="1" dirty="0" smtClean="0">
                <a:solidFill>
                  <a:srgbClr val="000099"/>
                </a:solidFill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   degrees += 10;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} while (degrees &lt;= 360);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   return 0;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 smtClean="0">
                <a:solidFill>
                  <a:srgbClr val="000099"/>
                </a:solidFill>
              </a:rPr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4D1F2-2C92-49B8-87BC-8D557138395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break statement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345488" cy="4953001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sz="3000" b="1" dirty="0" smtClean="0">
                <a:solidFill>
                  <a:srgbClr val="000099"/>
                </a:solidFill>
              </a:rPr>
              <a:t>break;</a:t>
            </a:r>
            <a:endParaRPr lang="en-US" sz="2800" b="1" dirty="0" smtClean="0">
              <a:solidFill>
                <a:srgbClr val="000099"/>
              </a:solidFill>
            </a:endParaRPr>
          </a:p>
          <a:p>
            <a:pPr lvl="1" eaLnBrk="1" hangingPunct="1"/>
            <a:r>
              <a:rPr lang="en-US" dirty="0" smtClean="0"/>
              <a:t>terminates loop</a:t>
            </a:r>
          </a:p>
          <a:p>
            <a:pPr lvl="1" eaLnBrk="1" hangingPunct="1"/>
            <a:r>
              <a:rPr lang="en-US" dirty="0" smtClean="0"/>
              <a:t>execution continues with the first statement following the loop</a:t>
            </a:r>
          </a:p>
          <a:p>
            <a:r>
              <a:rPr lang="en-US" sz="2800" dirty="0" smtClean="0"/>
              <a:t>Example: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&lt;=100; i++) 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(“%d ”,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== 10)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break;   /*exit the loop*/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4D1F2-2C92-49B8-87BC-8D557138395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break statement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345488" cy="495300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b="1" dirty="0" smtClean="0">
                <a:solidFill>
                  <a:srgbClr val="000099"/>
                </a:solidFill>
              </a:rPr>
              <a:t>break;</a:t>
            </a:r>
          </a:p>
          <a:p>
            <a:pPr lvl="1"/>
            <a:r>
              <a:rPr lang="en-US" sz="2400" dirty="0" smtClean="0"/>
              <a:t>The break statement can be used with all three of C’s loops</a:t>
            </a:r>
          </a:p>
          <a:p>
            <a:pPr lvl="1"/>
            <a:r>
              <a:rPr lang="en-US" sz="2400" dirty="0" smtClean="0"/>
              <a:t>The break statement is commonly used in loops in which a special condition can cause immediate termination</a:t>
            </a:r>
          </a:p>
          <a:p>
            <a:pPr lvl="1"/>
            <a:r>
              <a:rPr lang="en-US" sz="2400" dirty="0" smtClean="0"/>
              <a:t>A break will cause  an exit from only the innermost loop</a:t>
            </a:r>
          </a:p>
          <a:p>
            <a:pPr lvl="1"/>
            <a:endParaRPr lang="en-US" sz="2400" b="1" dirty="0" smtClean="0">
              <a:solidFill>
                <a:srgbClr val="000099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4D1F2-2C92-49B8-87BC-8D5571383953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break statement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345488" cy="4953001"/>
          </a:xfrm>
        </p:spPr>
        <p:txBody>
          <a:bodyPr>
            <a:normAutofit fontScale="92500" lnSpcReduction="10000"/>
          </a:bodyPr>
          <a:lstStyle/>
          <a:p>
            <a:pPr lvl="1">
              <a:buNone/>
            </a:pPr>
            <a:r>
              <a:rPr lang="en-US" sz="2600" dirty="0" smtClean="0"/>
              <a:t>A break will cause  an exit from only the innermost loop</a:t>
            </a:r>
          </a:p>
          <a:p>
            <a:pPr lvl="1">
              <a:buNone/>
            </a:pPr>
            <a:endParaRPr lang="en-US" sz="2400" b="1" dirty="0" smtClean="0">
              <a:solidFill>
                <a:srgbClr val="000099"/>
              </a:solidFill>
            </a:endParaRP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, j;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for(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=0;i&lt;5;i++){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for(j=0;j&lt;100;j++){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(“%d”, j);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 if(j==5) break;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 }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}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return 0;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/>
            <a:endParaRPr lang="en-US" sz="2400" b="1" dirty="0" smtClean="0">
              <a:solidFill>
                <a:srgbClr val="000099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8A3949-1DE7-48C4-A351-A8691A9B365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continue statement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>
                <a:solidFill>
                  <a:srgbClr val="000099"/>
                </a:solidFill>
              </a:rPr>
              <a:t>continue;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forces next iteration of the loop, skipping any remaining statements in the loop</a:t>
            </a:r>
          </a:p>
          <a:p>
            <a:pPr lvl="1" eaLnBrk="1" hangingPunct="1"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sz="2800" dirty="0" smtClean="0"/>
              <a:t>Example: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#include&lt;</a:t>
            </a:r>
            <a:r>
              <a:rPr lang="en-US" sz="2400" dirty="0" err="1" smtClean="0">
                <a:solidFill>
                  <a:srgbClr val="000099"/>
                </a:solidFill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</a:rPr>
              <a:t>&gt;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err="1" smtClean="0">
                <a:solidFill>
                  <a:srgbClr val="000099"/>
                </a:solidFill>
              </a:rPr>
              <a:t>int</a:t>
            </a:r>
            <a:r>
              <a:rPr lang="en-US" sz="2400" dirty="0" smtClean="0">
                <a:solidFill>
                  <a:srgbClr val="000099"/>
                </a:solidFill>
              </a:rPr>
              <a:t> main(){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   </a:t>
            </a:r>
            <a:r>
              <a:rPr lang="en-US" sz="2400" dirty="0" err="1" smtClean="0">
                <a:solidFill>
                  <a:srgbClr val="000099"/>
                </a:solidFill>
              </a:rPr>
              <a:t>int</a:t>
            </a:r>
            <a:r>
              <a:rPr lang="en-US" sz="2400" dirty="0" smtClean="0">
                <a:solidFill>
                  <a:srgbClr val="000099"/>
                </a:solidFill>
              </a:rPr>
              <a:t> x;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   for(x=0; x&lt;100; x++){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        continue;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         </a:t>
            </a:r>
            <a:r>
              <a:rPr lang="en-US" sz="2400" dirty="0" err="1" smtClean="0">
                <a:solidFill>
                  <a:srgbClr val="000099"/>
                </a:solidFill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</a:rPr>
              <a:t>(“%d ”,x); /*This line never executed*/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rgbClr val="000099"/>
                </a:solidFill>
              </a:rPr>
              <a:t>  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 return 0;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0F4964-A6F4-4572-80EE-48F71BCA22B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Example: what will be the output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53400" cy="4495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#include&lt;</a:t>
            </a:r>
            <a:r>
              <a:rPr lang="en-US" sz="2000" dirty="0" err="1" smtClean="0"/>
              <a:t>stdio.h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</a:t>
            </a:r>
            <a:r>
              <a:rPr lang="en-US" sz="2000" dirty="0" err="1" smtClean="0"/>
              <a:t>int</a:t>
            </a:r>
            <a:r>
              <a:rPr lang="en-US" sz="2000" dirty="0" smtClean="0"/>
              <a:t> a, b, c;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a=5;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while(a &gt; 2)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for (b = a ; b &lt; 2 * a ; b++ )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   c = a + b;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   if (c &lt; 8) continue;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   if (c &gt; 11) break;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    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 “a = %d   b = %d    c = %d \n”, a, b, c);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} /* end of for-loop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  a--;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  } /* end of while loop */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smtClean="0"/>
              <a:t>}</a:t>
            </a:r>
          </a:p>
        </p:txBody>
      </p:sp>
      <p:sp>
        <p:nvSpPr>
          <p:cNvPr id="289799" name="Rectangle 7"/>
          <p:cNvSpPr>
            <a:spLocks noChangeArrowheads="1"/>
          </p:cNvSpPr>
          <p:nvPr/>
        </p:nvSpPr>
        <p:spPr bwMode="auto">
          <a:xfrm>
            <a:off x="5105400" y="1752600"/>
            <a:ext cx="3124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5   b = 5    c = 10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5   b = 6    c = 11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4   b = 4    c = 8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4   b = 5    c = 9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4   b = 6    c = 10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4   b = 7    c = 11</a:t>
            </a:r>
          </a:p>
          <a:p>
            <a:r>
              <a:rPr lang="pt-BR" sz="2000" dirty="0">
                <a:solidFill>
                  <a:schemeClr val="hlink"/>
                </a:solidFill>
                <a:latin typeface="Georgia" pitchFamily="18" charset="0"/>
              </a:rPr>
              <a:t>a = 3   b = 5    c = 8</a:t>
            </a:r>
            <a:endParaRPr lang="en-US" sz="2000" dirty="0">
              <a:solidFill>
                <a:schemeClr val="hlink"/>
              </a:solidFill>
              <a:latin typeface="Georgia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smtClean="0">
                <a:latin typeface="Times New Roman" pitchFamily="18" charset="0"/>
              </a:rPr>
              <a:t>Nested if….Else Statements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48768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800" smtClean="0">
                <a:latin typeface="Times New Roman" pitchFamily="18" charset="0"/>
              </a:rPr>
              <a:t>The if..else statement can be contained in another if or else statement.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if (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test condition1</a:t>
            </a:r>
            <a:r>
              <a:rPr lang="en-US" sz="280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{	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	if (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test condition2</a:t>
            </a:r>
            <a:r>
              <a:rPr lang="en-US" sz="280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		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statement-1;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	else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		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statement-2;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else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	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statement-3</a:t>
            </a:r>
            <a:r>
              <a:rPr lang="en-US" sz="2800" smtClean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</a:t>
            </a:r>
          </a:p>
          <a:p>
            <a:pPr eaLnBrk="1" hangingPunct="1">
              <a:lnSpc>
                <a:spcPct val="4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		</a:t>
            </a:r>
            <a:r>
              <a:rPr lang="en-US" sz="2800" smtClean="0">
                <a:solidFill>
                  <a:schemeClr val="accent2"/>
                </a:solidFill>
                <a:latin typeface="Times New Roman" pitchFamily="18" charset="0"/>
              </a:rPr>
              <a:t>statement-x</a:t>
            </a:r>
            <a:r>
              <a:rPr lang="en-US" sz="2800" smtClean="0">
                <a:latin typeface="Times New Roman" pitchFamily="18" charset="0"/>
              </a:rPr>
              <a:t>;</a:t>
            </a:r>
          </a:p>
          <a:p>
            <a:pPr lvl="3" algn="ctr" eaLnBrk="1" hangingPunct="1"/>
            <a:endParaRPr lang="en-US" sz="3200" smtClean="0">
              <a:latin typeface="Times New Roman" pitchFamily="18" charset="0"/>
            </a:endParaRPr>
          </a:p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atin typeface="Times New Roman" pitchFamily="18" charset="0"/>
              </a:rPr>
              <a:t>Nested Loops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</a:rPr>
              <a:t>Similar to nested if statements, loops can be nested as well</a:t>
            </a:r>
          </a:p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</a:rPr>
              <a:t>That is, the body of a loop can contain another loop</a:t>
            </a:r>
          </a:p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800" dirty="0" smtClean="0"/>
              <a:t>Any of C’s loops can be nested within any other loop</a:t>
            </a:r>
            <a:endParaRPr lang="en-US" sz="2800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75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</a:rPr>
              <a:t>Each time through the outer loop, the inner loop goes through its full set of iterations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BDA9BC-525D-4F2E-9D10-5BDB89FCA41C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Exercise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6096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What is the output of the following program?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for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=1;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&lt;=5;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++) {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for (j=1; j&lt;=4; j++){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   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printf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(“*”);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		  }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printf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(“\n”);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7086600" y="2590800"/>
            <a:ext cx="139858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Georgia" pitchFamily="18" charset="0"/>
              </a:rPr>
              <a:t>Output</a:t>
            </a:r>
          </a:p>
          <a:p>
            <a:endParaRPr lang="en-US" sz="2400" dirty="0">
              <a:latin typeface="Georgia" pitchFamily="18" charset="0"/>
            </a:endParaRP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B05C92-DF8D-439F-93E9-B63E3E435E81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Exercise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17713"/>
            <a:ext cx="61722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What is the output of the following program?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for (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=1;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&lt;=5;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++) 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for (j=1; j&lt;=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; j++){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    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printf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(“*”);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      </a:t>
            </a:r>
            <a:r>
              <a:rPr lang="en-US" sz="2400" b="1" dirty="0" err="1" smtClean="0">
                <a:solidFill>
                  <a:srgbClr val="000099"/>
                </a:solidFill>
                <a:latin typeface="Courier New" pitchFamily="49" charset="0"/>
              </a:rPr>
              <a:t>printf</a:t>
            </a: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(“\n”);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smtClean="0">
                <a:solidFill>
                  <a:srgbClr val="000099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7162801" y="2590800"/>
            <a:ext cx="132238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Georgia" pitchFamily="18" charset="0"/>
              </a:rPr>
              <a:t>Output</a:t>
            </a:r>
          </a:p>
          <a:p>
            <a:endParaRPr lang="en-US" sz="2400" dirty="0">
              <a:latin typeface="Georgia" pitchFamily="18" charset="0"/>
            </a:endParaRPr>
          </a:p>
          <a:p>
            <a:r>
              <a:rPr lang="en-US" sz="2400" dirty="0">
                <a:latin typeface="Georgia" pitchFamily="18" charset="0"/>
              </a:rPr>
              <a:t>*</a:t>
            </a:r>
          </a:p>
          <a:p>
            <a:r>
              <a:rPr lang="en-US" sz="2400" dirty="0">
                <a:latin typeface="Georgia" pitchFamily="18" charset="0"/>
              </a:rPr>
              <a:t>**</a:t>
            </a:r>
          </a:p>
          <a:p>
            <a:r>
              <a:rPr lang="en-US" sz="2400" dirty="0">
                <a:latin typeface="Georgia" pitchFamily="18" charset="0"/>
              </a:rPr>
              <a:t>***</a:t>
            </a:r>
          </a:p>
          <a:p>
            <a:r>
              <a:rPr lang="en-US" sz="2400" dirty="0">
                <a:latin typeface="Georgia" pitchFamily="18" charset="0"/>
              </a:rPr>
              <a:t>****</a:t>
            </a:r>
          </a:p>
          <a:p>
            <a:r>
              <a:rPr lang="en-US" sz="2400" dirty="0">
                <a:latin typeface="Georgia" pitchFamily="18" charset="0"/>
              </a:rPr>
              <a:t>*****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FECC0F-FAE7-44C3-8176-184D3117603D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Example: </a:t>
            </a:r>
            <a:r>
              <a:rPr lang="en-US" b="1" smtClean="0"/>
              <a:t>nested loops</a:t>
            </a:r>
            <a:r>
              <a:rPr lang="en-US" smtClean="0"/>
              <a:t> to generate the following output </a:t>
            </a: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3124200" cy="4303713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endParaRPr lang="en-US" sz="2800" dirty="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3200" dirty="0" err="1" smtClean="0"/>
              <a:t>i</a:t>
            </a:r>
            <a:r>
              <a:rPr lang="en-US" sz="3200" dirty="0" smtClean="0"/>
              <a:t>=1  *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3200" dirty="0" err="1" smtClean="0"/>
              <a:t>i</a:t>
            </a:r>
            <a:r>
              <a:rPr lang="en-US" sz="3200" dirty="0" smtClean="0"/>
              <a:t>=2  + +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3200" dirty="0" err="1" smtClean="0"/>
              <a:t>i</a:t>
            </a:r>
            <a:r>
              <a:rPr lang="en-US" sz="3200" dirty="0" smtClean="0"/>
              <a:t>=3  * * *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3200" dirty="0" err="1" smtClean="0"/>
              <a:t>i</a:t>
            </a:r>
            <a:r>
              <a:rPr lang="en-US" sz="3200" dirty="0" smtClean="0"/>
              <a:t>=4  + + + +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3200" dirty="0" err="1" smtClean="0"/>
              <a:t>i</a:t>
            </a:r>
            <a:r>
              <a:rPr lang="en-US" sz="3200" dirty="0" smtClean="0"/>
              <a:t>=5  * * * * * </a:t>
            </a: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3810000" y="2057400"/>
            <a:ext cx="5029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, j;</a:t>
            </a:r>
          </a:p>
          <a:p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for(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=1;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 &lt;= 5;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++){</a:t>
            </a:r>
          </a:p>
          <a:p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printf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("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=%d ",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   </a:t>
            </a:r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for(j=1; j &lt;= </a:t>
            </a:r>
            <a:r>
              <a:rPr lang="en-US" sz="2400" b="1" dirty="0" err="1">
                <a:solidFill>
                  <a:schemeClr val="folHlink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; j++) {</a:t>
            </a:r>
          </a:p>
          <a:p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     if (</a:t>
            </a:r>
            <a:r>
              <a:rPr lang="en-US" sz="2400" b="1" dirty="0" err="1">
                <a:solidFill>
                  <a:schemeClr val="folHlink"/>
                </a:solidFill>
                <a:latin typeface="Courier New" pitchFamily="49" charset="0"/>
              </a:rPr>
              <a:t>i</a:t>
            </a:r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% 2 == 0)</a:t>
            </a:r>
          </a:p>
          <a:p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        </a:t>
            </a:r>
            <a:r>
              <a:rPr lang="en-US" sz="2400" b="1" dirty="0" err="1">
                <a:solidFill>
                  <a:schemeClr val="folHlink"/>
                </a:solidFill>
                <a:latin typeface="Courier New" pitchFamily="49" charset="0"/>
              </a:rPr>
              <a:t>printf</a:t>
            </a:r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("+ ");</a:t>
            </a:r>
          </a:p>
          <a:p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     else</a:t>
            </a:r>
          </a:p>
          <a:p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        </a:t>
            </a:r>
            <a:r>
              <a:rPr lang="en-US" sz="2400" b="1" dirty="0" err="1">
                <a:solidFill>
                  <a:schemeClr val="folHlink"/>
                </a:solidFill>
                <a:latin typeface="Courier New" pitchFamily="49" charset="0"/>
              </a:rPr>
              <a:t>printf</a:t>
            </a:r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("* ");</a:t>
            </a:r>
          </a:p>
          <a:p>
            <a:r>
              <a:rPr lang="en-US" sz="2400" b="1" dirty="0">
                <a:solidFill>
                  <a:schemeClr val="folHlink"/>
                </a:solidFill>
                <a:latin typeface="Courier New" pitchFamily="49" charset="0"/>
              </a:rPr>
              <a:t>   }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  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</a:rPr>
              <a:t>printf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("\n");</a:t>
            </a:r>
          </a:p>
          <a:p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</a:rPr>
              <a:t>}</a:t>
            </a:r>
            <a:endParaRPr lang="en-US" sz="2400" b="1" dirty="0">
              <a:solidFill>
                <a:schemeClr val="accent2"/>
              </a:solidFill>
              <a:latin typeface="Georgia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59B43-BAA2-436F-B1A4-EEE13A88C9ED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Modify the following program to produce the output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7239000" cy="41148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endParaRPr lang="en-US" sz="160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for (i=</a:t>
            </a:r>
            <a:r>
              <a:rPr lang="en-US" b="1" smtClean="0">
                <a:solidFill>
                  <a:schemeClr val="hlink"/>
                </a:solidFill>
                <a:latin typeface="Courier New" pitchFamily="49" charset="0"/>
              </a:rPr>
              <a:t>A</a:t>
            </a:r>
            <a:r>
              <a:rPr lang="en-US" b="1" smtClean="0">
                <a:latin typeface="Courier New" pitchFamily="49" charset="0"/>
              </a:rPr>
              <a:t>; i&lt;=</a:t>
            </a:r>
            <a:r>
              <a:rPr lang="en-US" b="1" smtClean="0">
                <a:solidFill>
                  <a:schemeClr val="hlink"/>
                </a:solidFill>
                <a:latin typeface="Courier New" pitchFamily="49" charset="0"/>
              </a:rPr>
              <a:t>B</a:t>
            </a:r>
            <a:r>
              <a:rPr lang="en-US" b="1" smtClean="0">
                <a:latin typeface="Courier New" pitchFamily="49" charset="0"/>
              </a:rPr>
              <a:t>; i++) 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      for (j=</a:t>
            </a:r>
            <a:r>
              <a:rPr lang="en-US" b="1" smtClean="0">
                <a:solidFill>
                  <a:schemeClr val="hlink"/>
                </a:solidFill>
                <a:latin typeface="Courier New" pitchFamily="49" charset="0"/>
              </a:rPr>
              <a:t>C</a:t>
            </a:r>
            <a:r>
              <a:rPr lang="en-US" b="1" smtClean="0">
                <a:latin typeface="Courier New" pitchFamily="49" charset="0"/>
              </a:rPr>
              <a:t>; j&lt;=</a:t>
            </a:r>
            <a:r>
              <a:rPr lang="en-US" b="1" smtClean="0">
                <a:solidFill>
                  <a:schemeClr val="hlink"/>
                </a:solidFill>
                <a:latin typeface="Courier New" pitchFamily="49" charset="0"/>
              </a:rPr>
              <a:t>D</a:t>
            </a:r>
            <a:r>
              <a:rPr lang="en-US" b="1" smtClean="0">
                <a:latin typeface="Courier New" pitchFamily="49" charset="0"/>
              </a:rPr>
              <a:t>; j++) 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          printf(“*”);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      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      printf(“\n”);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b="1" smtClean="0">
                <a:latin typeface="Courier New" pitchFamily="49" charset="0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endParaRPr lang="en-US" b="1" smtClean="0">
              <a:latin typeface="Courier New" pitchFamily="49" charset="0"/>
            </a:endParaRPr>
          </a:p>
        </p:txBody>
      </p:sp>
      <p:sp>
        <p:nvSpPr>
          <p:cNvPr id="92165" name="Text Box 4"/>
          <p:cNvSpPr txBox="1">
            <a:spLocks noChangeArrowheads="1"/>
          </p:cNvSpPr>
          <p:nvPr/>
        </p:nvSpPr>
        <p:spPr bwMode="auto">
          <a:xfrm>
            <a:off x="7527925" y="2590800"/>
            <a:ext cx="957263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Georgia" pitchFamily="18" charset="0"/>
              </a:rPr>
              <a:t>Output</a:t>
            </a:r>
          </a:p>
          <a:p>
            <a:endParaRPr lang="en-US" sz="2000">
              <a:latin typeface="Georgia" pitchFamily="18" charset="0"/>
            </a:endParaRPr>
          </a:p>
          <a:p>
            <a:r>
              <a:rPr lang="en-US" sz="2000">
                <a:latin typeface="Georgia" pitchFamily="18" charset="0"/>
              </a:rPr>
              <a:t>*****</a:t>
            </a:r>
          </a:p>
          <a:p>
            <a:r>
              <a:rPr lang="en-US" sz="2000">
                <a:latin typeface="Georgia" pitchFamily="18" charset="0"/>
              </a:rPr>
              <a:t>****</a:t>
            </a:r>
          </a:p>
          <a:p>
            <a:r>
              <a:rPr lang="en-US" sz="2000">
                <a:latin typeface="Georgia" pitchFamily="18" charset="0"/>
              </a:rPr>
              <a:t>***</a:t>
            </a:r>
          </a:p>
          <a:p>
            <a:r>
              <a:rPr lang="en-US" sz="2000">
                <a:latin typeface="Georgia" pitchFamily="18" charset="0"/>
              </a:rPr>
              <a:t>**</a:t>
            </a:r>
          </a:p>
          <a:p>
            <a:r>
              <a:rPr lang="en-US" sz="2000">
                <a:latin typeface="Georgia" pitchFamily="18" charset="0"/>
              </a:rPr>
              <a:t>*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C9C4FC-F223-418F-B5D8-B236F519A73E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Exercise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17713"/>
            <a:ext cx="7848600" cy="801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Write a program using loop statements to produce the output.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6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/>
          </a:p>
        </p:txBody>
      </p:sp>
      <p:sp>
        <p:nvSpPr>
          <p:cNvPr id="93189" name="Text Box 4"/>
          <p:cNvSpPr txBox="1">
            <a:spLocks noChangeArrowheads="1"/>
          </p:cNvSpPr>
          <p:nvPr/>
        </p:nvSpPr>
        <p:spPr bwMode="auto">
          <a:xfrm>
            <a:off x="3581400" y="3352800"/>
            <a:ext cx="1295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latin typeface="Georgia" pitchFamily="18" charset="0"/>
              </a:rPr>
              <a:t>Output</a:t>
            </a:r>
          </a:p>
          <a:p>
            <a:r>
              <a:rPr lang="en-US" sz="2400" dirty="0">
                <a:latin typeface="Georgia" pitchFamily="18" charset="0"/>
              </a:rPr>
              <a:t> </a:t>
            </a:r>
          </a:p>
          <a:p>
            <a:r>
              <a:rPr lang="en-US" sz="2400" dirty="0">
                <a:latin typeface="Georgia" pitchFamily="18" charset="0"/>
              </a:rPr>
              <a:t>       </a:t>
            </a:r>
            <a:r>
              <a:rPr lang="en-US" sz="2400" dirty="0" smtClean="0">
                <a:latin typeface="Georgia" pitchFamily="18" charset="0"/>
              </a:rPr>
              <a:t>*</a:t>
            </a:r>
            <a:endParaRPr lang="en-US" sz="2400" dirty="0">
              <a:latin typeface="Georgia" pitchFamily="18" charset="0"/>
            </a:endParaRPr>
          </a:p>
          <a:p>
            <a:r>
              <a:rPr lang="en-US" sz="2400" dirty="0">
                <a:latin typeface="Georgia" pitchFamily="18" charset="0"/>
              </a:rPr>
              <a:t>     ** </a:t>
            </a:r>
          </a:p>
          <a:p>
            <a:r>
              <a:rPr lang="en-US" sz="2400" dirty="0">
                <a:latin typeface="Georgia" pitchFamily="18" charset="0"/>
              </a:rPr>
              <a:t>   ***</a:t>
            </a:r>
          </a:p>
          <a:p>
            <a:r>
              <a:rPr lang="en-US" sz="2400" dirty="0">
                <a:latin typeface="Georgia" pitchFamily="18" charset="0"/>
              </a:rPr>
              <a:t>  ****</a:t>
            </a:r>
          </a:p>
          <a:p>
            <a:r>
              <a:rPr lang="en-US" sz="2400" dirty="0">
                <a:latin typeface="Georgia" pitchFamily="18" charset="0"/>
              </a:rPr>
              <a:t>*****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statement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</a:t>
            </a:r>
            <a:r>
              <a:rPr lang="en-US" sz="2800" dirty="0" smtClean="0">
                <a:solidFill>
                  <a:srgbClr val="000099"/>
                </a:solidFill>
              </a:rPr>
              <a:t> </a:t>
            </a:r>
            <a:r>
              <a:rPr lang="en-US" sz="2800" b="1" dirty="0" err="1" smtClean="0">
                <a:solidFill>
                  <a:srgbClr val="000099"/>
                </a:solidFill>
              </a:rPr>
              <a:t>goto</a:t>
            </a:r>
            <a:r>
              <a:rPr lang="en-US" sz="2800" dirty="0" smtClean="0"/>
              <a:t> statement provides an unconditional jump from the </a:t>
            </a:r>
            <a:r>
              <a:rPr lang="en-US" sz="2800" dirty="0" smtClean="0">
                <a:solidFill>
                  <a:srgbClr val="000099"/>
                </a:solidFill>
              </a:rPr>
              <a:t>'</a:t>
            </a:r>
            <a:r>
              <a:rPr lang="en-US" sz="2800" dirty="0" err="1" smtClean="0">
                <a:solidFill>
                  <a:srgbClr val="000099"/>
                </a:solidFill>
              </a:rPr>
              <a:t>goto</a:t>
            </a:r>
            <a:r>
              <a:rPr lang="en-US" sz="2800" dirty="0" smtClean="0">
                <a:solidFill>
                  <a:srgbClr val="000099"/>
                </a:solidFill>
              </a:rPr>
              <a:t>' </a:t>
            </a:r>
            <a:r>
              <a:rPr lang="en-US" sz="2800" dirty="0" smtClean="0"/>
              <a:t>to a labeled statement in the same function.</a:t>
            </a:r>
          </a:p>
          <a:p>
            <a:r>
              <a:rPr lang="en-US" sz="2800" dirty="0" smtClean="0"/>
              <a:t>Use of </a:t>
            </a:r>
            <a:r>
              <a:rPr lang="en-US" sz="2800" b="1" dirty="0" err="1" smtClean="0">
                <a:solidFill>
                  <a:srgbClr val="000099"/>
                </a:solidFill>
              </a:rPr>
              <a:t>goto</a:t>
            </a:r>
            <a:r>
              <a:rPr lang="en-US" sz="2800" dirty="0" smtClean="0"/>
              <a:t> statement is discouraged in any programming language </a:t>
            </a:r>
          </a:p>
          <a:p>
            <a:pPr lvl="1"/>
            <a:r>
              <a:rPr lang="en-US" sz="2400" dirty="0" smtClean="0"/>
              <a:t>it makes difficult to trace the control flow of a program, making the program hard to understand and hard to modify</a:t>
            </a:r>
          </a:p>
          <a:p>
            <a:r>
              <a:rPr lang="en-US" sz="2800" dirty="0" smtClean="0"/>
              <a:t>The </a:t>
            </a:r>
            <a:r>
              <a:rPr lang="en-US" sz="2800" dirty="0" err="1" smtClean="0">
                <a:solidFill>
                  <a:srgbClr val="000099"/>
                </a:solidFill>
              </a:rPr>
              <a:t>goto</a:t>
            </a:r>
            <a:r>
              <a:rPr lang="en-US" sz="2800" dirty="0" smtClean="0">
                <a:solidFill>
                  <a:srgbClr val="000099"/>
                </a:solidFill>
              </a:rPr>
              <a:t> </a:t>
            </a:r>
            <a:r>
              <a:rPr lang="en-US" sz="2800" dirty="0" smtClean="0"/>
              <a:t>statement can perform a jump within a function. It can not jump between functions.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statement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solidFill>
                  <a:srgbClr val="000099"/>
                </a:solidFill>
              </a:rPr>
              <a:t>g</a:t>
            </a:r>
            <a:r>
              <a:rPr lang="en-US" sz="2800" dirty="0" err="1" smtClean="0">
                <a:solidFill>
                  <a:srgbClr val="000099"/>
                </a:solidFill>
              </a:rPr>
              <a:t>oto</a:t>
            </a:r>
            <a:r>
              <a:rPr lang="en-US" sz="2800" dirty="0" smtClean="0"/>
              <a:t> statement works with a label</a:t>
            </a:r>
          </a:p>
          <a:p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000099"/>
                </a:solidFill>
              </a:rPr>
              <a:t>label</a:t>
            </a:r>
            <a:r>
              <a:rPr lang="en-US" sz="2800" dirty="0" smtClean="0"/>
              <a:t> is a valid identifier name followed by a colon</a:t>
            </a:r>
          </a:p>
          <a:p>
            <a:r>
              <a:rPr lang="en-US" sz="2800" dirty="0" smtClean="0">
                <a:solidFill>
                  <a:srgbClr val="000099"/>
                </a:solidFill>
              </a:rPr>
              <a:t>label</a:t>
            </a:r>
            <a:r>
              <a:rPr lang="en-US" sz="2800" dirty="0" smtClean="0"/>
              <a:t> can be set anywhere in the C program </a:t>
            </a:r>
            <a:r>
              <a:rPr lang="en-US" sz="2800" dirty="0" smtClean="0">
                <a:solidFill>
                  <a:srgbClr val="000099"/>
                </a:solidFill>
              </a:rPr>
              <a:t>above or below the </a:t>
            </a:r>
            <a:r>
              <a:rPr lang="en-US" sz="2800" dirty="0" err="1" smtClean="0">
                <a:solidFill>
                  <a:srgbClr val="000099"/>
                </a:solidFill>
              </a:rPr>
              <a:t>goto</a:t>
            </a:r>
            <a:r>
              <a:rPr lang="en-US" sz="2800" dirty="0" smtClean="0">
                <a:solidFill>
                  <a:srgbClr val="000099"/>
                </a:solidFill>
              </a:rPr>
              <a:t> statement</a:t>
            </a:r>
          </a:p>
          <a:p>
            <a:r>
              <a:rPr lang="en-US" sz="2800" dirty="0" smtClean="0"/>
              <a:t>General form:</a:t>
            </a:r>
          </a:p>
          <a:p>
            <a:pPr lvl="1">
              <a:buNone/>
            </a:pPr>
            <a:r>
              <a:rPr lang="en-US" sz="22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label;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.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.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label: statement;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statement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Example: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mylabel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(“This will not print”);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mylabel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	 </a:t>
            </a:r>
            <a:r>
              <a:rPr lang="en-US" sz="2400" dirty="0" err="1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(“This will print.”);</a:t>
            </a:r>
          </a:p>
          <a:p>
            <a:pPr lvl="2">
              <a:buNone/>
            </a:pPr>
            <a:r>
              <a:rPr lang="en-US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lvl="1">
              <a:buNone/>
            </a:pPr>
            <a:r>
              <a:rPr lang="en-US" sz="2400" dirty="0" smtClean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Thank you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Farhana Akter Suci, Lecturer, Dept. of CSE, UU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1238</Words>
  <Application>Microsoft Office PowerPoint</Application>
  <PresentationFormat>On-screen Show (4:3)</PresentationFormat>
  <Paragraphs>331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맑은 고딕</vt:lpstr>
      <vt:lpstr>Arial</vt:lpstr>
      <vt:lpstr>Calibri</vt:lpstr>
      <vt:lpstr>Courier New</vt:lpstr>
      <vt:lpstr>Georgia</vt:lpstr>
      <vt:lpstr>Gulim</vt:lpstr>
      <vt:lpstr>Lucida Console</vt:lpstr>
      <vt:lpstr>Times New Roman</vt:lpstr>
      <vt:lpstr>Wingdings</vt:lpstr>
      <vt:lpstr>Office Theme</vt:lpstr>
      <vt:lpstr>Lecture 8</vt:lpstr>
      <vt:lpstr>while statement</vt:lpstr>
      <vt:lpstr>The while Control Structure</vt:lpstr>
      <vt:lpstr>Example</vt:lpstr>
      <vt:lpstr>do while</vt:lpstr>
      <vt:lpstr>The do…while Repetition Statement</vt:lpstr>
      <vt:lpstr>Example</vt:lpstr>
      <vt:lpstr>break statement</vt:lpstr>
      <vt:lpstr>break statement</vt:lpstr>
      <vt:lpstr>break statement</vt:lpstr>
      <vt:lpstr>continue statement</vt:lpstr>
      <vt:lpstr>Example: what will be the output</vt:lpstr>
      <vt:lpstr>Nested if….Else Statements</vt:lpstr>
      <vt:lpstr>Nested Loops</vt:lpstr>
      <vt:lpstr>Exercise</vt:lpstr>
      <vt:lpstr>Exercise</vt:lpstr>
      <vt:lpstr>Example: nested loops to generate the following output </vt:lpstr>
      <vt:lpstr>Modify the following program to produce the output</vt:lpstr>
      <vt:lpstr>Exercise</vt:lpstr>
      <vt:lpstr>goto statement</vt:lpstr>
      <vt:lpstr>goto statement</vt:lpstr>
      <vt:lpstr>goto statement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Naila</dc:creator>
  <cp:lastModifiedBy>Common Printer</cp:lastModifiedBy>
  <cp:revision>418</cp:revision>
  <dcterms:created xsi:type="dcterms:W3CDTF">2006-08-16T00:00:00Z</dcterms:created>
  <dcterms:modified xsi:type="dcterms:W3CDTF">2023-08-29T07:38:58Z</dcterms:modified>
</cp:coreProperties>
</file>